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60" r:id="rId5"/>
    <p:sldId id="259" r:id="rId6"/>
    <p:sldId id="261" r:id="rId7"/>
    <p:sldId id="262" r:id="rId8"/>
    <p:sldId id="280" r:id="rId9"/>
    <p:sldId id="281" r:id="rId10"/>
    <p:sldId id="282" r:id="rId11"/>
    <p:sldId id="283" r:id="rId12"/>
    <p:sldId id="284" r:id="rId13"/>
    <p:sldId id="285" r:id="rId14"/>
    <p:sldId id="286" r:id="rId15"/>
    <p:sldId id="263" r:id="rId16"/>
    <p:sldId id="264" r:id="rId17"/>
    <p:sldId id="265" r:id="rId18"/>
    <p:sldId id="266" r:id="rId19"/>
    <p:sldId id="268" r:id="rId20"/>
    <p:sldId id="267" r:id="rId21"/>
    <p:sldId id="269" r:id="rId22"/>
    <p:sldId id="270" r:id="rId23"/>
    <p:sldId id="278" r:id="rId24"/>
    <p:sldId id="277" r:id="rId25"/>
    <p:sldId id="276" r:id="rId26"/>
    <p:sldId id="299" r:id="rId27"/>
    <p:sldId id="287" r:id="rId28"/>
    <p:sldId id="271" r:id="rId29"/>
    <p:sldId id="279" r:id="rId30"/>
    <p:sldId id="272" r:id="rId31"/>
    <p:sldId id="273" r:id="rId32"/>
    <p:sldId id="288" r:id="rId33"/>
    <p:sldId id="289" r:id="rId34"/>
    <p:sldId id="301" r:id="rId35"/>
    <p:sldId id="302" r:id="rId36"/>
    <p:sldId id="303" r:id="rId37"/>
    <p:sldId id="291" r:id="rId38"/>
    <p:sldId id="292" r:id="rId39"/>
    <p:sldId id="300" r:id="rId40"/>
    <p:sldId id="293" r:id="rId41"/>
    <p:sldId id="295" r:id="rId42"/>
    <p:sldId id="294" r:id="rId43"/>
    <p:sldId id="296" r:id="rId44"/>
    <p:sldId id="297" r:id="rId45"/>
    <p:sldId id="29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60"/>
  </p:normalViewPr>
  <p:slideViewPr>
    <p:cSldViewPr snapToGrid="0">
      <p:cViewPr varScale="1">
        <p:scale>
          <a:sx n="70" d="100"/>
          <a:sy n="70" d="100"/>
        </p:scale>
        <p:origin x="744"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TEXTUR~21"/>
          <p:cNvPicPr>
            <a:picLocks noChangeAspect="1" noChangeArrowheads="1"/>
          </p:cNvPicPr>
          <p:nvPr/>
        </p:nvPicPr>
        <p:blipFill>
          <a:blip r:embed="rId2" cstate="print"/>
          <a:srcRect/>
          <a:stretch>
            <a:fillRect/>
          </a:stretch>
        </p:blipFill>
        <p:spPr bwMode="auto">
          <a:xfrm>
            <a:off x="0" y="1690689"/>
            <a:ext cx="12192000" cy="3475037"/>
          </a:xfrm>
          <a:prstGeom prst="rect">
            <a:avLst/>
          </a:prstGeom>
          <a:noFill/>
          <a:ln w="9525">
            <a:noFill/>
            <a:miter lim="800000"/>
            <a:headEnd/>
            <a:tailEnd/>
          </a:ln>
        </p:spPr>
      </p:pic>
      <p:sp>
        <p:nvSpPr>
          <p:cNvPr id="5" name="Rectangle 3"/>
          <p:cNvSpPr>
            <a:spLocks noChangeArrowheads="1"/>
          </p:cNvSpPr>
          <p:nvPr/>
        </p:nvSpPr>
        <p:spPr bwMode="blackWhite">
          <a:xfrm>
            <a:off x="1" y="1"/>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6" name="Rectangle 4"/>
          <p:cNvSpPr>
            <a:spLocks noChangeArrowheads="1"/>
          </p:cNvSpPr>
          <p:nvPr/>
        </p:nvSpPr>
        <p:spPr bwMode="blackWhite">
          <a:xfrm>
            <a:off x="1" y="5164139"/>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 name="Rectangle 8"/>
          <p:cNvSpPr>
            <a:spLocks noChangeArrowheads="1"/>
          </p:cNvSpPr>
          <p:nvPr/>
        </p:nvSpPr>
        <p:spPr bwMode="black">
          <a:xfrm>
            <a:off x="2675467" y="1287464"/>
            <a:ext cx="5471584" cy="306387"/>
          </a:xfrm>
          <a:prstGeom prst="rect">
            <a:avLst/>
          </a:prstGeom>
          <a:noFill/>
          <a:ln w="9525" algn="ctr">
            <a:noFill/>
            <a:miter lim="800000"/>
            <a:headEnd/>
            <a:tailEnd/>
          </a:ln>
          <a:effectLst/>
        </p:spPr>
        <p:txBody>
          <a:bodyPr lIns="18284" tIns="18284" rIns="18284" bIns="18284" anchor="ctr"/>
          <a:lstStyle/>
          <a:p>
            <a:pPr marL="342900" indent="-342900">
              <a:lnSpc>
                <a:spcPct val="98000"/>
              </a:lnSpc>
              <a:spcBef>
                <a:spcPct val="20000"/>
              </a:spcBef>
              <a:defRPr/>
            </a:pPr>
            <a:r>
              <a:rPr lang="en-US" sz="1800" dirty="0" err="1">
                <a:solidFill>
                  <a:srgbClr val="FFFFFF"/>
                </a:solidFill>
                <a:ea typeface="MS PGothic" pitchFamily="34" charset="-128"/>
                <a:cs typeface="+mn-cs"/>
              </a:rPr>
              <a:t>Phát</a:t>
            </a:r>
            <a:r>
              <a:rPr lang="en-US" sz="1800" baseline="0" dirty="0">
                <a:solidFill>
                  <a:srgbClr val="FFFFFF"/>
                </a:solidFill>
                <a:ea typeface="MS PGothic" pitchFamily="34" charset="-128"/>
                <a:cs typeface="+mn-cs"/>
              </a:rPr>
              <a:t> </a:t>
            </a:r>
            <a:r>
              <a:rPr lang="en-US" sz="1800" baseline="0" dirty="0" err="1">
                <a:solidFill>
                  <a:srgbClr val="FFFFFF"/>
                </a:solidFill>
                <a:ea typeface="MS PGothic" pitchFamily="34" charset="-128"/>
                <a:cs typeface="+mn-cs"/>
              </a:rPr>
              <a:t>triển</a:t>
            </a:r>
            <a:r>
              <a:rPr lang="en-US" sz="1800" baseline="0" dirty="0">
                <a:solidFill>
                  <a:srgbClr val="FFFFFF"/>
                </a:solidFill>
                <a:ea typeface="MS PGothic" pitchFamily="34" charset="-128"/>
                <a:cs typeface="+mn-cs"/>
              </a:rPr>
              <a:t> Web Back-End</a:t>
            </a:r>
            <a:endParaRPr lang="en-US" sz="1800" dirty="0">
              <a:solidFill>
                <a:srgbClr val="FFFFFF"/>
              </a:solidFill>
              <a:ea typeface="MS PGothic" pitchFamily="34" charset="-128"/>
              <a:cs typeface="+mn-cs"/>
            </a:endParaRPr>
          </a:p>
        </p:txBody>
      </p:sp>
      <p:sp>
        <p:nvSpPr>
          <p:cNvPr id="8" name="Line 11"/>
          <p:cNvSpPr>
            <a:spLocks noChangeShapeType="1"/>
          </p:cNvSpPr>
          <p:nvPr/>
        </p:nvSpPr>
        <p:spPr bwMode="black">
          <a:xfrm flipV="1">
            <a:off x="2484967" y="4217988"/>
            <a:ext cx="0" cy="933450"/>
          </a:xfrm>
          <a:prstGeom prst="line">
            <a:avLst/>
          </a:prstGeom>
          <a:noFill/>
          <a:ln w="12700">
            <a:solidFill>
              <a:schemeClr val="bg2"/>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9" name="Line 12"/>
          <p:cNvSpPr>
            <a:spLocks noChangeShapeType="1"/>
          </p:cNvSpPr>
          <p:nvPr/>
        </p:nvSpPr>
        <p:spPr bwMode="black">
          <a:xfrm flipV="1">
            <a:off x="2482851" y="1362076"/>
            <a:ext cx="0" cy="328613"/>
          </a:xfrm>
          <a:prstGeom prst="line">
            <a:avLst/>
          </a:prstGeom>
          <a:noFill/>
          <a:ln w="12700">
            <a:solidFill>
              <a:srgbClr val="FFFFFF"/>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11" name="TextBox 10"/>
          <p:cNvSpPr txBox="1"/>
          <p:nvPr/>
        </p:nvSpPr>
        <p:spPr>
          <a:xfrm>
            <a:off x="3556000" y="5410201"/>
            <a:ext cx="7620000" cy="436563"/>
          </a:xfrm>
          <a:prstGeom prst="rect">
            <a:avLst/>
          </a:prstGeom>
          <a:noFill/>
        </p:spPr>
        <p:txBody>
          <a:bodyPr>
            <a:spAutoFit/>
          </a:bodyPr>
          <a:lstStyle/>
          <a:p>
            <a:pPr algn="r">
              <a:lnSpc>
                <a:spcPct val="80000"/>
              </a:lnSpc>
              <a:spcBef>
                <a:spcPct val="25000"/>
              </a:spcBef>
              <a:spcAft>
                <a:spcPct val="15000"/>
              </a:spcAft>
              <a:buClr>
                <a:srgbClr val="6CA6B8"/>
              </a:buClr>
              <a:buFont typeface="Arial" charset="0"/>
              <a:buNone/>
              <a:defRPr/>
            </a:pPr>
            <a:r>
              <a:rPr lang="en-US" sz="2800" b="1" i="1" dirty="0" err="1">
                <a:solidFill>
                  <a:schemeClr val="bg1"/>
                </a:solidFill>
                <a:effectLst>
                  <a:outerShdw blurRad="38100" dist="38100" dir="2700000" algn="tl">
                    <a:srgbClr val="000000">
                      <a:alpha val="43137"/>
                    </a:srgbClr>
                  </a:outerShdw>
                </a:effectLst>
                <a:ea typeface="MS PGothic" pitchFamily="34" charset="-128"/>
                <a:cs typeface="+mn-cs"/>
              </a:rPr>
              <a:t>Khoa</a:t>
            </a:r>
            <a:r>
              <a:rPr lang="en-US" sz="2800" b="1" i="1" dirty="0">
                <a:solidFill>
                  <a:schemeClr val="bg1"/>
                </a:solidFill>
                <a:effectLst>
                  <a:outerShdw blurRad="38100" dist="38100" dir="2700000" algn="tl">
                    <a:srgbClr val="000000">
                      <a:alpha val="43137"/>
                    </a:srgbClr>
                  </a:outerShdw>
                </a:effectLst>
                <a:ea typeface="MS PGothic" pitchFamily="34" charset="-128"/>
                <a:cs typeface="+mn-cs"/>
              </a:rPr>
              <a:t> CNTT – HVNNVN</a:t>
            </a:r>
          </a:p>
        </p:txBody>
      </p:sp>
      <p:sp>
        <p:nvSpPr>
          <p:cNvPr id="8197" name="Rectangle 5"/>
          <p:cNvSpPr>
            <a:spLocks noGrp="1" noChangeArrowheads="1"/>
          </p:cNvSpPr>
          <p:nvPr>
            <p:ph type="ctrTitle"/>
          </p:nvPr>
        </p:nvSpPr>
        <p:spPr bwMode="black">
          <a:xfrm>
            <a:off x="520701" y="2291645"/>
            <a:ext cx="10606617" cy="1672344"/>
          </a:xfrm>
        </p:spPr>
        <p:txBody>
          <a:bodyPr anchor="t"/>
          <a:lstStyle>
            <a:lvl1pPr>
              <a:lnSpc>
                <a:spcPct val="150000"/>
              </a:lnSpc>
              <a:defRPr>
                <a:solidFill>
                  <a:schemeClr val="tx1"/>
                </a:solidFill>
              </a:defRPr>
            </a:lvl1pPr>
          </a:lstStyle>
          <a:p>
            <a:r>
              <a:rPr lang="en-US"/>
              <a:t>Click to edit Master title style</a:t>
            </a:r>
          </a:p>
        </p:txBody>
      </p:sp>
      <p:sp>
        <p:nvSpPr>
          <p:cNvPr id="8198" name="Rectangle 6"/>
          <p:cNvSpPr>
            <a:spLocks noGrp="1" noChangeArrowheads="1"/>
          </p:cNvSpPr>
          <p:nvPr>
            <p:ph type="subTitle" idx="1"/>
          </p:nvPr>
        </p:nvSpPr>
        <p:spPr bwMode="black">
          <a:xfrm>
            <a:off x="2599267" y="4106864"/>
            <a:ext cx="8534400" cy="998537"/>
          </a:xfrm>
        </p:spPr>
        <p:txBody>
          <a:bodyPr/>
          <a:lstStyle>
            <a:lvl1pPr marL="0" indent="0">
              <a:lnSpc>
                <a:spcPct val="90000"/>
              </a:lnSpc>
              <a:spcBef>
                <a:spcPct val="0"/>
              </a:spcBef>
              <a:spcAft>
                <a:spcPct val="0"/>
              </a:spcAft>
              <a:buFont typeface="Wingdings" pitchFamily="2" charset="2"/>
              <a:buNone/>
              <a:defRPr b="0">
                <a:solidFill>
                  <a:srgbClr val="6CA6B8"/>
                </a:solidFill>
              </a:defRPr>
            </a:lvl1pPr>
          </a:lstStyle>
          <a:p>
            <a:r>
              <a:rPr lang="en-US"/>
              <a:t>Click to edit Master subtitle style</a:t>
            </a:r>
          </a:p>
        </p:txBody>
      </p:sp>
      <p:sp>
        <p:nvSpPr>
          <p:cNvPr id="12" name="Rectangle 9"/>
          <p:cNvSpPr>
            <a:spLocks noGrp="1" noChangeArrowheads="1"/>
          </p:cNvSpPr>
          <p:nvPr>
            <p:ph type="ftr" sz="quarter" idx="10"/>
          </p:nvPr>
        </p:nvSpPr>
        <p:spPr>
          <a:xfrm>
            <a:off x="2698751" y="6221413"/>
            <a:ext cx="3862916" cy="311150"/>
          </a:xfrm>
        </p:spPr>
        <p:txBody>
          <a:bodyPr/>
          <a:lstStyle>
            <a:lvl1pPr>
              <a:defRPr sz="1300"/>
            </a:lvl1pPr>
          </a:lstStyle>
          <a:p>
            <a:endParaRPr lang="en-US"/>
          </a:p>
        </p:txBody>
      </p:sp>
      <p:sp>
        <p:nvSpPr>
          <p:cNvPr id="13" name="Rectangle 10"/>
          <p:cNvSpPr>
            <a:spLocks noGrp="1" noChangeArrowheads="1"/>
          </p:cNvSpPr>
          <p:nvPr>
            <p:ph type="dt" sz="quarter" idx="11"/>
          </p:nvPr>
        </p:nvSpPr>
        <p:spPr bwMode="auto">
          <a:xfrm>
            <a:off x="7188200" y="6221413"/>
            <a:ext cx="2159000" cy="311150"/>
          </a:xfrm>
          <a:prstGeom prst="rect">
            <a:avLst/>
          </a:prstGeom>
          <a:ln>
            <a:miter lim="800000"/>
            <a:headEnd/>
            <a:tailEnd/>
          </a:ln>
        </p:spPr>
        <p:txBody>
          <a:bodyPr vert="horz" wrap="square" lIns="91424" tIns="45712" rIns="91424" bIns="45712" numCol="1" anchor="t" anchorCtr="0" compatLnSpc="1">
            <a:prstTxWarp prst="textNoShape">
              <a:avLst/>
            </a:prstTxWarp>
          </a:bodyPr>
          <a:lstStyle>
            <a:lvl1pPr algn="l">
              <a:lnSpc>
                <a:spcPct val="100000"/>
              </a:lnSpc>
              <a:spcBef>
                <a:spcPct val="0"/>
              </a:spcBef>
              <a:spcAft>
                <a:spcPct val="0"/>
              </a:spcAft>
              <a:buClrTx/>
              <a:buFontTx/>
              <a:buNone/>
              <a:defRPr sz="1300">
                <a:solidFill>
                  <a:srgbClr val="FFFFFF"/>
                </a:solidFill>
                <a:ea typeface="MS PGothic" pitchFamily="34" charset="-128"/>
                <a:cs typeface="+mn-cs"/>
              </a:defRPr>
            </a:lvl1pPr>
          </a:lstStyle>
          <a:p>
            <a:fld id="{2C40AF1E-F7C6-4199-BE3A-7DF7960F2EB8}" type="datetimeFigureOut">
              <a:rPr lang="en-US" smtClean="0"/>
              <a:t>8/9/2026</a:t>
            </a:fld>
            <a:endParaRPr lang="en-US"/>
          </a:p>
        </p:txBody>
      </p:sp>
    </p:spTree>
    <p:extLst>
      <p:ext uri="{BB962C8B-B14F-4D97-AF65-F5344CB8AC3E}">
        <p14:creationId xmlns:p14="http://schemas.microsoft.com/office/powerpoint/2010/main" val="236397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outerShdw blurRad="50800" dist="38100" dir="2700000" algn="tl" rotWithShape="0">
                    <a:schemeClr val="bg1">
                      <a:lumMod val="65000"/>
                      <a:alpha val="40000"/>
                    </a:schemeClr>
                  </a:outerShdw>
                </a:effectLst>
              </a:defRPr>
            </a:lvl1p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40350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1957196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776414"/>
            <a:ext cx="5082117"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83941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8"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841768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4"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1042933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3"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62185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000893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1694745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590345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13233" y="871538"/>
            <a:ext cx="2768600" cy="48069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5318" y="871538"/>
            <a:ext cx="8104716" cy="48069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398850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318" y="871539"/>
            <a:ext cx="10993967" cy="498475"/>
          </a:xfrm>
        </p:spPr>
        <p:txBody>
          <a:bodyPr/>
          <a:lstStyle/>
          <a:p>
            <a:r>
              <a:rPr lang="en-US"/>
              <a:t>Click to edit Master title style</a:t>
            </a:r>
          </a:p>
        </p:txBody>
      </p:sp>
      <p:sp>
        <p:nvSpPr>
          <p:cNvPr id="3" name="Text Placeholder 2"/>
          <p:cNvSpPr>
            <a:spLocks noGrp="1"/>
          </p:cNvSpPr>
          <p:nvPr>
            <p:ph type="body" sz="half" idx="1"/>
          </p:nvPr>
        </p:nvSpPr>
        <p:spPr>
          <a:xfrm>
            <a:off x="914400" y="1776414"/>
            <a:ext cx="5082117"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1D980BB8-1B27-42DC-A2A5-273E3EF9F7FF}"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46941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21"/>
          <p:cNvPicPr>
            <a:picLocks noChangeArrowheads="1"/>
          </p:cNvPicPr>
          <p:nvPr/>
        </p:nvPicPr>
        <p:blipFill>
          <a:blip r:embed="rId14" cstate="print"/>
          <a:srcRect b="467"/>
          <a:stretch>
            <a:fillRect/>
          </a:stretch>
        </p:blipFill>
        <p:spPr bwMode="auto">
          <a:xfrm>
            <a:off x="0" y="6470651"/>
            <a:ext cx="12192000" cy="385763"/>
          </a:xfrm>
          <a:prstGeom prst="rect">
            <a:avLst/>
          </a:prstGeom>
          <a:noFill/>
          <a:ln w="9525">
            <a:noFill/>
            <a:miter lim="800000"/>
            <a:headEnd/>
            <a:tailEnd/>
          </a:ln>
        </p:spPr>
      </p:pic>
      <p:pic>
        <p:nvPicPr>
          <p:cNvPr id="1027" name="Picture 3" descr="21"/>
          <p:cNvPicPr>
            <a:picLocks noChangeAspect="1" noChangeArrowheads="1"/>
          </p:cNvPicPr>
          <p:nvPr/>
        </p:nvPicPr>
        <p:blipFill>
          <a:blip r:embed="rId15" cstate="print"/>
          <a:srcRect/>
          <a:stretch>
            <a:fillRect/>
          </a:stretch>
        </p:blipFill>
        <p:spPr bwMode="auto">
          <a:xfrm>
            <a:off x="0" y="1"/>
            <a:ext cx="12192000" cy="384175"/>
          </a:xfrm>
          <a:prstGeom prst="rect">
            <a:avLst/>
          </a:prstGeom>
          <a:noFill/>
          <a:ln w="9525">
            <a:noFill/>
            <a:miter lim="800000"/>
            <a:headEnd/>
            <a:tailEnd/>
          </a:ln>
        </p:spPr>
      </p:pic>
      <p:sp>
        <p:nvSpPr>
          <p:cNvPr id="1028" name="Rectangle 4"/>
          <p:cNvSpPr>
            <a:spLocks noGrp="1" noChangeArrowheads="1"/>
          </p:cNvSpPr>
          <p:nvPr>
            <p:ph type="title"/>
          </p:nvPr>
        </p:nvSpPr>
        <p:spPr bwMode="auto">
          <a:xfrm>
            <a:off x="205318" y="871539"/>
            <a:ext cx="10993967" cy="498475"/>
          </a:xfrm>
          <a:prstGeom prst="rect">
            <a:avLst/>
          </a:prstGeom>
          <a:noFill/>
          <a:ln w="9525" algn="ctr">
            <a:noFill/>
            <a:miter lim="800000"/>
            <a:headEnd/>
            <a:tailEnd/>
          </a:ln>
        </p:spPr>
        <p:txBody>
          <a:bodyPr vert="horz" wrap="square" lIns="91424" tIns="45712" rIns="91424" bIns="45712" numCol="1" anchor="b" anchorCtr="0" compatLnSpc="1">
            <a:prstTxWarp prst="textNoShape">
              <a:avLst/>
            </a:prstTxWarp>
          </a:bodyPr>
          <a:lstStyle/>
          <a:p>
            <a:pPr lvl="0"/>
            <a:r>
              <a:rPr lang="en-US"/>
              <a:t>Click to edit Master title style</a:t>
            </a:r>
          </a:p>
        </p:txBody>
      </p:sp>
      <p:sp>
        <p:nvSpPr>
          <p:cNvPr id="1029" name="Rectangle 5"/>
          <p:cNvSpPr>
            <a:spLocks noGrp="1" noChangeArrowheads="1"/>
          </p:cNvSpPr>
          <p:nvPr>
            <p:ph type="body" idx="1"/>
          </p:nvPr>
        </p:nvSpPr>
        <p:spPr bwMode="auto">
          <a:xfrm>
            <a:off x="914401" y="1776414"/>
            <a:ext cx="10367433" cy="3902075"/>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174" name="Text Box 6"/>
          <p:cNvSpPr txBox="1">
            <a:spLocks noChangeArrowheads="1"/>
          </p:cNvSpPr>
          <p:nvPr/>
        </p:nvSpPr>
        <p:spPr bwMode="black">
          <a:xfrm>
            <a:off x="1139824" y="79377"/>
            <a:ext cx="9912351" cy="307975"/>
          </a:xfrm>
          <a:prstGeom prst="rect">
            <a:avLst/>
          </a:prstGeom>
          <a:noFill/>
          <a:ln w="9525">
            <a:noFill/>
            <a:miter lim="800000"/>
            <a:headEnd/>
            <a:tailEnd/>
          </a:ln>
          <a:effectLst/>
        </p:spPr>
        <p:txBody>
          <a:bodyPr lIns="91424" tIns="45712" rIns="91424" bIns="45712">
            <a:spAutoFit/>
          </a:bodyPr>
          <a:lstStyle/>
          <a:p>
            <a:pPr eaLnBrk="0" hangingPunct="0">
              <a:defRPr/>
            </a:pPr>
            <a:r>
              <a:rPr lang="en-US" sz="1400" dirty="0" err="1">
                <a:solidFill>
                  <a:srgbClr val="FFFFFF"/>
                </a:solidFill>
                <a:ea typeface="MS PGothic" pitchFamily="34" charset="-128"/>
                <a:cs typeface="+mn-cs"/>
              </a:rPr>
              <a:t>Phát</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triển</a:t>
            </a:r>
            <a:r>
              <a:rPr lang="en-US" sz="1400" baseline="0" dirty="0">
                <a:solidFill>
                  <a:srgbClr val="FFFFFF"/>
                </a:solidFill>
                <a:ea typeface="MS PGothic" pitchFamily="34" charset="-128"/>
                <a:cs typeface="+mn-cs"/>
              </a:rPr>
              <a:t> Web Back–End </a:t>
            </a:r>
            <a:r>
              <a:rPr lang="en-US" sz="1400" baseline="0" dirty="0" err="1">
                <a:solidFill>
                  <a:srgbClr val="FFFFFF"/>
                </a:solidFill>
                <a:ea typeface="MS PGothic" pitchFamily="34" charset="-128"/>
                <a:cs typeface="+mn-cs"/>
              </a:rPr>
              <a:t>Chương</a:t>
            </a:r>
            <a:r>
              <a:rPr lang="en-US" sz="1400" baseline="0" dirty="0">
                <a:solidFill>
                  <a:srgbClr val="FFFFFF"/>
                </a:solidFill>
                <a:ea typeface="MS PGothic" pitchFamily="34" charset="-128"/>
                <a:cs typeface="+mn-cs"/>
              </a:rPr>
              <a:t> 1 – </a:t>
            </a:r>
            <a:r>
              <a:rPr lang="en-US" sz="1400" baseline="0" dirty="0" err="1">
                <a:solidFill>
                  <a:srgbClr val="FFFFFF"/>
                </a:solidFill>
                <a:ea typeface="MS PGothic" pitchFamily="34" charset="-128"/>
                <a:cs typeface="+mn-cs"/>
              </a:rPr>
              <a:t>Tổng</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quan</a:t>
            </a:r>
            <a:endParaRPr lang="en-US" sz="1400" dirty="0">
              <a:solidFill>
                <a:srgbClr val="FFFFFF"/>
              </a:solidFill>
              <a:ea typeface="MS PGothic" pitchFamily="34" charset="-128"/>
              <a:cs typeface="+mn-cs"/>
            </a:endParaRPr>
          </a:p>
        </p:txBody>
      </p:sp>
      <p:sp>
        <p:nvSpPr>
          <p:cNvPr id="7175" name="Rectangle 7"/>
          <p:cNvSpPr>
            <a:spLocks noChangeArrowheads="1"/>
          </p:cNvSpPr>
          <p:nvPr/>
        </p:nvSpPr>
        <p:spPr bwMode="black">
          <a:xfrm>
            <a:off x="4991101" y="6546851"/>
            <a:ext cx="3136900" cy="246063"/>
          </a:xfrm>
          <a:prstGeom prst="rect">
            <a:avLst/>
          </a:prstGeom>
          <a:noFill/>
          <a:ln w="9525">
            <a:noFill/>
            <a:miter lim="800000"/>
            <a:headEnd/>
            <a:tailEnd/>
          </a:ln>
          <a:effectLst/>
        </p:spPr>
        <p:txBody>
          <a:bodyPr lIns="91424" tIns="45712" rIns="91424" bIns="45712">
            <a:spAutoFit/>
          </a:bodyPr>
          <a:lstStyle/>
          <a:p>
            <a:pPr algn="ctr" eaLnBrk="0" hangingPunct="0">
              <a:defRPr/>
            </a:pPr>
            <a:r>
              <a:rPr lang="en-US" sz="1000" dirty="0" err="1">
                <a:solidFill>
                  <a:srgbClr val="FFFFFF"/>
                </a:solidFill>
                <a:ea typeface="MS PGothic" pitchFamily="34" charset="-128"/>
                <a:cs typeface="+mn-cs"/>
              </a:rPr>
              <a:t>Khoa</a:t>
            </a:r>
            <a:r>
              <a:rPr lang="en-US" sz="1000" dirty="0">
                <a:solidFill>
                  <a:srgbClr val="FFFFFF"/>
                </a:solidFill>
                <a:ea typeface="MS PGothic" pitchFamily="34" charset="-128"/>
                <a:cs typeface="+mn-cs"/>
              </a:rPr>
              <a:t> CNTT - HVNNVN</a:t>
            </a:r>
          </a:p>
        </p:txBody>
      </p:sp>
      <p:sp>
        <p:nvSpPr>
          <p:cNvPr id="7177" name="Rectangle 9"/>
          <p:cNvSpPr>
            <a:spLocks noGrp="1" noChangeArrowheads="1"/>
          </p:cNvSpPr>
          <p:nvPr>
            <p:ph type="sldNum" sz="quarter" idx="4"/>
          </p:nvPr>
        </p:nvSpPr>
        <p:spPr bwMode="black">
          <a:xfrm>
            <a:off x="205318" y="6500814"/>
            <a:ext cx="1341967" cy="320675"/>
          </a:xfrm>
          <a:prstGeom prst="rect">
            <a:avLst/>
          </a:prstGeom>
          <a:noFill/>
          <a:ln w="9525" algn="ctr">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50000"/>
              </a:spcBef>
              <a:spcAft>
                <a:spcPct val="0"/>
              </a:spcAft>
              <a:buClrTx/>
              <a:buFontTx/>
              <a:buNone/>
              <a:defRPr sz="1000" b="1">
                <a:solidFill>
                  <a:srgbClr val="FFFFFF"/>
                </a:solidFill>
                <a:ea typeface="MS PGothic" pitchFamily="34" charset="-128"/>
                <a:cs typeface="+mn-cs"/>
              </a:defRPr>
            </a:lvl1pPr>
          </a:lstStyle>
          <a:p>
            <a:fld id="{1D980BB8-1B27-42DC-A2A5-273E3EF9F7FF}" type="slidenum">
              <a:rPr lang="en-US" smtClean="0"/>
              <a:t>‹#›</a:t>
            </a:fld>
            <a:endParaRPr lang="en-US"/>
          </a:p>
        </p:txBody>
      </p:sp>
      <p:sp>
        <p:nvSpPr>
          <p:cNvPr id="7178" name="Rectangle 10"/>
          <p:cNvSpPr>
            <a:spLocks noGrp="1" noChangeArrowheads="1"/>
          </p:cNvSpPr>
          <p:nvPr>
            <p:ph type="ftr" sz="quarter" idx="3"/>
          </p:nvPr>
        </p:nvSpPr>
        <p:spPr bwMode="auto">
          <a:xfrm>
            <a:off x="1725085" y="6510338"/>
            <a:ext cx="2542116" cy="304800"/>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0"/>
              </a:spcBef>
              <a:spcAft>
                <a:spcPct val="0"/>
              </a:spcAft>
              <a:buClrTx/>
              <a:buFontTx/>
              <a:buNone/>
              <a:defRPr sz="1000">
                <a:solidFill>
                  <a:srgbClr val="FFFFFF"/>
                </a:solidFill>
                <a:ea typeface="MS PGothic" pitchFamily="34" charset="-128"/>
                <a:cs typeface="+mn-cs"/>
              </a:defRPr>
            </a:lvl1pPr>
          </a:lstStyle>
          <a:p>
            <a:endParaRPr lang="en-US"/>
          </a:p>
        </p:txBody>
      </p:sp>
      <p:sp>
        <p:nvSpPr>
          <p:cNvPr id="7179" name="Line 11"/>
          <p:cNvSpPr>
            <a:spLocks noChangeShapeType="1"/>
          </p:cNvSpPr>
          <p:nvPr/>
        </p:nvSpPr>
        <p:spPr bwMode="black">
          <a:xfrm>
            <a:off x="1320800" y="147638"/>
            <a:ext cx="0" cy="234950"/>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180" name="Line 12"/>
          <p:cNvSpPr>
            <a:spLocks noChangeShapeType="1"/>
          </p:cNvSpPr>
          <p:nvPr/>
        </p:nvSpPr>
        <p:spPr bwMode="black">
          <a:xfrm>
            <a:off x="1320800" y="6470650"/>
            <a:ext cx="0" cy="192088"/>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Tree>
    <p:extLst>
      <p:ext uri="{BB962C8B-B14F-4D97-AF65-F5344CB8AC3E}">
        <p14:creationId xmlns:p14="http://schemas.microsoft.com/office/powerpoint/2010/main" val="20193783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lnSpc>
          <a:spcPct val="90000"/>
        </a:lnSpc>
        <a:spcBef>
          <a:spcPct val="0"/>
        </a:spcBef>
        <a:spcAft>
          <a:spcPct val="0"/>
        </a:spcAft>
        <a:defRPr sz="2800">
          <a:solidFill>
            <a:srgbClr val="6CA6B8"/>
          </a:solidFill>
          <a:latin typeface="+mj-lt"/>
          <a:ea typeface="+mj-ea"/>
          <a:cs typeface="+mj-cs"/>
        </a:defRPr>
      </a:lvl1pPr>
      <a:lvl2pPr algn="l" rtl="0" eaLnBrk="1" fontAlgn="base" hangingPunct="1">
        <a:lnSpc>
          <a:spcPct val="90000"/>
        </a:lnSpc>
        <a:spcBef>
          <a:spcPct val="0"/>
        </a:spcBef>
        <a:spcAft>
          <a:spcPct val="0"/>
        </a:spcAft>
        <a:defRPr sz="2800">
          <a:solidFill>
            <a:srgbClr val="6CA6B8"/>
          </a:solidFill>
          <a:latin typeface="Arial" charset="0"/>
          <a:cs typeface="Arial" charset="0"/>
        </a:defRPr>
      </a:lvl2pPr>
      <a:lvl3pPr algn="l" rtl="0" eaLnBrk="1" fontAlgn="base" hangingPunct="1">
        <a:lnSpc>
          <a:spcPct val="90000"/>
        </a:lnSpc>
        <a:spcBef>
          <a:spcPct val="0"/>
        </a:spcBef>
        <a:spcAft>
          <a:spcPct val="0"/>
        </a:spcAft>
        <a:defRPr sz="2800">
          <a:solidFill>
            <a:srgbClr val="6CA6B8"/>
          </a:solidFill>
          <a:latin typeface="Arial" charset="0"/>
          <a:cs typeface="Arial" charset="0"/>
        </a:defRPr>
      </a:lvl3pPr>
      <a:lvl4pPr algn="l" rtl="0" eaLnBrk="1" fontAlgn="base" hangingPunct="1">
        <a:lnSpc>
          <a:spcPct val="90000"/>
        </a:lnSpc>
        <a:spcBef>
          <a:spcPct val="0"/>
        </a:spcBef>
        <a:spcAft>
          <a:spcPct val="0"/>
        </a:spcAft>
        <a:defRPr sz="2800">
          <a:solidFill>
            <a:srgbClr val="6CA6B8"/>
          </a:solidFill>
          <a:latin typeface="Arial" charset="0"/>
          <a:cs typeface="Arial" charset="0"/>
        </a:defRPr>
      </a:lvl4pPr>
      <a:lvl5pPr algn="l" rtl="0" eaLnBrk="1" fontAlgn="base" hangingPunct="1">
        <a:lnSpc>
          <a:spcPct val="90000"/>
        </a:lnSpc>
        <a:spcBef>
          <a:spcPct val="0"/>
        </a:spcBef>
        <a:spcAft>
          <a:spcPct val="0"/>
        </a:spcAft>
        <a:defRPr sz="2800">
          <a:solidFill>
            <a:srgbClr val="6CA6B8"/>
          </a:solidFill>
          <a:latin typeface="Arial" charset="0"/>
          <a:cs typeface="Arial" charset="0"/>
        </a:defRPr>
      </a:lvl5pPr>
      <a:lvl6pPr marL="457200" algn="l" rtl="0" eaLnBrk="1" fontAlgn="base" hangingPunct="1">
        <a:lnSpc>
          <a:spcPct val="90000"/>
        </a:lnSpc>
        <a:spcBef>
          <a:spcPct val="0"/>
        </a:spcBef>
        <a:spcAft>
          <a:spcPct val="0"/>
        </a:spcAft>
        <a:defRPr sz="2800">
          <a:solidFill>
            <a:srgbClr val="6CA6B8"/>
          </a:solidFill>
          <a:latin typeface="Arial" charset="0"/>
          <a:cs typeface="Arial" charset="0"/>
        </a:defRPr>
      </a:lvl6pPr>
      <a:lvl7pPr marL="914400" algn="l" rtl="0" eaLnBrk="1" fontAlgn="base" hangingPunct="1">
        <a:lnSpc>
          <a:spcPct val="90000"/>
        </a:lnSpc>
        <a:spcBef>
          <a:spcPct val="0"/>
        </a:spcBef>
        <a:spcAft>
          <a:spcPct val="0"/>
        </a:spcAft>
        <a:defRPr sz="2800">
          <a:solidFill>
            <a:srgbClr val="6CA6B8"/>
          </a:solidFill>
          <a:latin typeface="Arial" charset="0"/>
          <a:cs typeface="Arial" charset="0"/>
        </a:defRPr>
      </a:lvl7pPr>
      <a:lvl8pPr marL="1371600" algn="l" rtl="0" eaLnBrk="1" fontAlgn="base" hangingPunct="1">
        <a:lnSpc>
          <a:spcPct val="90000"/>
        </a:lnSpc>
        <a:spcBef>
          <a:spcPct val="0"/>
        </a:spcBef>
        <a:spcAft>
          <a:spcPct val="0"/>
        </a:spcAft>
        <a:defRPr sz="2800">
          <a:solidFill>
            <a:srgbClr val="6CA6B8"/>
          </a:solidFill>
          <a:latin typeface="Arial" charset="0"/>
          <a:cs typeface="Arial" charset="0"/>
        </a:defRPr>
      </a:lvl8pPr>
      <a:lvl9pPr marL="1828800" algn="l" rtl="0" eaLnBrk="1" fontAlgn="base" hangingPunct="1">
        <a:lnSpc>
          <a:spcPct val="90000"/>
        </a:lnSpc>
        <a:spcBef>
          <a:spcPct val="0"/>
        </a:spcBef>
        <a:spcAft>
          <a:spcPct val="0"/>
        </a:spcAft>
        <a:defRPr sz="2800">
          <a:solidFill>
            <a:srgbClr val="6CA6B8"/>
          </a:solidFill>
          <a:latin typeface="Arial" charset="0"/>
          <a:cs typeface="Arial" charset="0"/>
        </a:defRPr>
      </a:lvl9pPr>
    </p:titleStyle>
    <p:body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PHÁT TRIỂN ỨNG DỤNG WEB 2</a:t>
            </a:r>
          </a:p>
        </p:txBody>
      </p:sp>
      <p:sp>
        <p:nvSpPr>
          <p:cNvPr id="3" name="Subtitle 2"/>
          <p:cNvSpPr>
            <a:spLocks noGrp="1"/>
          </p:cNvSpPr>
          <p:nvPr>
            <p:ph type="subTitle" idx="1"/>
          </p:nvPr>
        </p:nvSpPr>
        <p:spPr/>
        <p:txBody>
          <a:bodyPr/>
          <a:lstStyle/>
          <a:p>
            <a:r>
              <a:rPr lang="en-US" dirty="0"/>
              <a:t>GV: ĐỖ THỊ NHÂM</a:t>
            </a:r>
          </a:p>
          <a:p>
            <a:r>
              <a:rPr lang="en-US" dirty="0"/>
              <a:t>BỘ MÔN: CÔNG NGHỆ PHẦN MỀM</a:t>
            </a:r>
          </a:p>
          <a:p>
            <a:r>
              <a:rPr lang="en-US" dirty="0"/>
              <a:t>EMAIL: dtnham@gmail.com</a:t>
            </a:r>
          </a:p>
        </p:txBody>
      </p:sp>
    </p:spTree>
    <p:extLst>
      <p:ext uri="{BB962C8B-B14F-4D97-AF65-F5344CB8AC3E}">
        <p14:creationId xmlns:p14="http://schemas.microsoft.com/office/powerpoint/2010/main" val="2611030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Tài</a:t>
            </a:r>
            <a:r>
              <a:rPr lang="en-US" dirty="0"/>
              <a:t> </a:t>
            </a:r>
            <a:r>
              <a:rPr lang="en-US" dirty="0" err="1"/>
              <a:t>liệu</a:t>
            </a:r>
            <a:r>
              <a:rPr lang="en-US" dirty="0"/>
              <a:t> </a:t>
            </a:r>
            <a:r>
              <a:rPr lang="en-US" dirty="0" err="1"/>
              <a:t>tham</a:t>
            </a:r>
            <a:r>
              <a:rPr lang="en-US" dirty="0"/>
              <a:t> </a:t>
            </a:r>
            <a:r>
              <a:rPr lang="en-US" dirty="0" err="1"/>
              <a:t>khảo</a:t>
            </a:r>
            <a:endParaRPr lang="en-US" dirty="0"/>
          </a:p>
        </p:txBody>
      </p:sp>
      <p:sp>
        <p:nvSpPr>
          <p:cNvPr id="3" name="Content Placeholder 2"/>
          <p:cNvSpPr>
            <a:spLocks noGrp="1"/>
          </p:cNvSpPr>
          <p:nvPr>
            <p:ph idx="1"/>
          </p:nvPr>
        </p:nvSpPr>
        <p:spPr/>
        <p:txBody>
          <a:bodyPr/>
          <a:lstStyle/>
          <a:p>
            <a:r>
              <a:rPr lang="en-US" dirty="0" err="1"/>
              <a:t>Bài</a:t>
            </a:r>
            <a:r>
              <a:rPr lang="en-US" dirty="0"/>
              <a:t> </a:t>
            </a:r>
            <a:r>
              <a:rPr lang="en-US" dirty="0" err="1"/>
              <a:t>giảng</a:t>
            </a:r>
            <a:r>
              <a:rPr lang="en-US" dirty="0"/>
              <a:t> </a:t>
            </a:r>
            <a:r>
              <a:rPr lang="en-US" dirty="0" err="1"/>
              <a:t>của</a:t>
            </a:r>
            <a:r>
              <a:rPr lang="en-US" dirty="0"/>
              <a:t> </a:t>
            </a:r>
            <a:r>
              <a:rPr lang="en-US" dirty="0" err="1"/>
              <a:t>giáo</a:t>
            </a:r>
            <a:r>
              <a:rPr lang="en-US" dirty="0"/>
              <a:t> </a:t>
            </a:r>
            <a:r>
              <a:rPr lang="en-US" dirty="0" err="1"/>
              <a:t>viên</a:t>
            </a:r>
            <a:endParaRPr lang="en-US" dirty="0"/>
          </a:p>
          <a:p>
            <a:r>
              <a:rPr lang="en-US" dirty="0"/>
              <a:t>Nguyễn </a:t>
            </a:r>
            <a:r>
              <a:rPr lang="en-US" dirty="0" err="1"/>
              <a:t>Tất</a:t>
            </a:r>
            <a:r>
              <a:rPr lang="en-US" dirty="0"/>
              <a:t> Bảo Thiện (2020), </a:t>
            </a:r>
            <a:r>
              <a:rPr lang="en-US" dirty="0" err="1"/>
              <a:t>Lập</a:t>
            </a:r>
            <a:r>
              <a:rPr lang="en-US" dirty="0"/>
              <a:t> </a:t>
            </a:r>
            <a:r>
              <a:rPr lang="en-US" dirty="0" err="1"/>
              <a:t>Trình</a:t>
            </a:r>
            <a:r>
              <a:rPr lang="en-US" dirty="0"/>
              <a:t> Windows Form </a:t>
            </a:r>
            <a:r>
              <a:rPr lang="en-US" dirty="0" err="1"/>
              <a:t>Và</a:t>
            </a:r>
            <a:r>
              <a:rPr lang="en-US" dirty="0"/>
              <a:t> Web Form </a:t>
            </a:r>
            <a:r>
              <a:rPr lang="en-US" dirty="0" err="1"/>
              <a:t>Với</a:t>
            </a:r>
            <a:r>
              <a:rPr lang="en-US" dirty="0"/>
              <a:t> C#, NXB Thanh </a:t>
            </a:r>
            <a:r>
              <a:rPr lang="en-US" dirty="0" err="1"/>
              <a:t>niên</a:t>
            </a:r>
            <a:endParaRPr lang="en-US" dirty="0"/>
          </a:p>
          <a:p>
            <a:r>
              <a:rPr lang="en-US" dirty="0"/>
              <a:t>Nguyễn Minh </a:t>
            </a:r>
            <a:r>
              <a:rPr lang="en-US" dirty="0" err="1"/>
              <a:t>Đạo</a:t>
            </a:r>
            <a:r>
              <a:rPr lang="en-US" dirty="0"/>
              <a:t> (2014), </a:t>
            </a:r>
            <a:r>
              <a:rPr lang="en-US" dirty="0" err="1"/>
              <a:t>Giáo</a:t>
            </a:r>
            <a:r>
              <a:rPr lang="en-US" dirty="0"/>
              <a:t> </a:t>
            </a:r>
            <a:r>
              <a:rPr lang="en-US" dirty="0" err="1"/>
              <a:t>trình</a:t>
            </a:r>
            <a:r>
              <a:rPr lang="en-US" dirty="0"/>
              <a:t> </a:t>
            </a:r>
            <a:r>
              <a:rPr lang="en-US" dirty="0" err="1"/>
              <a:t>lập</a:t>
            </a:r>
            <a:r>
              <a:rPr lang="en-US" dirty="0"/>
              <a:t> </a:t>
            </a:r>
            <a:r>
              <a:rPr lang="en-US" dirty="0" err="1"/>
              <a:t>trình</a:t>
            </a:r>
            <a:r>
              <a:rPr lang="en-US" dirty="0"/>
              <a:t> Web </a:t>
            </a:r>
            <a:r>
              <a:rPr lang="en-US" dirty="0" err="1"/>
              <a:t>với</a:t>
            </a:r>
            <a:r>
              <a:rPr lang="en-US" dirty="0"/>
              <a:t> ASP.NET, NXB </a:t>
            </a:r>
            <a:r>
              <a:rPr lang="en-US" dirty="0" err="1"/>
              <a:t>Đại</a:t>
            </a:r>
            <a:r>
              <a:rPr lang="en-US" dirty="0"/>
              <a:t> </a:t>
            </a:r>
            <a:r>
              <a:rPr lang="en-US" dirty="0" err="1"/>
              <a:t>học</a:t>
            </a:r>
            <a:r>
              <a:rPr lang="en-US" dirty="0"/>
              <a:t> Quốc </a:t>
            </a:r>
            <a:r>
              <a:rPr lang="en-US" dirty="0" err="1"/>
              <a:t>gia</a:t>
            </a:r>
            <a:r>
              <a:rPr lang="en-US" dirty="0"/>
              <a:t> –HCM</a:t>
            </a:r>
          </a:p>
          <a:p>
            <a:r>
              <a:rPr lang="en-US" dirty="0" err="1"/>
              <a:t>Khosravi</a:t>
            </a:r>
            <a:r>
              <a:rPr lang="en-US" dirty="0"/>
              <a:t> Shahram (2007). ASP.NET AJAX programmer's reference with ASP.NET 2.0 or ASP.NET 3.5NXB Microsoft Press </a:t>
            </a:r>
          </a:p>
          <a:p>
            <a:endParaRPr lang="en-US" dirty="0"/>
          </a:p>
        </p:txBody>
      </p:sp>
    </p:spTree>
    <p:extLst>
      <p:ext uri="{BB962C8B-B14F-4D97-AF65-F5344CB8AC3E}">
        <p14:creationId xmlns:p14="http://schemas.microsoft.com/office/powerpoint/2010/main" val="539321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Nội</a:t>
            </a:r>
            <a:r>
              <a:rPr lang="en-US" dirty="0"/>
              <a:t> dung</a:t>
            </a:r>
          </a:p>
        </p:txBody>
      </p:sp>
      <p:sp>
        <p:nvSpPr>
          <p:cNvPr id="3" name="Content Placeholder 2"/>
          <p:cNvSpPr>
            <a:spLocks noGrp="1"/>
          </p:cNvSpPr>
          <p:nvPr>
            <p:ph idx="1"/>
          </p:nvPr>
        </p:nvSpPr>
        <p:spPr/>
        <p:txBody>
          <a:bodyPr/>
          <a:lstStyle/>
          <a:p>
            <a:r>
              <a:rPr lang="de-DE" dirty="0"/>
              <a:t>Chương 1: </a:t>
            </a:r>
            <a:r>
              <a:rPr lang="en-US" dirty="0" err="1"/>
              <a:t>Tổng</a:t>
            </a:r>
            <a:r>
              <a:rPr lang="en-US" dirty="0"/>
              <a:t> </a:t>
            </a:r>
            <a:r>
              <a:rPr lang="en-US" dirty="0" err="1"/>
              <a:t>quan</a:t>
            </a:r>
            <a:r>
              <a:rPr lang="en-US" dirty="0"/>
              <a:t> </a:t>
            </a:r>
            <a:r>
              <a:rPr lang="en-US" dirty="0" err="1"/>
              <a:t>về</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Web </a:t>
            </a:r>
            <a:r>
              <a:rPr lang="en-US" dirty="0" err="1"/>
              <a:t>phía</a:t>
            </a:r>
            <a:r>
              <a:rPr lang="en-US" dirty="0"/>
              <a:t> Server</a:t>
            </a:r>
          </a:p>
          <a:p>
            <a:r>
              <a:rPr lang="de-DE" dirty="0"/>
              <a:t>Chương 2: Giới thiệu c</a:t>
            </a:r>
            <a:r>
              <a:rPr lang="en-US" dirty="0" err="1"/>
              <a:t>ông</a:t>
            </a:r>
            <a:r>
              <a:rPr lang="en-US" dirty="0"/>
              <a:t> </a:t>
            </a:r>
            <a:r>
              <a:rPr lang="en-US" dirty="0" err="1"/>
              <a:t>nghệ</a:t>
            </a:r>
            <a:r>
              <a:rPr lang="en-US" dirty="0"/>
              <a:t> </a:t>
            </a:r>
            <a:r>
              <a:rPr lang="en-US" dirty="0" err="1"/>
              <a:t>xây</a:t>
            </a:r>
            <a:r>
              <a:rPr lang="en-US" dirty="0"/>
              <a:t> </a:t>
            </a:r>
            <a:r>
              <a:rPr lang="en-US" dirty="0" err="1"/>
              <a:t>dựng</a:t>
            </a:r>
            <a:r>
              <a:rPr lang="en-US" dirty="0"/>
              <a:t> </a:t>
            </a:r>
            <a:r>
              <a:rPr lang="en-US" dirty="0" err="1"/>
              <a:t>ứng</a:t>
            </a:r>
            <a:r>
              <a:rPr lang="en-US" dirty="0"/>
              <a:t> </a:t>
            </a:r>
            <a:r>
              <a:rPr lang="en-US" dirty="0" err="1"/>
              <a:t>dụng</a:t>
            </a:r>
            <a:r>
              <a:rPr lang="en-US" dirty="0"/>
              <a:t> web </a:t>
            </a:r>
            <a:r>
              <a:rPr lang="en-US" dirty="0" err="1"/>
              <a:t>phía</a:t>
            </a:r>
            <a:r>
              <a:rPr lang="en-US" dirty="0"/>
              <a:t> server</a:t>
            </a:r>
          </a:p>
          <a:p>
            <a:r>
              <a:rPr lang="de-DE" dirty="0"/>
              <a:t>Chương 3: </a:t>
            </a:r>
            <a:r>
              <a:rPr lang="en-US" dirty="0" err="1"/>
              <a:t>Tương</a:t>
            </a:r>
            <a:r>
              <a:rPr lang="en-US" dirty="0"/>
              <a:t> </a:t>
            </a:r>
            <a:r>
              <a:rPr lang="en-US" dirty="0" err="1"/>
              <a:t>tác</a:t>
            </a:r>
            <a:r>
              <a:rPr lang="en-US" dirty="0"/>
              <a:t> </a:t>
            </a:r>
            <a:r>
              <a:rPr lang="en-US" dirty="0" err="1"/>
              <a:t>với</a:t>
            </a:r>
            <a:r>
              <a:rPr lang="en-US" dirty="0"/>
              <a:t> CSDL</a:t>
            </a:r>
          </a:p>
          <a:p>
            <a:r>
              <a:rPr lang="de-DE" dirty="0"/>
              <a:t>Chương 4: </a:t>
            </a:r>
            <a:r>
              <a:rPr lang="en-US" dirty="0" err="1"/>
              <a:t>Xử</a:t>
            </a:r>
            <a:r>
              <a:rPr lang="en-US" dirty="0"/>
              <a:t> </a:t>
            </a:r>
            <a:r>
              <a:rPr lang="en-US" dirty="0" err="1"/>
              <a:t>lý</a:t>
            </a:r>
            <a:r>
              <a:rPr lang="en-US" dirty="0"/>
              <a:t> </a:t>
            </a:r>
            <a:r>
              <a:rPr lang="en-US" dirty="0" err="1"/>
              <a:t>hợp</a:t>
            </a:r>
            <a:r>
              <a:rPr lang="en-US" dirty="0"/>
              <a:t> </a:t>
            </a:r>
            <a:r>
              <a:rPr lang="en-US" dirty="0" err="1"/>
              <a:t>thức</a:t>
            </a:r>
            <a:r>
              <a:rPr lang="en-US" dirty="0"/>
              <a:t>, Session, cookie</a:t>
            </a:r>
          </a:p>
          <a:p>
            <a:r>
              <a:rPr lang="de-DE" dirty="0"/>
              <a:t>Chương 5: </a:t>
            </a:r>
            <a:r>
              <a:rPr lang="en-US" dirty="0"/>
              <a:t>Ajax</a:t>
            </a:r>
          </a:p>
          <a:p>
            <a:r>
              <a:rPr lang="de-DE" dirty="0"/>
              <a:t>Chương 6: </a:t>
            </a:r>
            <a:r>
              <a:rPr lang="en-US" dirty="0"/>
              <a:t>Web services</a:t>
            </a:r>
          </a:p>
        </p:txBody>
      </p:sp>
    </p:spTree>
    <p:extLst>
      <p:ext uri="{BB962C8B-B14F-4D97-AF65-F5344CB8AC3E}">
        <p14:creationId xmlns:p14="http://schemas.microsoft.com/office/powerpoint/2010/main" val="4049547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Chương</a:t>
            </a:r>
            <a:r>
              <a:rPr lang="en-US" dirty="0"/>
              <a:t> </a:t>
            </a:r>
            <a:r>
              <a:rPr lang="en-US" dirty="0" err="1"/>
              <a:t>trình</a:t>
            </a:r>
            <a:r>
              <a:rPr lang="en-US" dirty="0"/>
              <a:t> </a:t>
            </a:r>
            <a:r>
              <a:rPr lang="en-US" dirty="0" err="1"/>
              <a:t>học</a:t>
            </a:r>
            <a:endParaRPr lang="en-US" dirty="0"/>
          </a:p>
        </p:txBody>
      </p:sp>
      <p:sp>
        <p:nvSpPr>
          <p:cNvPr id="3" name="Content Placeholder 2"/>
          <p:cNvSpPr>
            <a:spLocks noGrp="1"/>
          </p:cNvSpPr>
          <p:nvPr>
            <p:ph idx="1"/>
          </p:nvPr>
        </p:nvSpPr>
        <p:spPr/>
        <p:txBody>
          <a:bodyPr/>
          <a:lstStyle/>
          <a:p>
            <a:r>
              <a:rPr lang="en-US" dirty="0" err="1"/>
              <a:t>Lý</a:t>
            </a:r>
            <a:r>
              <a:rPr lang="en-US" dirty="0"/>
              <a:t> </a:t>
            </a:r>
            <a:r>
              <a:rPr lang="en-US" dirty="0" err="1"/>
              <a:t>thuyết</a:t>
            </a:r>
            <a:r>
              <a:rPr lang="en-US" dirty="0"/>
              <a:t>: 30 </a:t>
            </a:r>
            <a:r>
              <a:rPr lang="en-US" dirty="0" err="1"/>
              <a:t>tiết</a:t>
            </a:r>
            <a:endParaRPr lang="en-US" dirty="0"/>
          </a:p>
          <a:p>
            <a:r>
              <a:rPr lang="en-US" dirty="0" err="1"/>
              <a:t>Thực</a:t>
            </a:r>
            <a:r>
              <a:rPr lang="en-US" dirty="0"/>
              <a:t> </a:t>
            </a:r>
            <a:r>
              <a:rPr lang="en-US" dirty="0" err="1"/>
              <a:t>hành</a:t>
            </a:r>
            <a:r>
              <a:rPr lang="en-US" dirty="0"/>
              <a:t> </a:t>
            </a:r>
            <a:r>
              <a:rPr lang="en-US" dirty="0" err="1"/>
              <a:t>trên</a:t>
            </a:r>
            <a:r>
              <a:rPr lang="en-US" dirty="0"/>
              <a:t> </a:t>
            </a:r>
            <a:r>
              <a:rPr lang="en-US" dirty="0" err="1"/>
              <a:t>phòng</a:t>
            </a:r>
            <a:r>
              <a:rPr lang="en-US" dirty="0"/>
              <a:t> </a:t>
            </a:r>
            <a:r>
              <a:rPr lang="en-US" dirty="0" err="1"/>
              <a:t>máy</a:t>
            </a:r>
            <a:r>
              <a:rPr lang="en-US" dirty="0"/>
              <a:t>: 15 </a:t>
            </a:r>
            <a:r>
              <a:rPr lang="en-US" dirty="0" err="1"/>
              <a:t>tiết</a:t>
            </a:r>
            <a:endParaRPr lang="en-US" dirty="0"/>
          </a:p>
        </p:txBody>
      </p:sp>
    </p:spTree>
    <p:extLst>
      <p:ext uri="{BB962C8B-B14F-4D97-AF65-F5344CB8AC3E}">
        <p14:creationId xmlns:p14="http://schemas.microsoft.com/office/powerpoint/2010/main" val="1391590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Đánh</a:t>
            </a:r>
            <a:r>
              <a:rPr lang="en-US" dirty="0"/>
              <a:t> </a:t>
            </a:r>
            <a:r>
              <a:rPr lang="en-US" dirty="0" err="1"/>
              <a:t>giá</a:t>
            </a:r>
            <a:endParaRPr lang="en-US" dirty="0"/>
          </a:p>
        </p:txBody>
      </p:sp>
      <p:sp>
        <p:nvSpPr>
          <p:cNvPr id="3" name="Content Placeholder 2"/>
          <p:cNvSpPr>
            <a:spLocks noGrp="1"/>
          </p:cNvSpPr>
          <p:nvPr>
            <p:ph idx="1"/>
          </p:nvPr>
        </p:nvSpPr>
        <p:spPr/>
        <p:txBody>
          <a:bodyPr/>
          <a:lstStyle/>
          <a:p>
            <a:r>
              <a:rPr lang="en-US" dirty="0" err="1"/>
              <a:t>Điểm</a:t>
            </a:r>
            <a:r>
              <a:rPr lang="en-US" dirty="0"/>
              <a:t> </a:t>
            </a:r>
            <a:r>
              <a:rPr lang="en-US" dirty="0" err="1"/>
              <a:t>chuyên</a:t>
            </a:r>
            <a:r>
              <a:rPr lang="en-US" dirty="0"/>
              <a:t> </a:t>
            </a:r>
            <a:r>
              <a:rPr lang="en-US" dirty="0" err="1"/>
              <a:t>cần</a:t>
            </a:r>
            <a:r>
              <a:rPr lang="en-US" dirty="0"/>
              <a:t>: </a:t>
            </a:r>
            <a:r>
              <a:rPr lang="en-US" dirty="0" err="1"/>
              <a:t>điểm</a:t>
            </a:r>
            <a:r>
              <a:rPr lang="en-US" dirty="0"/>
              <a:t> </a:t>
            </a:r>
            <a:r>
              <a:rPr lang="en-US" dirty="0" err="1"/>
              <a:t>danh</a:t>
            </a:r>
            <a:r>
              <a:rPr lang="en-US" dirty="0"/>
              <a:t> </a:t>
            </a:r>
            <a:r>
              <a:rPr lang="en-US" dirty="0" err="1"/>
              <a:t>trên</a:t>
            </a:r>
            <a:r>
              <a:rPr lang="en-US" dirty="0"/>
              <a:t> </a:t>
            </a:r>
            <a:r>
              <a:rPr lang="en-US" dirty="0" err="1"/>
              <a:t>lớp</a:t>
            </a:r>
            <a:r>
              <a:rPr lang="en-US" dirty="0"/>
              <a:t> (10%)</a:t>
            </a:r>
          </a:p>
          <a:p>
            <a:r>
              <a:rPr lang="en-US" dirty="0" err="1"/>
              <a:t>Điểm</a:t>
            </a:r>
            <a:r>
              <a:rPr lang="en-US" dirty="0"/>
              <a:t> </a:t>
            </a:r>
            <a:r>
              <a:rPr lang="en-US" dirty="0" err="1"/>
              <a:t>giữa</a:t>
            </a:r>
            <a:r>
              <a:rPr lang="en-US" dirty="0"/>
              <a:t> </a:t>
            </a:r>
            <a:r>
              <a:rPr lang="en-US" dirty="0" err="1"/>
              <a:t>kỳ</a:t>
            </a:r>
            <a:r>
              <a:rPr lang="en-US" dirty="0"/>
              <a:t>: </a:t>
            </a:r>
            <a:r>
              <a:rPr lang="en-US" dirty="0" err="1"/>
              <a:t>bài</a:t>
            </a:r>
            <a:r>
              <a:rPr lang="en-US" dirty="0"/>
              <a:t> </a:t>
            </a:r>
            <a:r>
              <a:rPr lang="en-US" dirty="0" err="1"/>
              <a:t>tập</a:t>
            </a:r>
            <a:r>
              <a:rPr lang="en-US" dirty="0"/>
              <a:t> </a:t>
            </a:r>
            <a:r>
              <a:rPr lang="en-US" dirty="0" err="1"/>
              <a:t>lớn</a:t>
            </a:r>
            <a:r>
              <a:rPr lang="en-US" dirty="0"/>
              <a:t> </a:t>
            </a:r>
            <a:r>
              <a:rPr lang="en-US" dirty="0" err="1"/>
              <a:t>theo</a:t>
            </a:r>
            <a:r>
              <a:rPr lang="en-US" dirty="0"/>
              <a:t> </a:t>
            </a:r>
            <a:r>
              <a:rPr lang="en-US" dirty="0" err="1"/>
              <a:t>nhóm</a:t>
            </a:r>
            <a:r>
              <a:rPr lang="en-US" dirty="0"/>
              <a:t> (30%)</a:t>
            </a:r>
          </a:p>
          <a:p>
            <a:r>
              <a:rPr lang="en-US" dirty="0" err="1"/>
              <a:t>Điểm</a:t>
            </a:r>
            <a:r>
              <a:rPr lang="en-US" dirty="0"/>
              <a:t> </a:t>
            </a:r>
            <a:r>
              <a:rPr lang="en-US" dirty="0" err="1"/>
              <a:t>kiểm</a:t>
            </a:r>
            <a:r>
              <a:rPr lang="en-US" dirty="0"/>
              <a:t> </a:t>
            </a:r>
            <a:r>
              <a:rPr lang="en-US" dirty="0" err="1"/>
              <a:t>tra</a:t>
            </a:r>
            <a:r>
              <a:rPr lang="en-US" dirty="0"/>
              <a:t>: </a:t>
            </a:r>
            <a:r>
              <a:rPr lang="en-US" dirty="0" err="1"/>
              <a:t>Bài</a:t>
            </a:r>
            <a:r>
              <a:rPr lang="en-US" dirty="0"/>
              <a:t> </a:t>
            </a:r>
            <a:r>
              <a:rPr lang="en-US" dirty="0" err="1"/>
              <a:t>thi</a:t>
            </a:r>
            <a:r>
              <a:rPr lang="en-US" dirty="0"/>
              <a:t> </a:t>
            </a:r>
            <a:r>
              <a:rPr lang="en-US" dirty="0" err="1"/>
              <a:t>thực</a:t>
            </a:r>
            <a:r>
              <a:rPr lang="en-US" dirty="0"/>
              <a:t> </a:t>
            </a:r>
            <a:r>
              <a:rPr lang="en-US" dirty="0" err="1"/>
              <a:t>hành</a:t>
            </a:r>
            <a:r>
              <a:rPr lang="en-US" dirty="0"/>
              <a:t> </a:t>
            </a:r>
            <a:r>
              <a:rPr lang="en-US" dirty="0" err="1"/>
              <a:t>trên</a:t>
            </a:r>
            <a:r>
              <a:rPr lang="en-US" dirty="0"/>
              <a:t> </a:t>
            </a:r>
            <a:r>
              <a:rPr lang="en-US" dirty="0" err="1"/>
              <a:t>phòng</a:t>
            </a:r>
            <a:r>
              <a:rPr lang="en-US" dirty="0"/>
              <a:t> </a:t>
            </a:r>
            <a:r>
              <a:rPr lang="en-US" dirty="0" err="1"/>
              <a:t>máy</a:t>
            </a:r>
            <a:r>
              <a:rPr lang="en-US" dirty="0"/>
              <a:t> (60%).</a:t>
            </a:r>
          </a:p>
        </p:txBody>
      </p:sp>
    </p:spTree>
    <p:extLst>
      <p:ext uri="{BB962C8B-B14F-4D97-AF65-F5344CB8AC3E}">
        <p14:creationId xmlns:p14="http://schemas.microsoft.com/office/powerpoint/2010/main" val="2752472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Chương</a:t>
            </a:r>
            <a:r>
              <a:rPr lang="en-US" dirty="0"/>
              <a:t> 1: </a:t>
            </a:r>
            <a:r>
              <a:rPr lang="en-US" dirty="0" err="1"/>
              <a:t>Tổng</a:t>
            </a:r>
            <a:r>
              <a:rPr lang="en-US" dirty="0"/>
              <a:t> </a:t>
            </a:r>
            <a:r>
              <a:rPr lang="en-US" dirty="0" err="1"/>
              <a:t>quan</a:t>
            </a:r>
            <a:r>
              <a:rPr lang="en-US" dirty="0"/>
              <a:t> </a:t>
            </a:r>
            <a:r>
              <a:rPr lang="en-US" dirty="0" err="1"/>
              <a:t>về</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Web </a:t>
            </a:r>
            <a:r>
              <a:rPr lang="en-US" dirty="0" err="1"/>
              <a:t>phía</a:t>
            </a:r>
            <a:r>
              <a:rPr lang="en-US" dirty="0"/>
              <a:t> Server</a:t>
            </a:r>
          </a:p>
        </p:txBody>
      </p:sp>
      <p:sp>
        <p:nvSpPr>
          <p:cNvPr id="3" name="Content Placeholder 2"/>
          <p:cNvSpPr>
            <a:spLocks noGrp="1"/>
          </p:cNvSpPr>
          <p:nvPr>
            <p:ph idx="1"/>
          </p:nvPr>
        </p:nvSpPr>
        <p:spPr/>
        <p:txBody>
          <a:bodyPr/>
          <a:lstStyle/>
          <a:p>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a:p>
            <a:r>
              <a:rPr lang="en-US" dirty="0" err="1"/>
              <a:t>Cơ</a:t>
            </a:r>
            <a:r>
              <a:rPr lang="en-US" dirty="0"/>
              <a:t> </a:t>
            </a:r>
            <a:r>
              <a:rPr lang="en-US" dirty="0" err="1"/>
              <a:t>bản</a:t>
            </a:r>
            <a:r>
              <a:rPr lang="en-US" dirty="0"/>
              <a:t> </a:t>
            </a:r>
            <a:r>
              <a:rPr lang="en-US" dirty="0" err="1"/>
              <a:t>về</a:t>
            </a:r>
            <a:r>
              <a:rPr lang="en-US" dirty="0"/>
              <a:t> Web </a:t>
            </a:r>
            <a:r>
              <a:rPr lang="en-US" dirty="0" err="1"/>
              <a:t>động</a:t>
            </a:r>
            <a:endParaRPr lang="en-US" dirty="0"/>
          </a:p>
          <a:p>
            <a:r>
              <a:rPr lang="en-US" dirty="0" err="1"/>
              <a:t>Mô</a:t>
            </a:r>
            <a:r>
              <a:rPr lang="en-US" dirty="0"/>
              <a:t> </a:t>
            </a:r>
            <a:r>
              <a:rPr lang="en-US" dirty="0" err="1"/>
              <a:t>hình</a:t>
            </a:r>
            <a:r>
              <a:rPr lang="en-US" dirty="0"/>
              <a:t> </a:t>
            </a:r>
            <a:r>
              <a:rPr lang="en-US" dirty="0" err="1"/>
              <a:t>phát</a:t>
            </a:r>
            <a:r>
              <a:rPr lang="en-US" dirty="0"/>
              <a:t> </a:t>
            </a:r>
            <a:r>
              <a:rPr lang="en-US" dirty="0" err="1"/>
              <a:t>triển</a:t>
            </a:r>
            <a:r>
              <a:rPr lang="en-US" dirty="0"/>
              <a:t> Web </a:t>
            </a:r>
            <a:r>
              <a:rPr lang="en-US" dirty="0" err="1"/>
              <a:t>phía</a:t>
            </a:r>
            <a:r>
              <a:rPr lang="en-US" dirty="0"/>
              <a:t> Server</a:t>
            </a:r>
          </a:p>
          <a:p>
            <a:endParaRPr lang="en-US" dirty="0"/>
          </a:p>
        </p:txBody>
      </p:sp>
    </p:spTree>
    <p:extLst>
      <p:ext uri="{BB962C8B-B14F-4D97-AF65-F5344CB8AC3E}">
        <p14:creationId xmlns:p14="http://schemas.microsoft.com/office/powerpoint/2010/main" val="2178307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67" y="544967"/>
            <a:ext cx="10993967" cy="498475"/>
          </a:xfrm>
        </p:spPr>
        <p:txBody>
          <a:bodyPr/>
          <a:lstStyle/>
          <a:p>
            <a:r>
              <a:rPr lang="en-US" dirty="0"/>
              <a:t>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a:xfrm>
            <a:off x="914401" y="1136470"/>
            <a:ext cx="10367433" cy="4542020"/>
          </a:xfrm>
        </p:spPr>
        <p:txBody>
          <a:bodyPr/>
          <a:lstStyle/>
          <a:p>
            <a:r>
              <a:rPr lang="en-US" altLang="en-US" sz="2200" dirty="0"/>
              <a:t>WWW (WORLD WIDE WEB)</a:t>
            </a:r>
          </a:p>
          <a:p>
            <a:r>
              <a:rPr lang="en-US" sz="2200" dirty="0"/>
              <a:t>Website</a:t>
            </a:r>
          </a:p>
          <a:p>
            <a:r>
              <a:rPr lang="en-US" sz="2200" dirty="0"/>
              <a:t>Webpage</a:t>
            </a:r>
          </a:p>
          <a:p>
            <a:r>
              <a:rPr lang="en-US" sz="2200" dirty="0" err="1"/>
              <a:t>Mô</a:t>
            </a:r>
            <a:r>
              <a:rPr lang="en-US" sz="2200" dirty="0"/>
              <a:t> </a:t>
            </a:r>
            <a:r>
              <a:rPr lang="en-US" sz="2200" dirty="0" err="1"/>
              <a:t>hình</a:t>
            </a:r>
            <a:r>
              <a:rPr lang="en-US" sz="2200" dirty="0"/>
              <a:t> </a:t>
            </a:r>
            <a:r>
              <a:rPr lang="en-US" sz="2200" dirty="0" err="1"/>
              <a:t>giao</a:t>
            </a:r>
            <a:r>
              <a:rPr lang="en-US" sz="2200" dirty="0"/>
              <a:t> </a:t>
            </a:r>
            <a:r>
              <a:rPr lang="en-US" sz="2200" dirty="0" err="1"/>
              <a:t>tiếp</a:t>
            </a:r>
            <a:r>
              <a:rPr lang="en-US" sz="2200" dirty="0"/>
              <a:t> </a:t>
            </a:r>
            <a:r>
              <a:rPr lang="en-US" sz="2200" dirty="0" err="1"/>
              <a:t>giữa</a:t>
            </a:r>
            <a:r>
              <a:rPr lang="en-US" sz="2200" dirty="0"/>
              <a:t> Client </a:t>
            </a:r>
            <a:r>
              <a:rPr lang="en-US" sz="2200" dirty="0" err="1"/>
              <a:t>và</a:t>
            </a:r>
            <a:r>
              <a:rPr lang="en-US" sz="2200" dirty="0"/>
              <a:t> Server</a:t>
            </a:r>
          </a:p>
          <a:p>
            <a:r>
              <a:rPr lang="fr-FR" altLang="en-US" sz="2200" dirty="0" err="1"/>
              <a:t>Địa</a:t>
            </a:r>
            <a:r>
              <a:rPr lang="fr-FR" altLang="en-US" sz="2200" dirty="0"/>
              <a:t> </a:t>
            </a:r>
            <a:r>
              <a:rPr lang="fr-FR" altLang="en-US" sz="2200" dirty="0" err="1"/>
              <a:t>chỉ</a:t>
            </a:r>
            <a:r>
              <a:rPr lang="fr-FR" altLang="en-US" sz="2200" dirty="0"/>
              <a:t> IP </a:t>
            </a:r>
            <a:r>
              <a:rPr lang="fr-FR" altLang="en-US" sz="2200" dirty="0" err="1"/>
              <a:t>và</a:t>
            </a:r>
            <a:r>
              <a:rPr lang="fr-FR" altLang="en-US" sz="2200" dirty="0"/>
              <a:t> </a:t>
            </a:r>
            <a:r>
              <a:rPr lang="fr-FR" altLang="en-US" sz="2200" dirty="0" err="1"/>
              <a:t>tên</a:t>
            </a:r>
            <a:r>
              <a:rPr lang="fr-FR" altLang="en-US" sz="2200" dirty="0"/>
              <a:t> </a:t>
            </a:r>
            <a:r>
              <a:rPr lang="fr-FR" altLang="en-US" sz="2200" dirty="0" err="1"/>
              <a:t>miền</a:t>
            </a:r>
            <a:endParaRPr lang="en-US" sz="2200" dirty="0"/>
          </a:p>
          <a:p>
            <a:r>
              <a:rPr lang="en-US" sz="2200" dirty="0"/>
              <a:t>Web Server</a:t>
            </a:r>
          </a:p>
          <a:p>
            <a:r>
              <a:rPr lang="en-US" sz="2200" dirty="0"/>
              <a:t>Web Client</a:t>
            </a:r>
          </a:p>
          <a:p>
            <a:r>
              <a:rPr lang="vi-VN" sz="2200" dirty="0"/>
              <a:t>Web Browser </a:t>
            </a:r>
            <a:endParaRPr lang="en-US" sz="2200" dirty="0"/>
          </a:p>
          <a:p>
            <a:r>
              <a:rPr lang="en-US" sz="2200" dirty="0"/>
              <a:t>HTTP</a:t>
            </a:r>
          </a:p>
          <a:p>
            <a:r>
              <a:rPr lang="en-US" sz="2200" dirty="0"/>
              <a:t>URL</a:t>
            </a:r>
          </a:p>
          <a:p>
            <a:r>
              <a:rPr lang="en-US" sz="2200" dirty="0"/>
              <a:t>HTML</a:t>
            </a:r>
          </a:p>
        </p:txBody>
      </p:sp>
    </p:spTree>
    <p:extLst>
      <p:ext uri="{BB962C8B-B14F-4D97-AF65-F5344CB8AC3E}">
        <p14:creationId xmlns:p14="http://schemas.microsoft.com/office/powerpoint/2010/main" val="1166764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p:txBody>
          <a:bodyPr>
            <a:normAutofit/>
          </a:bodyPr>
          <a:lstStyle/>
          <a:p>
            <a:r>
              <a:rPr lang="en-US" altLang="en-US" dirty="0"/>
              <a:t>WWW (WORLD WIDE WEB): </a:t>
            </a:r>
            <a:r>
              <a:rPr lang="en-US" altLang="en-US" dirty="0" err="1"/>
              <a:t>gọi</a:t>
            </a:r>
            <a:r>
              <a:rPr lang="en-US" altLang="en-US" dirty="0"/>
              <a:t> </a:t>
            </a:r>
            <a:r>
              <a:rPr lang="en-US" altLang="en-US" dirty="0" err="1"/>
              <a:t>ngắn</a:t>
            </a:r>
            <a:r>
              <a:rPr lang="en-US" altLang="en-US" dirty="0"/>
              <a:t> </a:t>
            </a:r>
            <a:r>
              <a:rPr lang="en-US" altLang="en-US" dirty="0" err="1"/>
              <a:t>gọn</a:t>
            </a:r>
            <a:r>
              <a:rPr lang="en-US" altLang="en-US" dirty="0"/>
              <a:t> </a:t>
            </a:r>
            <a:r>
              <a:rPr lang="en-US" altLang="en-US" dirty="0" err="1"/>
              <a:t>là</a:t>
            </a:r>
            <a:r>
              <a:rPr lang="en-US" altLang="en-US" dirty="0"/>
              <a:t> Web, </a:t>
            </a:r>
            <a:r>
              <a:rPr lang="en-US" altLang="en-US" dirty="0" err="1"/>
              <a:t>là</a:t>
            </a:r>
            <a:r>
              <a:rPr lang="en-US" altLang="en-US" dirty="0"/>
              <a:t> </a:t>
            </a:r>
            <a:r>
              <a:rPr lang="en-US" altLang="en-US" dirty="0" err="1"/>
              <a:t>công</a:t>
            </a:r>
            <a:r>
              <a:rPr lang="en-US" altLang="en-US" dirty="0"/>
              <a:t> </a:t>
            </a:r>
            <a:r>
              <a:rPr lang="en-US" altLang="en-US" dirty="0" err="1"/>
              <a:t>cụ</a:t>
            </a:r>
            <a:r>
              <a:rPr lang="en-US" altLang="en-US" dirty="0"/>
              <a:t> hay </a:t>
            </a:r>
            <a:r>
              <a:rPr lang="en-US" altLang="en-US" dirty="0" err="1"/>
              <a:t>dịch</a:t>
            </a:r>
            <a:r>
              <a:rPr lang="en-US" altLang="en-US" dirty="0"/>
              <a:t> </a:t>
            </a:r>
            <a:r>
              <a:rPr lang="en-US" altLang="en-US" dirty="0" err="1"/>
              <a:t>vụ</a:t>
            </a:r>
            <a:r>
              <a:rPr lang="en-US" altLang="en-US" dirty="0"/>
              <a:t> </a:t>
            </a:r>
            <a:r>
              <a:rPr lang="en-US" altLang="en-US" dirty="0" err="1"/>
              <a:t>của</a:t>
            </a:r>
            <a:r>
              <a:rPr lang="en-US" altLang="en-US" dirty="0"/>
              <a:t> Internet, </a:t>
            </a:r>
            <a:r>
              <a:rPr lang="en-US" altLang="en-US" dirty="0" err="1"/>
              <a:t>chứa</a:t>
            </a:r>
            <a:r>
              <a:rPr lang="en-US" altLang="en-US" dirty="0"/>
              <a:t> </a:t>
            </a:r>
            <a:r>
              <a:rPr lang="en-US" altLang="en-US" dirty="0" err="1"/>
              <a:t>thông</a:t>
            </a:r>
            <a:r>
              <a:rPr lang="en-US" altLang="en-US" dirty="0"/>
              <a:t> tin </a:t>
            </a:r>
            <a:r>
              <a:rPr lang="en-US" altLang="en-US" dirty="0" err="1"/>
              <a:t>bao</a:t>
            </a:r>
            <a:r>
              <a:rPr lang="en-US" altLang="en-US" dirty="0"/>
              <a:t> </a:t>
            </a:r>
            <a:r>
              <a:rPr lang="en-US" altLang="en-US" dirty="0" err="1"/>
              <a:t>gồm</a:t>
            </a:r>
            <a:r>
              <a:rPr lang="en-US" altLang="en-US" dirty="0"/>
              <a:t> </a:t>
            </a:r>
            <a:r>
              <a:rPr lang="en-US" altLang="en-US" dirty="0" err="1"/>
              <a:t>văn</a:t>
            </a:r>
            <a:r>
              <a:rPr lang="en-US" altLang="en-US" dirty="0"/>
              <a:t> </a:t>
            </a:r>
            <a:r>
              <a:rPr lang="en-US" altLang="en-US" dirty="0" err="1"/>
              <a:t>bản</a:t>
            </a:r>
            <a:r>
              <a:rPr lang="en-US" altLang="en-US" dirty="0"/>
              <a:t>, </a:t>
            </a:r>
            <a:r>
              <a:rPr lang="en-US" altLang="en-US" dirty="0" err="1"/>
              <a:t>hình</a:t>
            </a:r>
            <a:r>
              <a:rPr lang="en-US" altLang="en-US" dirty="0"/>
              <a:t> </a:t>
            </a:r>
            <a:r>
              <a:rPr lang="en-US" altLang="en-US" dirty="0" err="1"/>
              <a:t>ảnh</a:t>
            </a:r>
            <a:r>
              <a:rPr lang="en-US" altLang="en-US" dirty="0"/>
              <a:t>, </a:t>
            </a:r>
            <a:r>
              <a:rPr lang="en-US" altLang="en-US" dirty="0" err="1"/>
              <a:t>âm</a:t>
            </a:r>
            <a:r>
              <a:rPr lang="en-US" altLang="en-US" dirty="0"/>
              <a:t> </a:t>
            </a:r>
            <a:r>
              <a:rPr lang="en-US" altLang="en-US" dirty="0" err="1"/>
              <a:t>thanh</a:t>
            </a:r>
            <a:r>
              <a:rPr lang="en-US" altLang="en-US" dirty="0"/>
              <a:t>, video, … </a:t>
            </a:r>
            <a:r>
              <a:rPr lang="en-US" altLang="en-US" dirty="0" err="1"/>
              <a:t>được</a:t>
            </a:r>
            <a:r>
              <a:rPr lang="en-US" altLang="en-US" dirty="0"/>
              <a:t> </a:t>
            </a:r>
            <a:r>
              <a:rPr lang="en-US" altLang="en-US" dirty="0" err="1"/>
              <a:t>kết</a:t>
            </a:r>
            <a:r>
              <a:rPr lang="en-US" altLang="en-US" dirty="0"/>
              <a:t> </a:t>
            </a:r>
            <a:r>
              <a:rPr lang="en-US" altLang="en-US" dirty="0" err="1"/>
              <a:t>hợp</a:t>
            </a:r>
            <a:r>
              <a:rPr lang="en-US" altLang="en-US" dirty="0"/>
              <a:t> </a:t>
            </a:r>
            <a:r>
              <a:rPr lang="en-US" altLang="en-US" dirty="0" err="1"/>
              <a:t>với</a:t>
            </a:r>
            <a:r>
              <a:rPr lang="en-US" altLang="en-US" dirty="0"/>
              <a:t> </a:t>
            </a:r>
            <a:r>
              <a:rPr lang="en-US" altLang="en-US" dirty="0" err="1"/>
              <a:t>nhau</a:t>
            </a:r>
            <a:endParaRPr lang="en-US" altLang="en-US" dirty="0"/>
          </a:p>
          <a:p>
            <a:endParaRPr lang="en-US" altLang="en-US" dirty="0"/>
          </a:p>
        </p:txBody>
      </p:sp>
      <p:pic>
        <p:nvPicPr>
          <p:cNvPr id="5" name="Picture 7" descr="https://encrypted-tbn0.gstatic.com/images?q=tbn:ANd9GcQr3jbBiUnsUrMC8gXzhA1Trhv5Czht_KybzwKwogSAoF3TU_B2C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3462" y="3357550"/>
            <a:ext cx="3792538"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C:\Users\Adminn\Desktop\h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1262" y="3357550"/>
            <a:ext cx="33147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8508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p:txBody>
          <a:bodyPr>
            <a:normAutofit/>
          </a:bodyPr>
          <a:lstStyle/>
          <a:p>
            <a:pPr algn="just"/>
            <a:r>
              <a:rPr lang="en-US" dirty="0"/>
              <a:t>Website: </a:t>
            </a:r>
            <a:r>
              <a:rPr lang="en-US" altLang="en-US" dirty="0" err="1"/>
              <a:t>là</a:t>
            </a:r>
            <a:r>
              <a:rPr lang="en-US" altLang="en-US" dirty="0"/>
              <a:t> </a:t>
            </a:r>
            <a:r>
              <a:rPr lang="en-US" altLang="en-US" dirty="0" err="1"/>
              <a:t>một</a:t>
            </a:r>
            <a:r>
              <a:rPr lang="en-US" altLang="en-US" dirty="0"/>
              <a:t> </a:t>
            </a:r>
            <a:r>
              <a:rPr lang="en-US" altLang="en-US" dirty="0" err="1"/>
              <a:t>tập</a:t>
            </a:r>
            <a:r>
              <a:rPr lang="en-US" altLang="en-US" dirty="0"/>
              <a:t> </a:t>
            </a:r>
            <a:r>
              <a:rPr lang="en-US" altLang="en-US" dirty="0" err="1"/>
              <a:t>hợp</a:t>
            </a:r>
            <a:r>
              <a:rPr lang="en-US" altLang="en-US" dirty="0"/>
              <a:t> </a:t>
            </a:r>
            <a:r>
              <a:rPr lang="en-US" altLang="en-US" dirty="0" err="1"/>
              <a:t>các</a:t>
            </a:r>
            <a:r>
              <a:rPr lang="en-US" altLang="en-US" dirty="0"/>
              <a:t> </a:t>
            </a:r>
            <a:r>
              <a:rPr lang="en-US" altLang="en-US" dirty="0" err="1"/>
              <a:t>trang</a:t>
            </a:r>
            <a:r>
              <a:rPr lang="en-US" altLang="en-US" dirty="0"/>
              <a:t> web </a:t>
            </a:r>
            <a:r>
              <a:rPr lang="en-US" altLang="en-US" dirty="0" err="1"/>
              <a:t>liên</a:t>
            </a:r>
            <a:r>
              <a:rPr lang="en-US" altLang="en-US" dirty="0"/>
              <a:t> </a:t>
            </a:r>
            <a:r>
              <a:rPr lang="en-US" altLang="en-US" dirty="0" err="1"/>
              <a:t>kết</a:t>
            </a:r>
            <a:r>
              <a:rPr lang="en-US" altLang="en-US" dirty="0"/>
              <a:t> </a:t>
            </a:r>
            <a:r>
              <a:rPr lang="en-US" altLang="en-US" dirty="0" err="1"/>
              <a:t>với</a:t>
            </a:r>
            <a:r>
              <a:rPr lang="en-US" altLang="en-US" dirty="0"/>
              <a:t> </a:t>
            </a:r>
            <a:r>
              <a:rPr lang="en-US" altLang="en-US" dirty="0" err="1"/>
              <a:t>nhau</a:t>
            </a:r>
            <a:r>
              <a:rPr lang="en-US" altLang="en-US" dirty="0"/>
              <a:t>, </a:t>
            </a:r>
            <a:r>
              <a:rPr lang="en-US" altLang="en-US" dirty="0" err="1"/>
              <a:t>được</a:t>
            </a:r>
            <a:r>
              <a:rPr lang="en-US" altLang="en-US" dirty="0"/>
              <a:t> </a:t>
            </a:r>
            <a:r>
              <a:rPr lang="en-US" altLang="en-US" dirty="0" err="1"/>
              <a:t>quản</a:t>
            </a:r>
            <a:r>
              <a:rPr lang="en-US" altLang="en-US" dirty="0"/>
              <a:t> </a:t>
            </a:r>
            <a:r>
              <a:rPr lang="en-US" altLang="en-US" dirty="0" err="1"/>
              <a:t>lý</a:t>
            </a:r>
            <a:r>
              <a:rPr lang="en-US" altLang="en-US" dirty="0"/>
              <a:t> </a:t>
            </a:r>
            <a:r>
              <a:rPr lang="en-US" altLang="en-US" dirty="0" err="1"/>
              <a:t>bởi</a:t>
            </a:r>
            <a:r>
              <a:rPr lang="en-US" altLang="en-US" dirty="0"/>
              <a:t> </a:t>
            </a:r>
            <a:r>
              <a:rPr lang="en-US" altLang="en-US" dirty="0" err="1"/>
              <a:t>một</a:t>
            </a:r>
            <a:r>
              <a:rPr lang="en-US" altLang="en-US" dirty="0"/>
              <a:t> </a:t>
            </a:r>
            <a:r>
              <a:rPr lang="en-US" altLang="en-US" dirty="0" err="1"/>
              <a:t>cá</a:t>
            </a:r>
            <a:r>
              <a:rPr lang="en-US" altLang="en-US" dirty="0"/>
              <a:t> </a:t>
            </a:r>
            <a:r>
              <a:rPr lang="en-US" altLang="en-US" dirty="0" err="1"/>
              <a:t>nhân</a:t>
            </a:r>
            <a:r>
              <a:rPr lang="en-US" altLang="en-US" dirty="0"/>
              <a:t> hay </a:t>
            </a:r>
            <a:r>
              <a:rPr lang="en-US" altLang="en-US" dirty="0" err="1"/>
              <a:t>tổ</a:t>
            </a:r>
            <a:r>
              <a:rPr lang="en-US" altLang="en-US" dirty="0"/>
              <a:t> </a:t>
            </a:r>
            <a:r>
              <a:rPr lang="en-US" altLang="en-US" dirty="0" err="1"/>
              <a:t>chức</a:t>
            </a:r>
            <a:r>
              <a:rPr lang="en-US" altLang="en-US" dirty="0"/>
              <a:t> </a:t>
            </a:r>
            <a:r>
              <a:rPr lang="en-US" altLang="en-US" dirty="0" err="1"/>
              <a:t>nào</a:t>
            </a:r>
            <a:r>
              <a:rPr lang="en-US" altLang="en-US" dirty="0"/>
              <a:t> </a:t>
            </a:r>
            <a:r>
              <a:rPr lang="en-US" altLang="en-US" dirty="0" err="1"/>
              <a:t>đó</a:t>
            </a:r>
            <a:endParaRPr lang="en-US" altLang="en-US" dirty="0"/>
          </a:p>
          <a:p>
            <a:pPr lvl="1" algn="just"/>
            <a:r>
              <a:rPr lang="en-US" altLang="en-US" dirty="0" err="1"/>
              <a:t>Ví</a:t>
            </a:r>
            <a:r>
              <a:rPr lang="en-US" altLang="en-US" dirty="0"/>
              <a:t> </a:t>
            </a:r>
            <a:r>
              <a:rPr lang="en-US" altLang="en-US" dirty="0" err="1"/>
              <a:t>dụ</a:t>
            </a:r>
            <a:r>
              <a:rPr lang="en-US" altLang="en-US" dirty="0"/>
              <a:t>: website </a:t>
            </a:r>
            <a:r>
              <a:rPr lang="en-US" altLang="en-US" dirty="0" err="1"/>
              <a:t>của</a:t>
            </a:r>
            <a:r>
              <a:rPr lang="en-US" altLang="en-US" dirty="0"/>
              <a:t> </a:t>
            </a:r>
            <a:r>
              <a:rPr lang="en-US" altLang="en-US" dirty="0" err="1"/>
              <a:t>Học</a:t>
            </a:r>
            <a:r>
              <a:rPr lang="en-US" altLang="en-US" dirty="0"/>
              <a:t> </a:t>
            </a:r>
            <a:r>
              <a:rPr lang="en-US" altLang="en-US" dirty="0" err="1"/>
              <a:t>viện</a:t>
            </a:r>
            <a:r>
              <a:rPr lang="en-US" altLang="en-US" dirty="0"/>
              <a:t> </a:t>
            </a:r>
            <a:r>
              <a:rPr lang="en-US" altLang="en-US" dirty="0" err="1"/>
              <a:t>Nông</a:t>
            </a:r>
            <a:r>
              <a:rPr lang="en-US" altLang="en-US" dirty="0"/>
              <a:t> </a:t>
            </a:r>
            <a:r>
              <a:rPr lang="en-US" altLang="en-US" dirty="0" err="1"/>
              <a:t>nghiệp</a:t>
            </a:r>
            <a:r>
              <a:rPr lang="en-US" altLang="en-US" dirty="0"/>
              <a:t> </a:t>
            </a:r>
            <a:r>
              <a:rPr lang="en-US" altLang="en-US" dirty="0" err="1"/>
              <a:t>Việt</a:t>
            </a:r>
            <a:r>
              <a:rPr lang="en-US" altLang="en-US" dirty="0"/>
              <a:t> Nam</a:t>
            </a:r>
            <a:endParaRPr lang="en-US" dirty="0"/>
          </a:p>
          <a:p>
            <a:pPr algn="just"/>
            <a:r>
              <a:rPr lang="en-US" altLang="en-US" dirty="0" err="1"/>
              <a:t>Trang</a:t>
            </a:r>
            <a:r>
              <a:rPr lang="en-US" altLang="en-US" dirty="0"/>
              <a:t> web (web page): </a:t>
            </a:r>
            <a:r>
              <a:rPr lang="en-US" altLang="en-US" dirty="0" err="1"/>
              <a:t>là</a:t>
            </a:r>
            <a:r>
              <a:rPr lang="en-US" altLang="en-US" dirty="0"/>
              <a:t> </a:t>
            </a:r>
            <a:r>
              <a:rPr lang="en-US" altLang="en-US" dirty="0" err="1"/>
              <a:t>một</a:t>
            </a:r>
            <a:r>
              <a:rPr lang="en-US" altLang="en-US" dirty="0"/>
              <a:t> </a:t>
            </a:r>
            <a:r>
              <a:rPr lang="en-US" altLang="en-US" dirty="0" err="1"/>
              <a:t>tài</a:t>
            </a:r>
            <a:r>
              <a:rPr lang="en-US" altLang="en-US" dirty="0"/>
              <a:t> </a:t>
            </a:r>
            <a:r>
              <a:rPr lang="en-US" altLang="en-US" dirty="0" err="1"/>
              <a:t>liệu</a:t>
            </a:r>
            <a:r>
              <a:rPr lang="en-US" altLang="en-US" dirty="0"/>
              <a:t> HTML, </a:t>
            </a:r>
            <a:r>
              <a:rPr lang="en-US" altLang="en-US" dirty="0" err="1"/>
              <a:t>trong</a:t>
            </a:r>
            <a:r>
              <a:rPr lang="en-US" altLang="en-US" dirty="0"/>
              <a:t> </a:t>
            </a:r>
            <a:r>
              <a:rPr lang="en-US" altLang="en-US" dirty="0" err="1"/>
              <a:t>đó</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các</a:t>
            </a:r>
            <a:r>
              <a:rPr lang="en-US" altLang="en-US" dirty="0"/>
              <a:t> </a:t>
            </a:r>
            <a:r>
              <a:rPr lang="en-US" altLang="en-US" dirty="0" err="1"/>
              <a:t>nội</a:t>
            </a:r>
            <a:r>
              <a:rPr lang="en-US" altLang="en-US" dirty="0"/>
              <a:t> dung </a:t>
            </a:r>
            <a:r>
              <a:rPr lang="en-US" altLang="en-US" dirty="0" err="1"/>
              <a:t>và</a:t>
            </a:r>
            <a:r>
              <a:rPr lang="en-US" altLang="en-US" dirty="0"/>
              <a:t> </a:t>
            </a:r>
            <a:r>
              <a:rPr lang="en-US" altLang="en-US" dirty="0" err="1"/>
              <a:t>định</a:t>
            </a:r>
            <a:r>
              <a:rPr lang="en-US" altLang="en-US" dirty="0"/>
              <a:t> </a:t>
            </a:r>
            <a:r>
              <a:rPr lang="en-US" altLang="en-US" dirty="0" err="1"/>
              <a:t>dạng</a:t>
            </a:r>
            <a:r>
              <a:rPr lang="en-US" altLang="en-US" dirty="0"/>
              <a:t> </a:t>
            </a:r>
            <a:r>
              <a:rPr lang="en-US" altLang="en-US" dirty="0" err="1"/>
              <a:t>văn</a:t>
            </a:r>
            <a:r>
              <a:rPr lang="en-US" altLang="en-US" dirty="0"/>
              <a:t> </a:t>
            </a:r>
            <a:r>
              <a:rPr lang="en-US" altLang="en-US" dirty="0" err="1"/>
              <a:t>bản</a:t>
            </a:r>
            <a:r>
              <a:rPr lang="en-US" altLang="en-US" dirty="0"/>
              <a:t>, </a:t>
            </a:r>
            <a:r>
              <a:rPr lang="en-US" altLang="en-US" dirty="0" err="1"/>
              <a:t>hình</a:t>
            </a:r>
            <a:r>
              <a:rPr lang="en-US" altLang="en-US" dirty="0"/>
              <a:t> </a:t>
            </a:r>
            <a:r>
              <a:rPr lang="en-US" altLang="en-US" dirty="0" err="1"/>
              <a:t>ảnh</a:t>
            </a:r>
            <a:r>
              <a:rPr lang="en-US" altLang="en-US" dirty="0"/>
              <a:t>, </a:t>
            </a:r>
            <a:r>
              <a:rPr lang="en-US" altLang="en-US" dirty="0" err="1"/>
              <a:t>âm</a:t>
            </a:r>
            <a:r>
              <a:rPr lang="en-US" altLang="en-US" dirty="0"/>
              <a:t> </a:t>
            </a:r>
            <a:r>
              <a:rPr lang="en-US" altLang="en-US" dirty="0" err="1"/>
              <a:t>thanh</a:t>
            </a:r>
            <a:r>
              <a:rPr lang="en-US" altLang="en-US" dirty="0"/>
              <a:t>, … </a:t>
            </a:r>
            <a:r>
              <a:rPr lang="en-US" altLang="en-US" dirty="0" err="1"/>
              <a:t>theo</a:t>
            </a:r>
            <a:r>
              <a:rPr lang="en-US" altLang="en-US" dirty="0"/>
              <a:t> </a:t>
            </a:r>
            <a:r>
              <a:rPr lang="en-US" altLang="en-US" dirty="0" err="1"/>
              <a:t>định</a:t>
            </a:r>
            <a:r>
              <a:rPr lang="en-US" altLang="en-US" dirty="0"/>
              <a:t> </a:t>
            </a:r>
            <a:r>
              <a:rPr lang="en-US" altLang="en-US" dirty="0" err="1"/>
              <a:t>dạng</a:t>
            </a:r>
            <a:r>
              <a:rPr lang="en-US" altLang="en-US" dirty="0"/>
              <a:t> HTML (</a:t>
            </a:r>
            <a:r>
              <a:rPr lang="en-US" altLang="en-US" dirty="0" err="1"/>
              <a:t>HyperText</a:t>
            </a:r>
            <a:r>
              <a:rPr lang="en-US" altLang="en-US" dirty="0"/>
              <a:t> Markup Language – </a:t>
            </a:r>
            <a:r>
              <a:rPr lang="en-US" altLang="en-US" dirty="0" err="1"/>
              <a:t>ngôn</a:t>
            </a:r>
            <a:r>
              <a:rPr lang="en-US" altLang="en-US" dirty="0"/>
              <a:t> </a:t>
            </a:r>
            <a:r>
              <a:rPr lang="en-US" altLang="en-US" dirty="0" err="1"/>
              <a:t>ngữ</a:t>
            </a:r>
            <a:r>
              <a:rPr lang="en-US" altLang="en-US" dirty="0"/>
              <a:t> </a:t>
            </a:r>
            <a:r>
              <a:rPr lang="en-US" altLang="en-US" dirty="0" err="1"/>
              <a:t>đánh</a:t>
            </a:r>
            <a:r>
              <a:rPr lang="en-US" altLang="en-US" dirty="0"/>
              <a:t> </a:t>
            </a:r>
            <a:r>
              <a:rPr lang="en-US" altLang="en-US" dirty="0" err="1"/>
              <a:t>dấu</a:t>
            </a:r>
            <a:r>
              <a:rPr lang="en-US" altLang="en-US" dirty="0"/>
              <a:t> </a:t>
            </a:r>
            <a:r>
              <a:rPr lang="en-US" altLang="en-US" dirty="0" err="1"/>
              <a:t>siêu</a:t>
            </a:r>
            <a:r>
              <a:rPr lang="en-US" altLang="en-US" dirty="0"/>
              <a:t> </a:t>
            </a:r>
            <a:r>
              <a:rPr lang="en-US" altLang="en-US" dirty="0" err="1"/>
              <a:t>văn</a:t>
            </a:r>
            <a:r>
              <a:rPr lang="en-US" altLang="en-US" dirty="0"/>
              <a:t> </a:t>
            </a:r>
            <a:r>
              <a:rPr lang="en-US" altLang="en-US" dirty="0" err="1"/>
              <a:t>bản</a:t>
            </a:r>
            <a:r>
              <a:rPr lang="en-US" altLang="en-US" dirty="0"/>
              <a:t>)</a:t>
            </a:r>
          </a:p>
        </p:txBody>
      </p:sp>
    </p:spTree>
    <p:extLst>
      <p:ext uri="{BB962C8B-B14F-4D97-AF65-F5344CB8AC3E}">
        <p14:creationId xmlns:p14="http://schemas.microsoft.com/office/powerpoint/2010/main" val="2741797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p:txBody>
          <a:bodyPr>
            <a:normAutofit/>
          </a:bodyPr>
          <a:lstStyle/>
          <a:p>
            <a:r>
              <a:rPr lang="en-US" dirty="0" err="1"/>
              <a:t>Mô</a:t>
            </a:r>
            <a:r>
              <a:rPr lang="en-US" dirty="0"/>
              <a:t> </a:t>
            </a:r>
            <a:r>
              <a:rPr lang="en-US" dirty="0" err="1"/>
              <a:t>hình</a:t>
            </a:r>
            <a:r>
              <a:rPr lang="en-US" dirty="0"/>
              <a:t> </a:t>
            </a:r>
            <a:r>
              <a:rPr lang="en-US" dirty="0" err="1"/>
              <a:t>giao</a:t>
            </a:r>
            <a:r>
              <a:rPr lang="en-US" dirty="0"/>
              <a:t> </a:t>
            </a:r>
            <a:r>
              <a:rPr lang="en-US" dirty="0" err="1"/>
              <a:t>tiếp</a:t>
            </a:r>
            <a:r>
              <a:rPr lang="en-US" dirty="0"/>
              <a:t> </a:t>
            </a:r>
            <a:r>
              <a:rPr lang="en-US" dirty="0" err="1"/>
              <a:t>giữa</a:t>
            </a:r>
            <a:r>
              <a:rPr lang="en-US" dirty="0"/>
              <a:t> Client </a:t>
            </a:r>
            <a:r>
              <a:rPr lang="en-US" dirty="0" err="1"/>
              <a:t>và</a:t>
            </a:r>
            <a:r>
              <a:rPr lang="en-US" dirty="0"/>
              <a:t> Server</a:t>
            </a:r>
          </a:p>
          <a:p>
            <a:pPr lvl="1"/>
            <a:r>
              <a:rPr lang="en-US" altLang="en-US" dirty="0" err="1"/>
              <a:t>Máy</a:t>
            </a:r>
            <a:r>
              <a:rPr lang="en-US" altLang="en-US" dirty="0"/>
              <a:t> </a:t>
            </a:r>
            <a:r>
              <a:rPr lang="en-US" altLang="en-US" dirty="0" err="1"/>
              <a:t>chủ</a:t>
            </a:r>
            <a:r>
              <a:rPr lang="en-US" altLang="en-US" dirty="0"/>
              <a:t> (server): </a:t>
            </a:r>
            <a:r>
              <a:rPr lang="en-US" altLang="en-US" dirty="0" err="1"/>
              <a:t>là</a:t>
            </a:r>
            <a:r>
              <a:rPr lang="en-US" altLang="en-US" dirty="0"/>
              <a:t> </a:t>
            </a:r>
            <a:r>
              <a:rPr lang="en-US" altLang="en-US" dirty="0" err="1"/>
              <a:t>một</a:t>
            </a:r>
            <a:r>
              <a:rPr lang="en-US" altLang="en-US" dirty="0"/>
              <a:t> </a:t>
            </a:r>
            <a:r>
              <a:rPr lang="en-US" altLang="en-US" dirty="0" err="1"/>
              <a:t>máy</a:t>
            </a:r>
            <a:r>
              <a:rPr lang="en-US" altLang="en-US" dirty="0"/>
              <a:t> </a:t>
            </a:r>
            <a:r>
              <a:rPr lang="en-US" altLang="en-US" dirty="0" err="1"/>
              <a:t>tính</a:t>
            </a:r>
            <a:r>
              <a:rPr lang="en-US" altLang="en-US" dirty="0"/>
              <a:t>/</a:t>
            </a:r>
            <a:r>
              <a:rPr lang="en-US" altLang="en-US" dirty="0" err="1"/>
              <a:t>một</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cung</a:t>
            </a:r>
            <a:r>
              <a:rPr lang="en-US" altLang="en-US" dirty="0"/>
              <a:t> </a:t>
            </a:r>
            <a:r>
              <a:rPr lang="en-US" altLang="en-US" dirty="0" err="1"/>
              <a:t>cấp</a:t>
            </a:r>
            <a:r>
              <a:rPr lang="en-US" altLang="en-US" dirty="0"/>
              <a:t> </a:t>
            </a:r>
            <a:r>
              <a:rPr lang="en-US" altLang="en-US" dirty="0" err="1"/>
              <a:t>các</a:t>
            </a:r>
            <a:r>
              <a:rPr lang="en-US" altLang="en-US" dirty="0"/>
              <a:t> </a:t>
            </a:r>
            <a:r>
              <a:rPr lang="en-US" altLang="en-US" dirty="0" err="1"/>
              <a:t>tài</a:t>
            </a:r>
            <a:r>
              <a:rPr lang="en-US" altLang="en-US" dirty="0"/>
              <a:t> </a:t>
            </a:r>
            <a:r>
              <a:rPr lang="en-US" altLang="en-US" dirty="0" err="1"/>
              <a:t>nguyên</a:t>
            </a:r>
            <a:r>
              <a:rPr lang="en-US" altLang="en-US" dirty="0"/>
              <a:t> </a:t>
            </a:r>
            <a:r>
              <a:rPr lang="en-US" altLang="en-US" dirty="0" err="1"/>
              <a:t>và</a:t>
            </a:r>
            <a:r>
              <a:rPr lang="en-US" altLang="en-US" dirty="0"/>
              <a:t> </a:t>
            </a:r>
            <a:r>
              <a:rPr lang="en-US" altLang="en-US" dirty="0" err="1"/>
              <a:t>dịch</a:t>
            </a:r>
            <a:r>
              <a:rPr lang="en-US" altLang="en-US" dirty="0"/>
              <a:t> </a:t>
            </a:r>
            <a:r>
              <a:rPr lang="en-US" altLang="en-US" dirty="0" err="1"/>
              <a:t>vụ</a:t>
            </a:r>
            <a:r>
              <a:rPr lang="en-US" altLang="en-US" dirty="0"/>
              <a:t> </a:t>
            </a:r>
            <a:r>
              <a:rPr lang="en-US" altLang="en-US" dirty="0" err="1"/>
              <a:t>cho</a:t>
            </a:r>
            <a:r>
              <a:rPr lang="en-US" altLang="en-US" dirty="0"/>
              <a:t> </a:t>
            </a:r>
            <a:r>
              <a:rPr lang="en-US" altLang="en-US" dirty="0" err="1"/>
              <a:t>cả</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mạng</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Các</a:t>
            </a:r>
            <a:r>
              <a:rPr lang="en-US" altLang="en-US" dirty="0"/>
              <a:t> </a:t>
            </a:r>
            <a:r>
              <a:rPr lang="en-US" altLang="en-US" dirty="0" err="1"/>
              <a:t>máy</a:t>
            </a:r>
            <a:r>
              <a:rPr lang="en-US" altLang="en-US" dirty="0"/>
              <a:t> </a:t>
            </a:r>
            <a:r>
              <a:rPr lang="en-US" altLang="en-US" dirty="0" err="1"/>
              <a:t>chủ</a:t>
            </a:r>
            <a:r>
              <a:rPr lang="en-US" altLang="en-US" dirty="0"/>
              <a:t> </a:t>
            </a:r>
            <a:r>
              <a:rPr lang="en-US" altLang="en-US" dirty="0" err="1"/>
              <a:t>thường</a:t>
            </a:r>
            <a:r>
              <a:rPr lang="en-US" altLang="en-US" dirty="0"/>
              <a:t> </a:t>
            </a:r>
            <a:r>
              <a:rPr lang="en-US" altLang="en-US" dirty="0" err="1"/>
              <a:t>có</a:t>
            </a:r>
            <a:r>
              <a:rPr lang="en-US" altLang="en-US" dirty="0"/>
              <a:t> </a:t>
            </a:r>
            <a:r>
              <a:rPr lang="en-US" altLang="en-US" dirty="0" err="1"/>
              <a:t>cấu</a:t>
            </a:r>
            <a:r>
              <a:rPr lang="en-US" altLang="en-US" dirty="0"/>
              <a:t> </a:t>
            </a:r>
            <a:r>
              <a:rPr lang="en-US" altLang="en-US" dirty="0" err="1"/>
              <a:t>hình</a:t>
            </a:r>
            <a:r>
              <a:rPr lang="en-US" altLang="en-US" dirty="0"/>
              <a:t> </a:t>
            </a:r>
            <a:r>
              <a:rPr lang="en-US" altLang="en-US" dirty="0" err="1"/>
              <a:t>mạnh</a:t>
            </a:r>
            <a:r>
              <a:rPr lang="en-US" altLang="en-US" dirty="0"/>
              <a:t> </a:t>
            </a:r>
            <a:r>
              <a:rPr lang="en-US" altLang="en-US" dirty="0" err="1"/>
              <a:t>hoặc</a:t>
            </a:r>
            <a:r>
              <a:rPr lang="en-US" altLang="en-US" dirty="0"/>
              <a:t> </a:t>
            </a:r>
            <a:r>
              <a:rPr lang="en-US" altLang="en-US" dirty="0" err="1"/>
              <a:t>là</a:t>
            </a:r>
            <a:r>
              <a:rPr lang="en-US" altLang="en-US" dirty="0"/>
              <a:t> </a:t>
            </a:r>
            <a:r>
              <a:rPr lang="en-US" altLang="en-US" dirty="0" err="1"/>
              <a:t>các</a:t>
            </a:r>
            <a:r>
              <a:rPr lang="en-US" altLang="en-US" dirty="0"/>
              <a:t> </a:t>
            </a:r>
            <a:r>
              <a:rPr lang="en-US" altLang="en-US" dirty="0" err="1"/>
              <a:t>máy</a:t>
            </a:r>
            <a:r>
              <a:rPr lang="en-US" altLang="en-US" dirty="0"/>
              <a:t> </a:t>
            </a:r>
            <a:r>
              <a:rPr lang="en-US" altLang="en-US" dirty="0" err="1"/>
              <a:t>chuyên</a:t>
            </a:r>
            <a:r>
              <a:rPr lang="en-US" altLang="en-US" dirty="0"/>
              <a:t> </a:t>
            </a:r>
            <a:r>
              <a:rPr lang="en-US" altLang="en-US" dirty="0" err="1"/>
              <a:t>dụng</a:t>
            </a:r>
            <a:endParaRPr lang="en-US" altLang="en-US" dirty="0"/>
          </a:p>
          <a:p>
            <a:endParaRPr lang="en-US" dirty="0"/>
          </a:p>
        </p:txBody>
      </p:sp>
      <p:pic>
        <p:nvPicPr>
          <p:cNvPr id="4" name="Picture 2" descr="https://encrypted-tbn1.gstatic.com/images?q=tbn:ANd9GcQCjNeZ4YC3od4cLVoaNHD7Op-lsc-eC9MOUGddC101Z8jaKunfB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1537" y="3846060"/>
            <a:ext cx="3429000"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https://encrypted-tbn2.gstatic.com/images?q=tbn:ANd9GcQHyreCowsb5MTTjP43YoFmIh56zwzAlTVRIeaQnyPdBRFXSCw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0182" y="3846060"/>
            <a:ext cx="358140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0122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a:xfrm>
            <a:off x="838200" y="1472928"/>
            <a:ext cx="10515600" cy="4351338"/>
          </a:xfrm>
        </p:spPr>
        <p:txBody>
          <a:bodyPr>
            <a:normAutofit/>
          </a:bodyPr>
          <a:lstStyle/>
          <a:p>
            <a:r>
              <a:rPr lang="en-US" dirty="0" err="1"/>
              <a:t>Mô</a:t>
            </a:r>
            <a:r>
              <a:rPr lang="en-US" dirty="0"/>
              <a:t> </a:t>
            </a:r>
            <a:r>
              <a:rPr lang="en-US" dirty="0" err="1"/>
              <a:t>hình</a:t>
            </a:r>
            <a:r>
              <a:rPr lang="en-US" dirty="0"/>
              <a:t> </a:t>
            </a:r>
            <a:r>
              <a:rPr lang="en-US" dirty="0" err="1"/>
              <a:t>giao</a:t>
            </a:r>
            <a:r>
              <a:rPr lang="en-US" dirty="0"/>
              <a:t> </a:t>
            </a:r>
            <a:r>
              <a:rPr lang="en-US" dirty="0" err="1"/>
              <a:t>tiếp</a:t>
            </a:r>
            <a:r>
              <a:rPr lang="en-US" dirty="0"/>
              <a:t> </a:t>
            </a:r>
            <a:r>
              <a:rPr lang="en-US" dirty="0" err="1"/>
              <a:t>giữa</a:t>
            </a:r>
            <a:r>
              <a:rPr lang="en-US" dirty="0"/>
              <a:t> Client </a:t>
            </a:r>
            <a:r>
              <a:rPr lang="en-US" dirty="0" err="1"/>
              <a:t>và</a:t>
            </a:r>
            <a:r>
              <a:rPr lang="en-US" dirty="0"/>
              <a:t> Server</a:t>
            </a:r>
          </a:p>
          <a:p>
            <a:pPr lvl="1"/>
            <a:r>
              <a:rPr lang="en-US" altLang="en-US" dirty="0" err="1"/>
              <a:t>Máy</a:t>
            </a:r>
            <a:r>
              <a:rPr lang="en-US" altLang="en-US" dirty="0"/>
              <a:t> </a:t>
            </a:r>
            <a:r>
              <a:rPr lang="en-US" altLang="en-US" dirty="0" err="1"/>
              <a:t>khách</a:t>
            </a:r>
            <a:r>
              <a:rPr lang="en-US" altLang="en-US" dirty="0"/>
              <a:t> (client): </a:t>
            </a:r>
            <a:r>
              <a:rPr lang="en-US" altLang="en-US" dirty="0" err="1"/>
              <a:t>là</a:t>
            </a:r>
            <a:r>
              <a:rPr lang="en-US" altLang="en-US" dirty="0"/>
              <a:t> </a:t>
            </a:r>
            <a:r>
              <a:rPr lang="en-US" altLang="en-US" dirty="0" err="1"/>
              <a:t>máy</a:t>
            </a:r>
            <a:r>
              <a:rPr lang="en-US" altLang="en-US" dirty="0"/>
              <a:t> </a:t>
            </a:r>
            <a:r>
              <a:rPr lang="en-US" altLang="en-US" dirty="0" err="1"/>
              <a:t>tính</a:t>
            </a:r>
            <a:r>
              <a:rPr lang="en-US" altLang="en-US" dirty="0"/>
              <a:t>/</a:t>
            </a:r>
            <a:r>
              <a:rPr lang="en-US" altLang="en-US" dirty="0" err="1"/>
              <a:t>một</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các</a:t>
            </a:r>
            <a:r>
              <a:rPr lang="en-US" altLang="en-US" dirty="0"/>
              <a:t> </a:t>
            </a:r>
            <a:r>
              <a:rPr lang="en-US" altLang="en-US" dirty="0" err="1"/>
              <a:t>tài</a:t>
            </a:r>
            <a:r>
              <a:rPr lang="en-US" altLang="en-US" dirty="0"/>
              <a:t> </a:t>
            </a:r>
            <a:r>
              <a:rPr lang="en-US" altLang="en-US" dirty="0" err="1"/>
              <a:t>nguyên</a:t>
            </a:r>
            <a:r>
              <a:rPr lang="en-US" altLang="en-US" dirty="0"/>
              <a:t> </a:t>
            </a:r>
            <a:r>
              <a:rPr lang="en-US" altLang="en-US" dirty="0" err="1"/>
              <a:t>và</a:t>
            </a:r>
            <a:r>
              <a:rPr lang="en-US" altLang="en-US" dirty="0"/>
              <a:t> </a:t>
            </a:r>
            <a:r>
              <a:rPr lang="en-US" altLang="en-US" dirty="0" err="1"/>
              <a:t>các</a:t>
            </a:r>
            <a:r>
              <a:rPr lang="en-US" altLang="en-US" dirty="0"/>
              <a:t> </a:t>
            </a:r>
            <a:r>
              <a:rPr lang="en-US" altLang="en-US" dirty="0" err="1"/>
              <a:t>dịch</a:t>
            </a:r>
            <a:r>
              <a:rPr lang="en-US" altLang="en-US" dirty="0"/>
              <a:t> </a:t>
            </a:r>
            <a:r>
              <a:rPr lang="en-US" altLang="en-US" dirty="0" err="1"/>
              <a:t>vụ</a:t>
            </a:r>
            <a:r>
              <a:rPr lang="en-US" altLang="en-US" dirty="0"/>
              <a:t> </a:t>
            </a:r>
            <a:r>
              <a:rPr lang="en-US" altLang="en-US" dirty="0" err="1"/>
              <a:t>được</a:t>
            </a:r>
            <a:r>
              <a:rPr lang="en-US" altLang="en-US" dirty="0"/>
              <a:t> </a:t>
            </a:r>
            <a:r>
              <a:rPr lang="en-US" altLang="en-US" dirty="0" err="1"/>
              <a:t>cung</a:t>
            </a:r>
            <a:r>
              <a:rPr lang="en-US" altLang="en-US" dirty="0"/>
              <a:t> </a:t>
            </a:r>
            <a:r>
              <a:rPr lang="en-US" altLang="en-US" dirty="0" err="1"/>
              <a:t>cấp</a:t>
            </a:r>
            <a:r>
              <a:rPr lang="en-US" altLang="en-US" dirty="0"/>
              <a:t> </a:t>
            </a:r>
            <a:r>
              <a:rPr lang="en-US" altLang="en-US" dirty="0" err="1"/>
              <a:t>bởi</a:t>
            </a:r>
            <a:r>
              <a:rPr lang="en-US" altLang="en-US" dirty="0"/>
              <a:t> </a:t>
            </a:r>
            <a:r>
              <a:rPr lang="en-US" altLang="en-US" dirty="0" err="1"/>
              <a:t>máy</a:t>
            </a:r>
            <a:r>
              <a:rPr lang="en-US" altLang="en-US" dirty="0"/>
              <a:t> </a:t>
            </a:r>
            <a:r>
              <a:rPr lang="en-US" altLang="en-US" dirty="0" err="1"/>
              <a:t>chủ</a:t>
            </a:r>
            <a:endParaRPr lang="en-US" altLang="en-US" dirty="0"/>
          </a:p>
          <a:p>
            <a:pPr marL="685800" lvl="2">
              <a:spcBef>
                <a:spcPts val="1000"/>
              </a:spcBef>
            </a:pPr>
            <a:r>
              <a:rPr lang="en-US" altLang="en-US" sz="2400" dirty="0" err="1"/>
              <a:t>Mạng</a:t>
            </a:r>
            <a:r>
              <a:rPr lang="en-US" altLang="en-US" sz="2400" dirty="0"/>
              <a:t> </a:t>
            </a:r>
            <a:r>
              <a:rPr lang="en-US" altLang="en-US" sz="2400" dirty="0" err="1"/>
              <a:t>khách</a:t>
            </a:r>
            <a:r>
              <a:rPr lang="en-US" altLang="en-US" sz="2400" dirty="0"/>
              <a:t>/</a:t>
            </a:r>
            <a:r>
              <a:rPr lang="en-US" altLang="en-US" sz="2400" dirty="0" err="1"/>
              <a:t>chủ</a:t>
            </a:r>
            <a:r>
              <a:rPr lang="en-US" altLang="en-US" sz="2400" dirty="0"/>
              <a:t> (client/server): </a:t>
            </a:r>
            <a:r>
              <a:rPr lang="en-US" altLang="en-US" sz="2400" dirty="0" err="1"/>
              <a:t>một</a:t>
            </a:r>
            <a:r>
              <a:rPr lang="en-US" altLang="en-US" sz="2400" dirty="0"/>
              <a:t> </a:t>
            </a:r>
            <a:r>
              <a:rPr lang="en-US" altLang="en-US" sz="2400" dirty="0" err="1"/>
              <a:t>số</a:t>
            </a:r>
            <a:r>
              <a:rPr lang="en-US" altLang="en-US" sz="2400" dirty="0"/>
              <a:t> </a:t>
            </a:r>
            <a:r>
              <a:rPr lang="en-US" altLang="en-US" sz="2400" dirty="0" err="1"/>
              <a:t>máy</a:t>
            </a:r>
            <a:r>
              <a:rPr lang="en-US" altLang="en-US" sz="2400" dirty="0"/>
              <a:t> </a:t>
            </a:r>
            <a:r>
              <a:rPr lang="en-US" altLang="en-US" sz="2400" dirty="0" err="1"/>
              <a:t>là</a:t>
            </a:r>
            <a:r>
              <a:rPr lang="en-US" altLang="en-US" sz="2400" dirty="0"/>
              <a:t> server (</a:t>
            </a:r>
            <a:r>
              <a:rPr lang="en-US" altLang="en-US" sz="2400" dirty="0" err="1"/>
              <a:t>máy</a:t>
            </a:r>
            <a:r>
              <a:rPr lang="en-US" altLang="en-US" sz="2400" dirty="0"/>
              <a:t> </a:t>
            </a:r>
            <a:r>
              <a:rPr lang="en-US" altLang="en-US" sz="2400" dirty="0" err="1"/>
              <a:t>chủ</a:t>
            </a:r>
            <a:r>
              <a:rPr lang="en-US" altLang="en-US" sz="2400" dirty="0"/>
              <a:t>) </a:t>
            </a:r>
            <a:r>
              <a:rPr lang="en-US" altLang="en-US" sz="2400" dirty="0" err="1"/>
              <a:t>chuyên</a:t>
            </a:r>
            <a:r>
              <a:rPr lang="en-US" altLang="en-US" sz="2400" dirty="0"/>
              <a:t> </a:t>
            </a:r>
            <a:r>
              <a:rPr lang="en-US" altLang="en-US" sz="2400" dirty="0" err="1"/>
              <a:t>phục</a:t>
            </a:r>
            <a:r>
              <a:rPr lang="en-US" altLang="en-US" sz="2400" dirty="0"/>
              <a:t> </a:t>
            </a:r>
            <a:r>
              <a:rPr lang="en-US" altLang="en-US" sz="2400" dirty="0" err="1"/>
              <a:t>vụ</a:t>
            </a:r>
            <a:r>
              <a:rPr lang="en-US" altLang="en-US" sz="2400" dirty="0"/>
              <a:t> </a:t>
            </a:r>
            <a:r>
              <a:rPr lang="en-US" altLang="en-US" sz="2400" dirty="0" err="1"/>
              <a:t>các</a:t>
            </a:r>
            <a:r>
              <a:rPr lang="en-US" altLang="en-US" sz="2400" dirty="0"/>
              <a:t> </a:t>
            </a:r>
            <a:r>
              <a:rPr lang="en-US" altLang="en-US" sz="2400" dirty="0" err="1"/>
              <a:t>máy</a:t>
            </a:r>
            <a:r>
              <a:rPr lang="en-US" altLang="en-US" sz="2400" dirty="0"/>
              <a:t> </a:t>
            </a:r>
            <a:r>
              <a:rPr lang="en-US" altLang="en-US" sz="2400" dirty="0" err="1"/>
              <a:t>khác</a:t>
            </a:r>
            <a:r>
              <a:rPr lang="en-US" altLang="en-US" sz="2400" dirty="0"/>
              <a:t> </a:t>
            </a:r>
            <a:r>
              <a:rPr lang="en-US" altLang="en-US" sz="2400" dirty="0" err="1"/>
              <a:t>gọi</a:t>
            </a:r>
            <a:r>
              <a:rPr lang="en-US" altLang="en-US" sz="2400" dirty="0"/>
              <a:t> </a:t>
            </a:r>
            <a:r>
              <a:rPr lang="en-US" altLang="en-US" sz="2400" dirty="0" err="1"/>
              <a:t>là</a:t>
            </a:r>
            <a:r>
              <a:rPr lang="en-US" altLang="en-US" sz="2400" dirty="0"/>
              <a:t> </a:t>
            </a:r>
            <a:r>
              <a:rPr lang="en-US" altLang="en-US" sz="2400" dirty="0" err="1"/>
              <a:t>máy</a:t>
            </a:r>
            <a:r>
              <a:rPr lang="en-US" altLang="en-US" sz="2400" dirty="0"/>
              <a:t> </a:t>
            </a:r>
            <a:r>
              <a:rPr lang="en-US" altLang="en-US" sz="2400" dirty="0" err="1"/>
              <a:t>khách</a:t>
            </a:r>
            <a:r>
              <a:rPr lang="en-US" altLang="en-US" sz="2400" dirty="0"/>
              <a:t> (client) hay </a:t>
            </a:r>
            <a:r>
              <a:rPr lang="en-US" altLang="en-US" sz="2400" dirty="0" err="1"/>
              <a:t>máy</a:t>
            </a:r>
            <a:r>
              <a:rPr lang="en-US" altLang="en-US" sz="2400" dirty="0"/>
              <a:t> </a:t>
            </a:r>
            <a:r>
              <a:rPr lang="en-US" altLang="en-US" sz="2400" dirty="0" err="1"/>
              <a:t>trạm</a:t>
            </a:r>
            <a:r>
              <a:rPr lang="en-US" altLang="en-US" sz="2400" dirty="0"/>
              <a:t> </a:t>
            </a:r>
            <a:r>
              <a:rPr lang="en-US" altLang="en-US" sz="2400" dirty="0" err="1"/>
              <a:t>khi</a:t>
            </a:r>
            <a:r>
              <a:rPr lang="en-US" altLang="en-US" sz="2400" dirty="0"/>
              <a:t> </a:t>
            </a:r>
            <a:r>
              <a:rPr lang="en-US" altLang="en-US" sz="2400" dirty="0" err="1"/>
              <a:t>có</a:t>
            </a:r>
            <a:r>
              <a:rPr lang="en-US" altLang="en-US" sz="2400" dirty="0"/>
              <a:t> </a:t>
            </a:r>
            <a:r>
              <a:rPr lang="en-US" altLang="en-US" sz="2400" dirty="0" err="1"/>
              <a:t>yêu</a:t>
            </a:r>
            <a:r>
              <a:rPr lang="en-US" altLang="en-US" sz="2400" dirty="0"/>
              <a:t> </a:t>
            </a:r>
            <a:r>
              <a:rPr lang="en-US" altLang="en-US" sz="2400" dirty="0" err="1"/>
              <a:t>cầu</a:t>
            </a:r>
            <a:endParaRPr lang="en-US" altLang="en-US" sz="2400" dirty="0"/>
          </a:p>
          <a:p>
            <a:endParaRPr lang="en-US" dirty="0"/>
          </a:p>
        </p:txBody>
      </p:sp>
      <p:pic>
        <p:nvPicPr>
          <p:cNvPr id="4" name="Picture 2" descr="C:\Users\Adminn\Desktop\network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3101" y="4105152"/>
            <a:ext cx="3785968" cy="2696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https://encrypted-tbn3.gstatic.com/images?q=tbn:ANd9GcTOuUNlkfRTBVTa745wWrwAvO-69sWuYhyjoDb06xlrgIR7awuj1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6262" y="4102361"/>
            <a:ext cx="3821023" cy="266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7017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p:txBody>
          <a:bodyPr/>
          <a:lstStyle/>
          <a:p>
            <a:pPr algn="just"/>
            <a:r>
              <a:rPr lang="fr-FR" altLang="en-US" dirty="0" err="1"/>
              <a:t>Địa</a:t>
            </a:r>
            <a:r>
              <a:rPr lang="fr-FR" altLang="en-US" dirty="0"/>
              <a:t> </a:t>
            </a:r>
            <a:r>
              <a:rPr lang="fr-FR" altLang="en-US" dirty="0" err="1"/>
              <a:t>chỉ</a:t>
            </a:r>
            <a:r>
              <a:rPr lang="fr-FR" altLang="en-US" dirty="0"/>
              <a:t> IP </a:t>
            </a:r>
            <a:r>
              <a:rPr lang="fr-FR" altLang="en-US" dirty="0" err="1"/>
              <a:t>và</a:t>
            </a:r>
            <a:r>
              <a:rPr lang="fr-FR" altLang="en-US" dirty="0"/>
              <a:t> </a:t>
            </a:r>
            <a:r>
              <a:rPr lang="fr-FR" altLang="en-US" dirty="0" err="1"/>
              <a:t>tên</a:t>
            </a:r>
            <a:r>
              <a:rPr lang="fr-FR" altLang="en-US" dirty="0"/>
              <a:t> </a:t>
            </a:r>
            <a:r>
              <a:rPr lang="fr-FR" altLang="en-US" dirty="0" err="1"/>
              <a:t>miền</a:t>
            </a:r>
            <a:endParaRPr lang="fr-FR" altLang="en-US" dirty="0"/>
          </a:p>
          <a:p>
            <a:pPr algn="just">
              <a:buFontTx/>
              <a:buChar char="-"/>
            </a:pPr>
            <a:r>
              <a:rPr lang="en-US" altLang="en-US" dirty="0" err="1"/>
              <a:t>Địa</a:t>
            </a:r>
            <a:r>
              <a:rPr lang="en-US" altLang="en-US" dirty="0"/>
              <a:t> </a:t>
            </a:r>
            <a:r>
              <a:rPr lang="en-US" altLang="en-US" dirty="0" err="1"/>
              <a:t>chỉ</a:t>
            </a:r>
            <a:r>
              <a:rPr lang="en-US" altLang="en-US" dirty="0"/>
              <a:t> IP: </a:t>
            </a:r>
            <a:r>
              <a:rPr lang="en-US" altLang="en-US" dirty="0" err="1"/>
              <a:t>là</a:t>
            </a:r>
            <a:r>
              <a:rPr lang="en-US" altLang="en-US" dirty="0"/>
              <a:t> </a:t>
            </a:r>
            <a:r>
              <a:rPr lang="en-US" altLang="en-US" dirty="0" err="1"/>
              <a:t>địa</a:t>
            </a:r>
            <a:r>
              <a:rPr lang="en-US" altLang="en-US" dirty="0"/>
              <a:t> </a:t>
            </a:r>
            <a:r>
              <a:rPr lang="en-US" altLang="en-US" dirty="0" err="1"/>
              <a:t>chỉ</a:t>
            </a:r>
            <a:r>
              <a:rPr lang="en-US" altLang="en-US" dirty="0"/>
              <a:t> </a:t>
            </a:r>
            <a:r>
              <a:rPr lang="en-US" altLang="en-US" dirty="0" err="1"/>
              <a:t>của</a:t>
            </a:r>
            <a:r>
              <a:rPr lang="en-US" altLang="en-US" dirty="0"/>
              <a:t> </a:t>
            </a:r>
            <a:r>
              <a:rPr lang="en-US" altLang="en-US" dirty="0" err="1"/>
              <a:t>một</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khi</a:t>
            </a:r>
            <a:r>
              <a:rPr lang="en-US" altLang="en-US" dirty="0"/>
              <a:t> </a:t>
            </a:r>
            <a:r>
              <a:rPr lang="en-US" altLang="en-US" dirty="0" err="1"/>
              <a:t>tham</a:t>
            </a:r>
            <a:r>
              <a:rPr lang="en-US" altLang="en-US" dirty="0"/>
              <a:t> </a:t>
            </a:r>
            <a:r>
              <a:rPr lang="en-US" altLang="en-US" dirty="0" err="1"/>
              <a:t>gia</a:t>
            </a:r>
            <a:r>
              <a:rPr lang="en-US" altLang="en-US" dirty="0"/>
              <a:t> </a:t>
            </a:r>
            <a:r>
              <a:rPr lang="en-US" altLang="en-US" dirty="0" err="1"/>
              <a:t>vào</a:t>
            </a:r>
            <a:r>
              <a:rPr lang="en-US" altLang="en-US" dirty="0"/>
              <a:t> </a:t>
            </a:r>
            <a:r>
              <a:rPr lang="en-US" altLang="en-US" dirty="0" err="1"/>
              <a:t>mạng</a:t>
            </a:r>
            <a:r>
              <a:rPr lang="en-US" altLang="en-US" dirty="0"/>
              <a:t> </a:t>
            </a:r>
            <a:r>
              <a:rPr lang="en-US" altLang="en-US" dirty="0" err="1"/>
              <a:t>nhằm</a:t>
            </a:r>
            <a:r>
              <a:rPr lang="en-US" altLang="en-US" dirty="0"/>
              <a:t> </a:t>
            </a:r>
            <a:r>
              <a:rPr lang="en-US" altLang="en-US" dirty="0" err="1"/>
              <a:t>giúp</a:t>
            </a:r>
            <a:r>
              <a:rPr lang="en-US" altLang="en-US" dirty="0"/>
              <a:t> </a:t>
            </a:r>
            <a:r>
              <a:rPr lang="en-US" altLang="en-US" dirty="0" err="1"/>
              <a:t>cho</a:t>
            </a:r>
            <a:r>
              <a:rPr lang="en-US" altLang="en-US" dirty="0"/>
              <a:t> </a:t>
            </a:r>
            <a:r>
              <a:rPr lang="en-US" altLang="en-US" dirty="0" err="1"/>
              <a:t>các</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chuyển</a:t>
            </a:r>
            <a:r>
              <a:rPr lang="en-US" altLang="en-US" dirty="0"/>
              <a:t> </a:t>
            </a:r>
            <a:r>
              <a:rPr lang="en-US" altLang="en-US" dirty="0" err="1"/>
              <a:t>thông</a:t>
            </a:r>
            <a:r>
              <a:rPr lang="en-US" altLang="en-US" dirty="0"/>
              <a:t> tin </a:t>
            </a:r>
            <a:r>
              <a:rPr lang="en-US" altLang="en-US" dirty="0" err="1"/>
              <a:t>cho</a:t>
            </a:r>
            <a:r>
              <a:rPr lang="en-US" altLang="en-US" dirty="0"/>
              <a:t> </a:t>
            </a:r>
            <a:r>
              <a:rPr lang="en-US" altLang="en-US" dirty="0" err="1"/>
              <a:t>nhau</a:t>
            </a:r>
            <a:r>
              <a:rPr lang="en-US" altLang="en-US" dirty="0"/>
              <a:t> </a:t>
            </a:r>
            <a:r>
              <a:rPr lang="en-US" altLang="en-US" dirty="0" err="1"/>
              <a:t>một</a:t>
            </a:r>
            <a:r>
              <a:rPr lang="en-US" altLang="en-US" dirty="0"/>
              <a:t> </a:t>
            </a:r>
            <a:r>
              <a:rPr lang="en-US" altLang="en-US" dirty="0" err="1"/>
              <a:t>cách</a:t>
            </a:r>
            <a:r>
              <a:rPr lang="en-US" altLang="en-US" dirty="0"/>
              <a:t> </a:t>
            </a:r>
            <a:r>
              <a:rPr lang="en-US" altLang="en-US" dirty="0" err="1"/>
              <a:t>chính</a:t>
            </a:r>
            <a:r>
              <a:rPr lang="en-US" altLang="en-US" dirty="0"/>
              <a:t> </a:t>
            </a:r>
            <a:r>
              <a:rPr lang="en-US" altLang="en-US" dirty="0" err="1"/>
              <a:t>xác</a:t>
            </a:r>
            <a:r>
              <a:rPr lang="en-US" altLang="en-US" dirty="0"/>
              <a:t>, </a:t>
            </a:r>
            <a:r>
              <a:rPr lang="en-US" altLang="en-US" dirty="0" err="1"/>
              <a:t>tránh</a:t>
            </a:r>
            <a:r>
              <a:rPr lang="en-US" altLang="en-US" dirty="0"/>
              <a:t> </a:t>
            </a:r>
            <a:r>
              <a:rPr lang="en-US" altLang="en-US" dirty="0" err="1"/>
              <a:t>thất</a:t>
            </a:r>
            <a:r>
              <a:rPr lang="en-US" altLang="en-US" dirty="0"/>
              <a:t> </a:t>
            </a:r>
            <a:r>
              <a:rPr lang="en-US" altLang="en-US" dirty="0" err="1"/>
              <a:t>lạc</a:t>
            </a:r>
            <a:endParaRPr lang="en-US" altLang="en-US" dirty="0"/>
          </a:p>
          <a:p>
            <a:pPr algn="just">
              <a:buFontTx/>
              <a:buChar char="-"/>
            </a:pPr>
            <a:r>
              <a:rPr lang="en-US" altLang="en-US" dirty="0" err="1"/>
              <a:t>Có</a:t>
            </a:r>
            <a:r>
              <a:rPr lang="en-US" altLang="en-US" dirty="0"/>
              <a:t> </a:t>
            </a:r>
            <a:r>
              <a:rPr lang="en-US" altLang="en-US" dirty="0" err="1"/>
              <a:t>hai</a:t>
            </a:r>
            <a:r>
              <a:rPr lang="en-US" altLang="en-US" dirty="0"/>
              <a:t> </a:t>
            </a:r>
            <a:r>
              <a:rPr lang="en-US" altLang="en-US" dirty="0" err="1"/>
              <a:t>loại</a:t>
            </a:r>
            <a:r>
              <a:rPr lang="en-US" altLang="en-US" dirty="0"/>
              <a:t> IPV4 </a:t>
            </a:r>
            <a:r>
              <a:rPr lang="en-US" altLang="en-US" dirty="0" err="1"/>
              <a:t>và</a:t>
            </a:r>
            <a:r>
              <a:rPr lang="en-US" altLang="en-US" dirty="0"/>
              <a:t> IPV6</a:t>
            </a:r>
          </a:p>
          <a:p>
            <a:endParaRPr lang="en-US" dirty="0"/>
          </a:p>
        </p:txBody>
      </p:sp>
    </p:spTree>
    <p:extLst>
      <p:ext uri="{BB962C8B-B14F-4D97-AF65-F5344CB8AC3E}">
        <p14:creationId xmlns:p14="http://schemas.microsoft.com/office/powerpoint/2010/main" val="411477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a:xfrm>
            <a:off x="838200" y="1410789"/>
            <a:ext cx="10515600" cy="4766174"/>
          </a:xfrm>
        </p:spPr>
        <p:txBody>
          <a:bodyPr>
            <a:normAutofit fontScale="92500"/>
          </a:bodyPr>
          <a:lstStyle/>
          <a:p>
            <a:pPr algn="just">
              <a:spcBef>
                <a:spcPct val="0"/>
              </a:spcBef>
              <a:buFont typeface="Arial" charset="0"/>
              <a:buChar char="•"/>
              <a:defRPr/>
            </a:pPr>
            <a:r>
              <a:rPr lang="en-US" dirty="0" err="1"/>
              <a:t>Hệ</a:t>
            </a:r>
            <a:r>
              <a:rPr lang="en-US" dirty="0"/>
              <a:t> </a:t>
            </a:r>
            <a:r>
              <a:rPr lang="en-US" dirty="0" err="1"/>
              <a:t>thống</a:t>
            </a:r>
            <a:r>
              <a:rPr lang="en-US" dirty="0"/>
              <a:t> </a:t>
            </a:r>
            <a:r>
              <a:rPr lang="en-US" dirty="0" err="1"/>
              <a:t>tên</a:t>
            </a:r>
            <a:r>
              <a:rPr lang="en-US" dirty="0"/>
              <a:t> </a:t>
            </a:r>
            <a:r>
              <a:rPr lang="en-US" dirty="0" err="1"/>
              <a:t>miền</a:t>
            </a:r>
            <a:r>
              <a:rPr lang="en-US" dirty="0"/>
              <a:t> (DNS – Domain Name System): </a:t>
            </a:r>
            <a:r>
              <a:rPr lang="fr-FR" dirty="0" err="1"/>
              <a:t>cho</a:t>
            </a:r>
            <a:r>
              <a:rPr lang="fr-FR" dirty="0"/>
              <a:t> </a:t>
            </a:r>
            <a:r>
              <a:rPr lang="fr-FR" dirty="0" err="1"/>
              <a:t>phép</a:t>
            </a:r>
            <a:r>
              <a:rPr lang="fr-FR" dirty="0"/>
              <a:t> </a:t>
            </a:r>
            <a:r>
              <a:rPr lang="fr-FR" dirty="0" err="1"/>
              <a:t>người</a:t>
            </a:r>
            <a:r>
              <a:rPr lang="fr-FR" dirty="0"/>
              <a:t> </a:t>
            </a:r>
            <a:r>
              <a:rPr lang="fr-FR" dirty="0" err="1"/>
              <a:t>sử</a:t>
            </a:r>
            <a:r>
              <a:rPr lang="fr-FR" dirty="0"/>
              <a:t> </a:t>
            </a:r>
            <a:r>
              <a:rPr lang="fr-FR" dirty="0" err="1"/>
              <a:t>dụng</a:t>
            </a:r>
            <a:r>
              <a:rPr lang="fr-FR" dirty="0"/>
              <a:t> </a:t>
            </a:r>
            <a:r>
              <a:rPr lang="fr-FR" dirty="0" err="1"/>
              <a:t>có</a:t>
            </a:r>
            <a:r>
              <a:rPr lang="fr-FR" dirty="0"/>
              <a:t> </a:t>
            </a:r>
            <a:r>
              <a:rPr lang="fr-FR" dirty="0" err="1"/>
              <a:t>thể</a:t>
            </a:r>
            <a:r>
              <a:rPr lang="fr-FR" dirty="0"/>
              <a:t> </a:t>
            </a:r>
            <a:r>
              <a:rPr lang="fr-FR" dirty="0" err="1"/>
              <a:t>truy</a:t>
            </a:r>
            <a:r>
              <a:rPr lang="fr-FR" dirty="0"/>
              <a:t> </a:t>
            </a:r>
            <a:r>
              <a:rPr lang="fr-FR" dirty="0" err="1"/>
              <a:t>nhập</a:t>
            </a:r>
            <a:r>
              <a:rPr lang="fr-FR" dirty="0"/>
              <a:t> </a:t>
            </a:r>
            <a:r>
              <a:rPr lang="fr-FR" dirty="0" err="1"/>
              <a:t>tới</a:t>
            </a:r>
            <a:r>
              <a:rPr lang="fr-FR" dirty="0"/>
              <a:t> </a:t>
            </a:r>
            <a:r>
              <a:rPr lang="fr-FR" dirty="0" err="1"/>
              <a:t>một</a:t>
            </a:r>
            <a:r>
              <a:rPr lang="fr-FR" dirty="0"/>
              <a:t> </a:t>
            </a:r>
            <a:r>
              <a:rPr lang="fr-FR" dirty="0" err="1"/>
              <a:t>máy</a:t>
            </a:r>
            <a:r>
              <a:rPr lang="fr-FR" dirty="0"/>
              <a:t> </a:t>
            </a:r>
            <a:r>
              <a:rPr lang="fr-FR" dirty="0" err="1"/>
              <a:t>tính</a:t>
            </a:r>
            <a:r>
              <a:rPr lang="fr-FR" dirty="0"/>
              <a:t> </a:t>
            </a:r>
            <a:r>
              <a:rPr lang="fr-FR" dirty="0" err="1"/>
              <a:t>bằng</a:t>
            </a:r>
            <a:r>
              <a:rPr lang="fr-FR" dirty="0"/>
              <a:t> </a:t>
            </a:r>
            <a:r>
              <a:rPr lang="fr-FR" dirty="0" err="1"/>
              <a:t>tên</a:t>
            </a:r>
            <a:r>
              <a:rPr lang="fr-FR" dirty="0"/>
              <a:t> </a:t>
            </a:r>
            <a:r>
              <a:rPr lang="fr-FR" dirty="0" err="1"/>
              <a:t>của</a:t>
            </a:r>
            <a:r>
              <a:rPr lang="fr-FR" dirty="0"/>
              <a:t> </a:t>
            </a:r>
            <a:r>
              <a:rPr lang="fr-FR" dirty="0" err="1"/>
              <a:t>nó</a:t>
            </a:r>
            <a:r>
              <a:rPr lang="fr-FR" dirty="0"/>
              <a:t> </a:t>
            </a:r>
            <a:r>
              <a:rPr lang="fr-FR" dirty="0" err="1"/>
              <a:t>thay</a:t>
            </a:r>
            <a:r>
              <a:rPr lang="fr-FR" dirty="0"/>
              <a:t> </a:t>
            </a:r>
            <a:r>
              <a:rPr lang="fr-FR" dirty="0" err="1"/>
              <a:t>vì</a:t>
            </a:r>
            <a:r>
              <a:rPr lang="fr-FR" dirty="0"/>
              <a:t> </a:t>
            </a:r>
            <a:r>
              <a:rPr lang="fr-FR" dirty="0" err="1"/>
              <a:t>bằng</a:t>
            </a:r>
            <a:r>
              <a:rPr lang="fr-FR" dirty="0"/>
              <a:t> </a:t>
            </a:r>
            <a:r>
              <a:rPr lang="fr-FR" dirty="0" err="1"/>
              <a:t>địa</a:t>
            </a:r>
            <a:r>
              <a:rPr lang="fr-FR" dirty="0"/>
              <a:t> </a:t>
            </a:r>
            <a:r>
              <a:rPr lang="fr-FR" dirty="0" err="1"/>
              <a:t>chỉ</a:t>
            </a:r>
            <a:r>
              <a:rPr lang="fr-FR" dirty="0"/>
              <a:t> IP</a:t>
            </a:r>
          </a:p>
          <a:p>
            <a:pPr algn="just">
              <a:spcBef>
                <a:spcPct val="0"/>
              </a:spcBef>
              <a:buFont typeface="Arial" charset="0"/>
              <a:buChar char="•"/>
              <a:defRPr/>
            </a:pPr>
            <a:r>
              <a:rPr lang="en-US" dirty="0" err="1"/>
              <a:t>Mỗi</a:t>
            </a:r>
            <a:r>
              <a:rPr lang="en-US" dirty="0"/>
              <a:t> </a:t>
            </a:r>
            <a:r>
              <a:rPr lang="en-US" dirty="0" err="1"/>
              <a:t>tên</a:t>
            </a:r>
            <a:r>
              <a:rPr lang="en-US" dirty="0"/>
              <a:t> </a:t>
            </a:r>
            <a:r>
              <a:rPr lang="en-US" dirty="0" err="1"/>
              <a:t>miền</a:t>
            </a:r>
            <a:r>
              <a:rPr lang="en-US" dirty="0"/>
              <a:t> </a:t>
            </a:r>
            <a:r>
              <a:rPr lang="en-US" dirty="0" err="1"/>
              <a:t>có</a:t>
            </a:r>
            <a:r>
              <a:rPr lang="en-US" dirty="0"/>
              <a:t> </a:t>
            </a:r>
            <a:r>
              <a:rPr lang="en-US" dirty="0" err="1"/>
              <a:t>thể</a:t>
            </a:r>
            <a:r>
              <a:rPr lang="en-US" dirty="0"/>
              <a:t> </a:t>
            </a:r>
            <a:r>
              <a:rPr lang="en-US" dirty="0" err="1"/>
              <a:t>gồm</a:t>
            </a:r>
            <a:r>
              <a:rPr lang="en-US" dirty="0"/>
              <a:t> </a:t>
            </a:r>
            <a:r>
              <a:rPr lang="en-US" dirty="0" err="1"/>
              <a:t>nhiều</a:t>
            </a:r>
            <a:r>
              <a:rPr lang="en-US" dirty="0"/>
              <a:t> </a:t>
            </a:r>
            <a:r>
              <a:rPr lang="en-US" dirty="0" err="1"/>
              <a:t>trường</a:t>
            </a:r>
            <a:r>
              <a:rPr lang="en-US" dirty="0"/>
              <a:t> </a:t>
            </a:r>
            <a:r>
              <a:rPr lang="en-US" dirty="0" err="1"/>
              <a:t>phân</a:t>
            </a:r>
            <a:r>
              <a:rPr lang="en-US" dirty="0"/>
              <a:t> </a:t>
            </a:r>
            <a:r>
              <a:rPr lang="en-US" dirty="0" err="1"/>
              <a:t>cách</a:t>
            </a:r>
            <a:r>
              <a:rPr lang="en-US" dirty="0"/>
              <a:t> </a:t>
            </a:r>
            <a:r>
              <a:rPr lang="en-US" dirty="0" err="1"/>
              <a:t>nhau</a:t>
            </a:r>
            <a:r>
              <a:rPr lang="en-US" dirty="0"/>
              <a:t> </a:t>
            </a:r>
            <a:r>
              <a:rPr lang="en-US" dirty="0" err="1"/>
              <a:t>bởi</a:t>
            </a:r>
            <a:r>
              <a:rPr lang="en-US" dirty="0"/>
              <a:t> </a:t>
            </a:r>
            <a:r>
              <a:rPr lang="en-US" dirty="0" err="1"/>
              <a:t>một</a:t>
            </a:r>
            <a:r>
              <a:rPr lang="en-US" dirty="0"/>
              <a:t> </a:t>
            </a:r>
            <a:r>
              <a:rPr lang="en-US" dirty="0" err="1"/>
              <a:t>dấu</a:t>
            </a:r>
            <a:r>
              <a:rPr lang="en-US" dirty="0"/>
              <a:t> </a:t>
            </a:r>
            <a:r>
              <a:rPr lang="en-US" dirty="0" err="1"/>
              <a:t>chấm</a:t>
            </a:r>
            <a:r>
              <a:rPr lang="en-US" dirty="0"/>
              <a:t>, </a:t>
            </a:r>
            <a:r>
              <a:rPr lang="en-US" dirty="0" err="1"/>
              <a:t>được</a:t>
            </a:r>
            <a:r>
              <a:rPr lang="en-US" dirty="0"/>
              <a:t> </a:t>
            </a:r>
            <a:r>
              <a:rPr lang="en-US" dirty="0" err="1"/>
              <a:t>đặt</a:t>
            </a:r>
            <a:r>
              <a:rPr lang="en-US" dirty="0"/>
              <a:t> </a:t>
            </a:r>
            <a:r>
              <a:rPr lang="en-US" dirty="0" err="1"/>
              <a:t>theo</a:t>
            </a:r>
            <a:r>
              <a:rPr lang="en-US" dirty="0"/>
              <a:t> </a:t>
            </a:r>
            <a:r>
              <a:rPr lang="en-US" dirty="0" err="1"/>
              <a:t>một</a:t>
            </a:r>
            <a:r>
              <a:rPr lang="en-US" dirty="0"/>
              <a:t> </a:t>
            </a:r>
            <a:r>
              <a:rPr lang="en-US" dirty="0" err="1"/>
              <a:t>cây</a:t>
            </a:r>
            <a:r>
              <a:rPr lang="en-US" dirty="0"/>
              <a:t> </a:t>
            </a:r>
            <a:r>
              <a:rPr lang="en-US" dirty="0" err="1"/>
              <a:t>phân</a:t>
            </a:r>
            <a:r>
              <a:rPr lang="en-US" dirty="0"/>
              <a:t> </a:t>
            </a:r>
            <a:r>
              <a:rPr lang="en-US" dirty="0" err="1"/>
              <a:t>lớp</a:t>
            </a:r>
            <a:r>
              <a:rPr lang="en-US" dirty="0"/>
              <a:t>:</a:t>
            </a:r>
          </a:p>
          <a:p>
            <a:pPr algn="just">
              <a:spcBef>
                <a:spcPct val="0"/>
              </a:spcBef>
              <a:buFontTx/>
              <a:buChar char="-"/>
              <a:defRPr/>
            </a:pPr>
            <a:r>
              <a:rPr lang="en-US" dirty="0" err="1"/>
              <a:t>Trường</a:t>
            </a:r>
            <a:r>
              <a:rPr lang="en-US" dirty="0"/>
              <a:t> </a:t>
            </a:r>
            <a:r>
              <a:rPr lang="en-US" dirty="0" err="1"/>
              <a:t>đầu</a:t>
            </a:r>
            <a:r>
              <a:rPr lang="en-US" dirty="0"/>
              <a:t> </a:t>
            </a:r>
            <a:r>
              <a:rPr lang="en-US" dirty="0" err="1"/>
              <a:t>tiên</a:t>
            </a:r>
            <a:r>
              <a:rPr lang="en-US" dirty="0"/>
              <a:t> </a:t>
            </a:r>
            <a:r>
              <a:rPr lang="en-US" dirty="0" err="1"/>
              <a:t>là</a:t>
            </a:r>
            <a:r>
              <a:rPr lang="en-US" dirty="0"/>
              <a:t> </a:t>
            </a:r>
            <a:r>
              <a:rPr lang="en-US" dirty="0" err="1"/>
              <a:t>trường</a:t>
            </a:r>
            <a:r>
              <a:rPr lang="en-US" dirty="0"/>
              <a:t> </a:t>
            </a:r>
            <a:r>
              <a:rPr lang="en-US" dirty="0" err="1"/>
              <a:t>địa</a:t>
            </a:r>
            <a:r>
              <a:rPr lang="en-US" dirty="0"/>
              <a:t> </a:t>
            </a:r>
            <a:r>
              <a:rPr lang="en-US" dirty="0" err="1"/>
              <a:t>lý</a:t>
            </a:r>
            <a:r>
              <a:rPr lang="en-US" dirty="0"/>
              <a:t>: </a:t>
            </a:r>
            <a:r>
              <a:rPr lang="en-US" dirty="0" err="1"/>
              <a:t>vn</a:t>
            </a:r>
            <a:r>
              <a:rPr lang="en-US" dirty="0"/>
              <a:t> </a:t>
            </a:r>
            <a:r>
              <a:rPr lang="en-US" dirty="0" err="1"/>
              <a:t>chỉ</a:t>
            </a:r>
            <a:r>
              <a:rPr lang="en-US" dirty="0"/>
              <a:t> </a:t>
            </a:r>
            <a:r>
              <a:rPr lang="en-US" dirty="0" err="1"/>
              <a:t>Việt</a:t>
            </a:r>
            <a:r>
              <a:rPr lang="en-US" dirty="0"/>
              <a:t> Nam, </a:t>
            </a:r>
            <a:r>
              <a:rPr lang="en-US" dirty="0" err="1"/>
              <a:t>th</a:t>
            </a:r>
            <a:r>
              <a:rPr lang="en-US" dirty="0"/>
              <a:t> </a:t>
            </a:r>
            <a:r>
              <a:rPr lang="en-US" dirty="0" err="1"/>
              <a:t>chỉ</a:t>
            </a:r>
            <a:r>
              <a:rPr lang="en-US" dirty="0"/>
              <a:t> </a:t>
            </a:r>
            <a:r>
              <a:rPr lang="en-US" dirty="0" err="1"/>
              <a:t>Thái</a:t>
            </a:r>
            <a:r>
              <a:rPr lang="en-US" dirty="0"/>
              <a:t> Lan, </a:t>
            </a:r>
            <a:r>
              <a:rPr lang="en-US" dirty="0" err="1"/>
              <a:t>fr</a:t>
            </a:r>
            <a:r>
              <a:rPr lang="en-US" dirty="0"/>
              <a:t> </a:t>
            </a:r>
            <a:r>
              <a:rPr lang="en-US" dirty="0" err="1"/>
              <a:t>chỉ</a:t>
            </a:r>
            <a:r>
              <a:rPr lang="en-US" dirty="0"/>
              <a:t> </a:t>
            </a:r>
            <a:r>
              <a:rPr lang="en-US" dirty="0" err="1"/>
              <a:t>Pháp</a:t>
            </a:r>
            <a:r>
              <a:rPr lang="en-US" dirty="0"/>
              <a:t>, </a:t>
            </a:r>
            <a:r>
              <a:rPr lang="en-US" dirty="0" err="1"/>
              <a:t>jp</a:t>
            </a:r>
            <a:r>
              <a:rPr lang="en-US" dirty="0"/>
              <a:t> </a:t>
            </a:r>
            <a:r>
              <a:rPr lang="en-US" dirty="0" err="1"/>
              <a:t>chỉ</a:t>
            </a:r>
            <a:r>
              <a:rPr lang="en-US" dirty="0"/>
              <a:t> </a:t>
            </a:r>
            <a:r>
              <a:rPr lang="en-US" dirty="0" err="1"/>
              <a:t>Nhật</a:t>
            </a:r>
            <a:r>
              <a:rPr lang="en-US" dirty="0"/>
              <a:t>, … </a:t>
            </a:r>
            <a:r>
              <a:rPr lang="en-US" dirty="0" err="1"/>
              <a:t>Các</a:t>
            </a:r>
            <a:r>
              <a:rPr lang="en-US" dirty="0"/>
              <a:t> </a:t>
            </a:r>
            <a:r>
              <a:rPr lang="en-US" dirty="0" err="1"/>
              <a:t>tên</a:t>
            </a:r>
            <a:r>
              <a:rPr lang="en-US" dirty="0"/>
              <a:t> </a:t>
            </a:r>
            <a:r>
              <a:rPr lang="en-US" dirty="0" err="1"/>
              <a:t>miền</a:t>
            </a:r>
            <a:r>
              <a:rPr lang="en-US" dirty="0"/>
              <a:t> </a:t>
            </a:r>
            <a:r>
              <a:rPr lang="en-US" dirty="0" err="1"/>
              <a:t>không</a:t>
            </a:r>
            <a:r>
              <a:rPr lang="en-US" dirty="0"/>
              <a:t> </a:t>
            </a:r>
            <a:r>
              <a:rPr lang="en-US" dirty="0" err="1"/>
              <a:t>có</a:t>
            </a:r>
            <a:r>
              <a:rPr lang="en-US" dirty="0"/>
              <a:t> </a:t>
            </a:r>
            <a:r>
              <a:rPr lang="en-US" dirty="0" err="1"/>
              <a:t>trường</a:t>
            </a:r>
            <a:r>
              <a:rPr lang="en-US" dirty="0"/>
              <a:t> </a:t>
            </a:r>
            <a:r>
              <a:rPr lang="en-US" dirty="0" err="1"/>
              <a:t>địa</a:t>
            </a:r>
            <a:r>
              <a:rPr lang="en-US" dirty="0"/>
              <a:t> </a:t>
            </a:r>
            <a:r>
              <a:rPr lang="en-US" dirty="0" err="1"/>
              <a:t>lý</a:t>
            </a:r>
            <a:r>
              <a:rPr lang="en-US" dirty="0"/>
              <a:t> </a:t>
            </a:r>
            <a:r>
              <a:rPr lang="en-US" dirty="0" err="1"/>
              <a:t>được</a:t>
            </a:r>
            <a:r>
              <a:rPr lang="en-US" dirty="0"/>
              <a:t> </a:t>
            </a:r>
            <a:r>
              <a:rPr lang="en-US" dirty="0" err="1"/>
              <a:t>ngầm</a:t>
            </a:r>
            <a:r>
              <a:rPr lang="en-US" dirty="0"/>
              <a:t> </a:t>
            </a:r>
            <a:r>
              <a:rPr lang="en-US" dirty="0" err="1"/>
              <a:t>hiểu</a:t>
            </a:r>
            <a:r>
              <a:rPr lang="en-US" dirty="0"/>
              <a:t> </a:t>
            </a:r>
            <a:r>
              <a:rPr lang="en-US" dirty="0" err="1"/>
              <a:t>là</a:t>
            </a:r>
            <a:r>
              <a:rPr lang="en-US" dirty="0"/>
              <a:t> </a:t>
            </a:r>
            <a:r>
              <a:rPr lang="en-US" dirty="0" err="1"/>
              <a:t>Mỹ</a:t>
            </a:r>
            <a:endParaRPr lang="en-US" dirty="0"/>
          </a:p>
          <a:p>
            <a:pPr algn="just">
              <a:spcBef>
                <a:spcPct val="0"/>
              </a:spcBef>
              <a:buFontTx/>
              <a:buChar char="-"/>
              <a:defRPr/>
            </a:pPr>
            <a:r>
              <a:rPr lang="en-US" dirty="0" err="1"/>
              <a:t>Trường</a:t>
            </a:r>
            <a:r>
              <a:rPr lang="en-US" dirty="0"/>
              <a:t> </a:t>
            </a:r>
            <a:r>
              <a:rPr lang="en-US" dirty="0" err="1"/>
              <a:t>thứ</a:t>
            </a:r>
            <a:r>
              <a:rPr lang="en-US" dirty="0"/>
              <a:t> </a:t>
            </a:r>
            <a:r>
              <a:rPr lang="en-US" dirty="0" err="1"/>
              <a:t>hai</a:t>
            </a:r>
            <a:r>
              <a:rPr lang="en-US" dirty="0"/>
              <a:t> </a:t>
            </a:r>
            <a:r>
              <a:rPr lang="en-US" dirty="0" err="1"/>
              <a:t>thường</a:t>
            </a:r>
            <a:r>
              <a:rPr lang="en-US" dirty="0"/>
              <a:t> </a:t>
            </a:r>
            <a:r>
              <a:rPr lang="en-US" dirty="0" err="1"/>
              <a:t>là</a:t>
            </a:r>
            <a:r>
              <a:rPr lang="en-US" dirty="0"/>
              <a:t> </a:t>
            </a:r>
            <a:r>
              <a:rPr lang="en-US" dirty="0" err="1"/>
              <a:t>lớp</a:t>
            </a:r>
            <a:r>
              <a:rPr lang="en-US" dirty="0"/>
              <a:t> </a:t>
            </a:r>
            <a:r>
              <a:rPr lang="en-US" dirty="0" err="1"/>
              <a:t>lĩnh</a:t>
            </a:r>
            <a:r>
              <a:rPr lang="en-US" dirty="0"/>
              <a:t> </a:t>
            </a:r>
            <a:r>
              <a:rPr lang="en-US" dirty="0" err="1"/>
              <a:t>vực</a:t>
            </a:r>
            <a:r>
              <a:rPr lang="en-US" dirty="0"/>
              <a:t> </a:t>
            </a:r>
            <a:r>
              <a:rPr lang="en-US" dirty="0" err="1"/>
              <a:t>hoạt</a:t>
            </a:r>
            <a:r>
              <a:rPr lang="en-US" dirty="0"/>
              <a:t> </a:t>
            </a:r>
            <a:r>
              <a:rPr lang="en-US" dirty="0" err="1"/>
              <a:t>động</a:t>
            </a:r>
            <a:r>
              <a:rPr lang="en-US" dirty="0"/>
              <a:t>: .com (</a:t>
            </a:r>
            <a:r>
              <a:rPr lang="en-US" dirty="0" err="1"/>
              <a:t>các</a:t>
            </a:r>
            <a:r>
              <a:rPr lang="en-US" dirty="0"/>
              <a:t> </a:t>
            </a:r>
            <a:r>
              <a:rPr lang="en-US" dirty="0" err="1"/>
              <a:t>tổ</a:t>
            </a:r>
            <a:r>
              <a:rPr lang="en-US" dirty="0"/>
              <a:t> </a:t>
            </a:r>
            <a:r>
              <a:rPr lang="en-US" dirty="0" err="1"/>
              <a:t>chức</a:t>
            </a:r>
            <a:r>
              <a:rPr lang="en-US" dirty="0"/>
              <a:t>, </a:t>
            </a:r>
            <a:r>
              <a:rPr lang="en-US" dirty="0" err="1"/>
              <a:t>công</a:t>
            </a:r>
            <a:r>
              <a:rPr lang="en-US" dirty="0"/>
              <a:t> ty </a:t>
            </a:r>
            <a:r>
              <a:rPr lang="en-US" dirty="0" err="1"/>
              <a:t>thương</a:t>
            </a:r>
            <a:r>
              <a:rPr lang="en-US" dirty="0"/>
              <a:t> </a:t>
            </a:r>
            <a:r>
              <a:rPr lang="en-US" dirty="0" err="1"/>
              <a:t>mại</a:t>
            </a:r>
            <a:r>
              <a:rPr lang="en-US" dirty="0"/>
              <a:t>), .org (</a:t>
            </a:r>
            <a:r>
              <a:rPr lang="en-US" dirty="0" err="1"/>
              <a:t>các</a:t>
            </a:r>
            <a:r>
              <a:rPr lang="en-US" dirty="0"/>
              <a:t> </a:t>
            </a:r>
            <a:r>
              <a:rPr lang="en-US" dirty="0" err="1"/>
              <a:t>tổ</a:t>
            </a:r>
            <a:r>
              <a:rPr lang="en-US" dirty="0"/>
              <a:t> </a:t>
            </a:r>
            <a:r>
              <a:rPr lang="en-US" dirty="0" err="1"/>
              <a:t>chức</a:t>
            </a:r>
            <a:r>
              <a:rPr lang="en-US" dirty="0"/>
              <a:t> phi </a:t>
            </a:r>
            <a:r>
              <a:rPr lang="en-US" dirty="0" err="1"/>
              <a:t>lợi</a:t>
            </a:r>
            <a:r>
              <a:rPr lang="en-US" dirty="0"/>
              <a:t> </a:t>
            </a:r>
            <a:r>
              <a:rPr lang="en-US" dirty="0" err="1"/>
              <a:t>nhuận</a:t>
            </a:r>
            <a:r>
              <a:rPr lang="en-US" dirty="0"/>
              <a:t>), </a:t>
            </a:r>
            <a:r>
              <a:rPr lang="en-US" dirty="0" err="1"/>
              <a:t>.net</a:t>
            </a:r>
            <a:r>
              <a:rPr lang="en-US" dirty="0"/>
              <a:t> (</a:t>
            </a:r>
            <a:r>
              <a:rPr lang="en-US" dirty="0" err="1"/>
              <a:t>các</a:t>
            </a:r>
            <a:r>
              <a:rPr lang="en-US" dirty="0"/>
              <a:t> </a:t>
            </a:r>
            <a:r>
              <a:rPr lang="en-US" dirty="0" err="1"/>
              <a:t>trung</a:t>
            </a:r>
            <a:r>
              <a:rPr lang="en-US" dirty="0"/>
              <a:t> </a:t>
            </a:r>
            <a:r>
              <a:rPr lang="en-US" dirty="0" err="1"/>
              <a:t>tâm</a:t>
            </a:r>
            <a:r>
              <a:rPr lang="en-US" dirty="0"/>
              <a:t> </a:t>
            </a:r>
            <a:r>
              <a:rPr lang="en-US" dirty="0" err="1"/>
              <a:t>hỗ</a:t>
            </a:r>
            <a:r>
              <a:rPr lang="en-US" dirty="0"/>
              <a:t> </a:t>
            </a:r>
            <a:r>
              <a:rPr lang="en-US" dirty="0" err="1"/>
              <a:t>trợ</a:t>
            </a:r>
            <a:r>
              <a:rPr lang="en-US" dirty="0"/>
              <a:t> </a:t>
            </a:r>
            <a:r>
              <a:rPr lang="en-US" dirty="0" err="1"/>
              <a:t>về</a:t>
            </a:r>
            <a:r>
              <a:rPr lang="en-US" dirty="0"/>
              <a:t> </a:t>
            </a:r>
            <a:r>
              <a:rPr lang="en-US" dirty="0" err="1"/>
              <a:t>mạng</a:t>
            </a:r>
            <a:r>
              <a:rPr lang="en-US" dirty="0"/>
              <a:t>), .</a:t>
            </a:r>
            <a:r>
              <a:rPr lang="en-US" dirty="0" err="1"/>
              <a:t>edu</a:t>
            </a:r>
            <a:r>
              <a:rPr lang="en-US" dirty="0"/>
              <a:t> (</a:t>
            </a:r>
            <a:r>
              <a:rPr lang="en-US" dirty="0" err="1"/>
              <a:t>các</a:t>
            </a:r>
            <a:r>
              <a:rPr lang="en-US" dirty="0"/>
              <a:t> </a:t>
            </a:r>
            <a:r>
              <a:rPr lang="en-US" dirty="0" err="1"/>
              <a:t>tổ</a:t>
            </a:r>
            <a:r>
              <a:rPr lang="en-US" dirty="0"/>
              <a:t> </a:t>
            </a:r>
            <a:r>
              <a:rPr lang="en-US" dirty="0" err="1"/>
              <a:t>chức</a:t>
            </a:r>
            <a:r>
              <a:rPr lang="en-US" dirty="0"/>
              <a:t> </a:t>
            </a:r>
            <a:r>
              <a:rPr lang="en-US" dirty="0" err="1"/>
              <a:t>giáo</a:t>
            </a:r>
            <a:r>
              <a:rPr lang="en-US" dirty="0"/>
              <a:t> </a:t>
            </a:r>
            <a:r>
              <a:rPr lang="en-US" dirty="0" err="1"/>
              <a:t>dục</a:t>
            </a:r>
            <a:r>
              <a:rPr lang="en-US" dirty="0"/>
              <a:t>), .</a:t>
            </a:r>
            <a:r>
              <a:rPr lang="en-US" dirty="0" err="1"/>
              <a:t>gov</a:t>
            </a:r>
            <a:r>
              <a:rPr lang="en-US" dirty="0"/>
              <a:t> (</a:t>
            </a:r>
            <a:r>
              <a:rPr lang="en-US" dirty="0" err="1"/>
              <a:t>các</a:t>
            </a:r>
            <a:r>
              <a:rPr lang="en-US" dirty="0"/>
              <a:t> </a:t>
            </a:r>
            <a:r>
              <a:rPr lang="en-US" dirty="0" err="1"/>
              <a:t>tổ</a:t>
            </a:r>
            <a:r>
              <a:rPr lang="en-US" dirty="0"/>
              <a:t> </a:t>
            </a:r>
            <a:r>
              <a:rPr lang="en-US" dirty="0" err="1"/>
              <a:t>chức</a:t>
            </a:r>
            <a:r>
              <a:rPr lang="en-US" dirty="0"/>
              <a:t> </a:t>
            </a:r>
            <a:r>
              <a:rPr lang="en-US" dirty="0" err="1"/>
              <a:t>thuộc</a:t>
            </a:r>
            <a:r>
              <a:rPr lang="en-US" dirty="0"/>
              <a:t> </a:t>
            </a:r>
            <a:r>
              <a:rPr lang="en-US" dirty="0" err="1"/>
              <a:t>chính</a:t>
            </a:r>
            <a:r>
              <a:rPr lang="en-US" dirty="0"/>
              <a:t> </a:t>
            </a:r>
            <a:r>
              <a:rPr lang="en-US" dirty="0" err="1"/>
              <a:t>phủ</a:t>
            </a:r>
            <a:r>
              <a:rPr lang="en-US" dirty="0"/>
              <a:t>), .mil (</a:t>
            </a:r>
            <a:r>
              <a:rPr lang="en-US" dirty="0" err="1"/>
              <a:t>các</a:t>
            </a:r>
            <a:r>
              <a:rPr lang="en-US" dirty="0"/>
              <a:t> </a:t>
            </a:r>
            <a:r>
              <a:rPr lang="en-US" dirty="0" err="1"/>
              <a:t>tổ</a:t>
            </a:r>
            <a:r>
              <a:rPr lang="en-US" dirty="0"/>
              <a:t> </a:t>
            </a:r>
            <a:r>
              <a:rPr lang="en-US" dirty="0" err="1"/>
              <a:t>chức</a:t>
            </a:r>
            <a:r>
              <a:rPr lang="en-US" dirty="0"/>
              <a:t> </a:t>
            </a:r>
            <a:r>
              <a:rPr lang="en-US" dirty="0" err="1"/>
              <a:t>quân</a:t>
            </a:r>
            <a:r>
              <a:rPr lang="en-US" dirty="0"/>
              <a:t> </a:t>
            </a:r>
            <a:r>
              <a:rPr lang="en-US" dirty="0" err="1"/>
              <a:t>sự</a:t>
            </a:r>
            <a:r>
              <a:rPr lang="en-US" dirty="0"/>
              <a:t>)</a:t>
            </a:r>
          </a:p>
          <a:p>
            <a:pPr algn="just">
              <a:spcBef>
                <a:spcPct val="0"/>
              </a:spcBef>
              <a:buFontTx/>
              <a:buChar char="-"/>
              <a:defRPr/>
            </a:pPr>
            <a:r>
              <a:rPr lang="en-US" dirty="0" err="1"/>
              <a:t>Từ</a:t>
            </a:r>
            <a:r>
              <a:rPr lang="en-US" dirty="0"/>
              <a:t> </a:t>
            </a:r>
            <a:r>
              <a:rPr lang="en-US" dirty="0" err="1"/>
              <a:t>trường</a:t>
            </a:r>
            <a:r>
              <a:rPr lang="en-US" dirty="0"/>
              <a:t> </a:t>
            </a:r>
            <a:r>
              <a:rPr lang="en-US" dirty="0" err="1"/>
              <a:t>thứ</a:t>
            </a:r>
            <a:r>
              <a:rPr lang="en-US" dirty="0"/>
              <a:t> 3 </a:t>
            </a:r>
            <a:r>
              <a:rPr lang="en-US" dirty="0" err="1"/>
              <a:t>trở</a:t>
            </a:r>
            <a:r>
              <a:rPr lang="en-US" dirty="0"/>
              <a:t> </a:t>
            </a:r>
            <a:r>
              <a:rPr lang="en-US" dirty="0" err="1"/>
              <a:t>đi</a:t>
            </a:r>
            <a:r>
              <a:rPr lang="en-US" dirty="0"/>
              <a:t> do </a:t>
            </a:r>
            <a:r>
              <a:rPr lang="en-US" dirty="0" err="1"/>
              <a:t>các</a:t>
            </a:r>
            <a:r>
              <a:rPr lang="en-US" dirty="0"/>
              <a:t> </a:t>
            </a:r>
            <a:r>
              <a:rPr lang="en-US" dirty="0" err="1"/>
              <a:t>tổ</a:t>
            </a:r>
            <a:r>
              <a:rPr lang="en-US" dirty="0"/>
              <a:t> </a:t>
            </a:r>
            <a:r>
              <a:rPr lang="en-US" dirty="0" err="1"/>
              <a:t>chức</a:t>
            </a:r>
            <a:r>
              <a:rPr lang="en-US" dirty="0"/>
              <a:t> </a:t>
            </a:r>
            <a:r>
              <a:rPr lang="en-US" dirty="0" err="1"/>
              <a:t>tự</a:t>
            </a:r>
            <a:r>
              <a:rPr lang="en-US" dirty="0"/>
              <a:t> </a:t>
            </a:r>
            <a:r>
              <a:rPr lang="en-US" dirty="0" err="1"/>
              <a:t>đặt</a:t>
            </a:r>
            <a:r>
              <a:rPr lang="en-US" dirty="0"/>
              <a:t> </a:t>
            </a:r>
            <a:r>
              <a:rPr lang="en-US" dirty="0" err="1"/>
              <a:t>tên</a:t>
            </a:r>
            <a:r>
              <a:rPr lang="en-US" dirty="0"/>
              <a:t>, </a:t>
            </a:r>
            <a:r>
              <a:rPr lang="en-US" dirty="0" err="1"/>
              <a:t>miễn</a:t>
            </a:r>
            <a:r>
              <a:rPr lang="en-US" dirty="0"/>
              <a:t> </a:t>
            </a:r>
            <a:r>
              <a:rPr lang="en-US" dirty="0" err="1"/>
              <a:t>là</a:t>
            </a:r>
            <a:r>
              <a:rPr lang="en-US" dirty="0"/>
              <a:t> </a:t>
            </a:r>
            <a:r>
              <a:rPr lang="en-US" dirty="0" err="1"/>
              <a:t>không</a:t>
            </a:r>
            <a:r>
              <a:rPr lang="en-US" dirty="0"/>
              <a:t> </a:t>
            </a:r>
            <a:r>
              <a:rPr lang="en-US" dirty="0" err="1"/>
              <a:t>trùng</a:t>
            </a:r>
            <a:r>
              <a:rPr lang="en-US" dirty="0"/>
              <a:t> </a:t>
            </a:r>
            <a:r>
              <a:rPr lang="en-US" dirty="0" err="1"/>
              <a:t>nhau</a:t>
            </a:r>
            <a:r>
              <a:rPr lang="en-US" dirty="0"/>
              <a:t> </a:t>
            </a:r>
            <a:r>
              <a:rPr lang="en-US" dirty="0" err="1"/>
              <a:t>và</a:t>
            </a:r>
            <a:r>
              <a:rPr lang="en-US" dirty="0"/>
              <a:t> </a:t>
            </a:r>
            <a:r>
              <a:rPr lang="en-US" dirty="0" err="1"/>
              <a:t>được</a:t>
            </a:r>
            <a:r>
              <a:rPr lang="en-US" dirty="0"/>
              <a:t> </a:t>
            </a:r>
            <a:r>
              <a:rPr lang="en-US" dirty="0" err="1"/>
              <a:t>các</a:t>
            </a:r>
            <a:r>
              <a:rPr lang="en-US" dirty="0"/>
              <a:t> </a:t>
            </a:r>
            <a:r>
              <a:rPr lang="en-US" dirty="0" err="1"/>
              <a:t>tổ</a:t>
            </a:r>
            <a:r>
              <a:rPr lang="en-US" dirty="0"/>
              <a:t> </a:t>
            </a:r>
            <a:r>
              <a:rPr lang="en-US" dirty="0" err="1"/>
              <a:t>chức</a:t>
            </a:r>
            <a:r>
              <a:rPr lang="en-US" dirty="0"/>
              <a:t> </a:t>
            </a:r>
            <a:r>
              <a:rPr lang="en-US" dirty="0" err="1"/>
              <a:t>quản</a:t>
            </a:r>
            <a:r>
              <a:rPr lang="en-US" dirty="0"/>
              <a:t> </a:t>
            </a:r>
            <a:r>
              <a:rPr lang="en-US" dirty="0" err="1"/>
              <a:t>lý</a:t>
            </a:r>
            <a:r>
              <a:rPr lang="en-US" dirty="0"/>
              <a:t> </a:t>
            </a:r>
            <a:r>
              <a:rPr lang="en-US" dirty="0" err="1"/>
              <a:t>tên</a:t>
            </a:r>
            <a:r>
              <a:rPr lang="en-US" dirty="0"/>
              <a:t> </a:t>
            </a:r>
            <a:r>
              <a:rPr lang="en-US" dirty="0" err="1"/>
              <a:t>miền</a:t>
            </a:r>
            <a:r>
              <a:rPr lang="en-US" dirty="0"/>
              <a:t> </a:t>
            </a:r>
            <a:r>
              <a:rPr lang="en-US" dirty="0" err="1"/>
              <a:t>chấp</a:t>
            </a:r>
            <a:r>
              <a:rPr lang="en-US" dirty="0"/>
              <a:t> </a:t>
            </a:r>
            <a:r>
              <a:rPr lang="en-US" dirty="0" err="1"/>
              <a:t>nhận</a:t>
            </a:r>
            <a:endParaRPr lang="en-US" dirty="0"/>
          </a:p>
          <a:p>
            <a:endParaRPr lang="en-US" dirty="0"/>
          </a:p>
        </p:txBody>
      </p:sp>
    </p:spTree>
    <p:extLst>
      <p:ext uri="{BB962C8B-B14F-4D97-AF65-F5344CB8AC3E}">
        <p14:creationId xmlns:p14="http://schemas.microsoft.com/office/powerpoint/2010/main" val="2270325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p:txBody>
          <a:bodyPr/>
          <a:lstStyle/>
          <a:p>
            <a:pPr algn="just">
              <a:spcBef>
                <a:spcPct val="0"/>
              </a:spcBef>
            </a:pPr>
            <a:r>
              <a:rPr lang="en-US" altLang="en-US" dirty="0" err="1"/>
              <a:t>Ví</a:t>
            </a:r>
            <a:r>
              <a:rPr lang="en-US" altLang="en-US" dirty="0"/>
              <a:t> </a:t>
            </a:r>
            <a:r>
              <a:rPr lang="en-US" altLang="en-US" dirty="0" err="1"/>
              <a:t>dụ</a:t>
            </a:r>
            <a:r>
              <a:rPr lang="en-US" altLang="en-US" dirty="0"/>
              <a:t>: </a:t>
            </a:r>
          </a:p>
          <a:p>
            <a:pPr algn="just">
              <a:spcBef>
                <a:spcPct val="0"/>
              </a:spcBef>
              <a:buFontTx/>
              <a:buChar char="-"/>
            </a:pPr>
            <a:r>
              <a:rPr lang="en-US" altLang="en-US" dirty="0" err="1"/>
              <a:t>Máy</a:t>
            </a:r>
            <a:r>
              <a:rPr lang="en-US" altLang="en-US" dirty="0"/>
              <a:t> </a:t>
            </a:r>
            <a:r>
              <a:rPr lang="en-US" altLang="en-US" dirty="0" err="1"/>
              <a:t>chủ</a:t>
            </a:r>
            <a:r>
              <a:rPr lang="en-US" altLang="en-US" dirty="0"/>
              <a:t> </a:t>
            </a:r>
            <a:r>
              <a:rPr lang="en-US" altLang="en-US" dirty="0" err="1"/>
              <a:t>Học</a:t>
            </a:r>
            <a:r>
              <a:rPr lang="en-US" altLang="en-US" dirty="0"/>
              <a:t> </a:t>
            </a:r>
            <a:r>
              <a:rPr lang="en-US" altLang="en-US" dirty="0" err="1"/>
              <a:t>viện</a:t>
            </a:r>
            <a:r>
              <a:rPr lang="en-US" altLang="en-US" dirty="0"/>
              <a:t> </a:t>
            </a:r>
            <a:r>
              <a:rPr lang="en-US" altLang="en-US" dirty="0" err="1"/>
              <a:t>Nông</a:t>
            </a:r>
            <a:r>
              <a:rPr lang="en-US" altLang="en-US" dirty="0"/>
              <a:t> </a:t>
            </a:r>
            <a:r>
              <a:rPr lang="en-US" altLang="en-US" dirty="0" err="1"/>
              <a:t>nghiệp</a:t>
            </a:r>
            <a:r>
              <a:rPr lang="en-US" altLang="en-US" dirty="0"/>
              <a:t> </a:t>
            </a:r>
            <a:r>
              <a:rPr lang="en-US" altLang="en-US" dirty="0" err="1"/>
              <a:t>Việt</a:t>
            </a:r>
            <a:r>
              <a:rPr lang="en-US" altLang="en-US" dirty="0"/>
              <a:t> Nam </a:t>
            </a:r>
            <a:r>
              <a:rPr lang="en-US" altLang="en-US" dirty="0" err="1"/>
              <a:t>có</a:t>
            </a:r>
            <a:r>
              <a:rPr lang="en-US" altLang="en-US" dirty="0"/>
              <a:t> </a:t>
            </a:r>
            <a:r>
              <a:rPr lang="en-US" altLang="en-US" dirty="0" err="1"/>
              <a:t>tên</a:t>
            </a:r>
            <a:r>
              <a:rPr lang="en-US" altLang="en-US" dirty="0"/>
              <a:t> </a:t>
            </a:r>
            <a:r>
              <a:rPr lang="en-US" altLang="en-US" dirty="0" err="1"/>
              <a:t>miền</a:t>
            </a:r>
            <a:r>
              <a:rPr lang="en-US" altLang="en-US" dirty="0"/>
              <a:t> </a:t>
            </a:r>
            <a:r>
              <a:rPr lang="en-US" altLang="en-US" dirty="0" err="1"/>
              <a:t>là</a:t>
            </a:r>
            <a:r>
              <a:rPr lang="en-US" altLang="en-US" dirty="0"/>
              <a:t> vnua.edu.vn, </a:t>
            </a:r>
            <a:r>
              <a:rPr lang="en-US" altLang="en-US" dirty="0" err="1"/>
              <a:t>có</a:t>
            </a:r>
            <a:r>
              <a:rPr lang="en-US" altLang="en-US" dirty="0"/>
              <a:t> </a:t>
            </a:r>
            <a:r>
              <a:rPr lang="en-US" altLang="en-US" dirty="0" err="1"/>
              <a:t>địa</a:t>
            </a:r>
            <a:r>
              <a:rPr lang="en-US" altLang="en-US" dirty="0"/>
              <a:t> </a:t>
            </a:r>
            <a:r>
              <a:rPr lang="en-US" altLang="en-US" dirty="0" err="1"/>
              <a:t>chỉ</a:t>
            </a:r>
            <a:r>
              <a:rPr lang="en-US" altLang="en-US" dirty="0"/>
              <a:t> IP </a:t>
            </a:r>
            <a:r>
              <a:rPr lang="en-US" altLang="en-US" dirty="0" err="1"/>
              <a:t>là</a:t>
            </a:r>
            <a:r>
              <a:rPr lang="en-US" altLang="en-US" dirty="0"/>
              <a:t> 220.221.107.132</a:t>
            </a:r>
          </a:p>
          <a:p>
            <a:pPr algn="just">
              <a:spcBef>
                <a:spcPct val="0"/>
              </a:spcBef>
              <a:buFontTx/>
              <a:buChar char="-"/>
            </a:pPr>
            <a:r>
              <a:rPr lang="en-US" altLang="en-US" dirty="0" err="1"/>
              <a:t>Máy</a:t>
            </a:r>
            <a:r>
              <a:rPr lang="en-US" altLang="en-US" dirty="0"/>
              <a:t> </a:t>
            </a:r>
            <a:r>
              <a:rPr lang="en-US" altLang="en-US" dirty="0" err="1"/>
              <a:t>chủ</a:t>
            </a:r>
            <a:r>
              <a:rPr lang="en-US" altLang="en-US" dirty="0"/>
              <a:t> </a:t>
            </a:r>
            <a:r>
              <a:rPr lang="en-US" altLang="en-US" dirty="0" err="1"/>
              <a:t>Đại</a:t>
            </a:r>
            <a:r>
              <a:rPr lang="en-US" altLang="en-US" dirty="0"/>
              <a:t> </a:t>
            </a:r>
            <a:r>
              <a:rPr lang="en-US" altLang="en-US" dirty="0" err="1"/>
              <a:t>học</a:t>
            </a:r>
            <a:r>
              <a:rPr lang="en-US" altLang="en-US" dirty="0"/>
              <a:t> </a:t>
            </a:r>
            <a:r>
              <a:rPr lang="en-US" altLang="en-US" dirty="0" err="1"/>
              <a:t>Bách</a:t>
            </a:r>
            <a:r>
              <a:rPr lang="en-US" altLang="en-US" dirty="0"/>
              <a:t> </a:t>
            </a:r>
            <a:r>
              <a:rPr lang="en-US" altLang="en-US" dirty="0" err="1"/>
              <a:t>khoa</a:t>
            </a:r>
            <a:r>
              <a:rPr lang="en-US" altLang="en-US" dirty="0"/>
              <a:t> </a:t>
            </a:r>
            <a:r>
              <a:rPr lang="en-US" altLang="en-US" dirty="0" err="1"/>
              <a:t>Hà</a:t>
            </a:r>
            <a:r>
              <a:rPr lang="en-US" altLang="en-US" dirty="0"/>
              <a:t> </a:t>
            </a:r>
            <a:r>
              <a:rPr lang="en-US" altLang="en-US" dirty="0" err="1"/>
              <a:t>Nội</a:t>
            </a:r>
            <a:r>
              <a:rPr lang="en-US" altLang="en-US" dirty="0"/>
              <a:t> </a:t>
            </a:r>
            <a:r>
              <a:rPr lang="en-US" altLang="en-US" dirty="0" err="1"/>
              <a:t>có</a:t>
            </a:r>
            <a:r>
              <a:rPr lang="en-US" altLang="en-US" dirty="0"/>
              <a:t> </a:t>
            </a:r>
            <a:r>
              <a:rPr lang="en-US" altLang="en-US" dirty="0" err="1"/>
              <a:t>tên</a:t>
            </a:r>
            <a:r>
              <a:rPr lang="en-US" altLang="en-US" dirty="0"/>
              <a:t> </a:t>
            </a:r>
            <a:r>
              <a:rPr lang="en-US" altLang="en-US" dirty="0" err="1"/>
              <a:t>miền</a:t>
            </a:r>
            <a:r>
              <a:rPr lang="en-US" altLang="en-US" dirty="0"/>
              <a:t> </a:t>
            </a:r>
            <a:r>
              <a:rPr lang="en-US" altLang="en-US" dirty="0" err="1"/>
              <a:t>là</a:t>
            </a:r>
            <a:r>
              <a:rPr lang="en-US" altLang="en-US" dirty="0"/>
              <a:t> hust.edu.vn </a:t>
            </a:r>
            <a:r>
              <a:rPr lang="en-US" altLang="en-US" dirty="0" err="1"/>
              <a:t>có</a:t>
            </a:r>
            <a:r>
              <a:rPr lang="en-US" altLang="en-US" dirty="0"/>
              <a:t> </a:t>
            </a:r>
            <a:r>
              <a:rPr lang="en-US" altLang="en-US" dirty="0" err="1"/>
              <a:t>địa</a:t>
            </a:r>
            <a:r>
              <a:rPr lang="en-US" altLang="en-US" dirty="0"/>
              <a:t> </a:t>
            </a:r>
            <a:r>
              <a:rPr lang="en-US" altLang="en-US" dirty="0" err="1"/>
              <a:t>chỉ</a:t>
            </a:r>
            <a:r>
              <a:rPr lang="en-US" altLang="en-US" dirty="0"/>
              <a:t> IP </a:t>
            </a:r>
            <a:r>
              <a:rPr lang="en-US" altLang="en-US" dirty="0" err="1"/>
              <a:t>là</a:t>
            </a:r>
            <a:r>
              <a:rPr lang="en-US" altLang="en-US" dirty="0"/>
              <a:t> 202.191.56.197</a:t>
            </a:r>
          </a:p>
          <a:p>
            <a:endParaRPr lang="en-US" dirty="0"/>
          </a:p>
        </p:txBody>
      </p:sp>
    </p:spTree>
    <p:extLst>
      <p:ext uri="{BB962C8B-B14F-4D97-AF65-F5344CB8AC3E}">
        <p14:creationId xmlns:p14="http://schemas.microsoft.com/office/powerpoint/2010/main" val="1195986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p:txBody>
          <a:bodyPr/>
          <a:lstStyle/>
          <a:p>
            <a:r>
              <a:rPr lang="vi-VN" dirty="0"/>
              <a:t>Web Server là máy chủ có dung lượng lớn, tốc độ cao, được dùng để lưu trữ thông tin như một ngân hàng dữ liệu, chứa những website đã được thiết kế cùng với những thông tin liên quan khác (các mã Script, các chương trình, và các file Multimedia).</a:t>
            </a:r>
          </a:p>
          <a:p>
            <a:r>
              <a:rPr lang="vi-VN" dirty="0"/>
              <a:t>Web Server có khả năng gửi đến máy khách những trang Web thông qua môi trường Internet (hoặc Intranet) qua giao thức HTTP, giao thức được thiết kế để gửi các file đến trình duyệt Web (Web Browser), và các giao thức khác.</a:t>
            </a:r>
          </a:p>
          <a:p>
            <a:pPr marL="0" indent="0">
              <a:buNone/>
            </a:pPr>
            <a:endParaRPr lang="en-US" dirty="0"/>
          </a:p>
        </p:txBody>
      </p:sp>
    </p:spTree>
    <p:extLst>
      <p:ext uri="{BB962C8B-B14F-4D97-AF65-F5344CB8AC3E}">
        <p14:creationId xmlns:p14="http://schemas.microsoft.com/office/powerpoint/2010/main" val="3249538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a:xfrm>
            <a:off x="838200" y="1502229"/>
            <a:ext cx="10515600" cy="4885508"/>
          </a:xfrm>
        </p:spPr>
        <p:txBody>
          <a:bodyPr>
            <a:normAutofit/>
          </a:bodyPr>
          <a:lstStyle/>
          <a:p>
            <a:pPr>
              <a:spcBef>
                <a:spcPts val="1800"/>
              </a:spcBef>
            </a:pPr>
            <a:r>
              <a:rPr lang="en-US" dirty="0"/>
              <a:t>Web Client: </a:t>
            </a:r>
            <a:r>
              <a:rPr lang="en-US" dirty="0" err="1"/>
              <a:t>Máy</a:t>
            </a:r>
            <a:r>
              <a:rPr lang="en-US" dirty="0"/>
              <a:t> </a:t>
            </a:r>
            <a:r>
              <a:rPr lang="en-US" dirty="0" err="1"/>
              <a:t>tính</a:t>
            </a:r>
            <a:r>
              <a:rPr lang="en-US" dirty="0"/>
              <a:t> </a:t>
            </a:r>
            <a:r>
              <a:rPr lang="en-US" dirty="0" err="1"/>
              <a:t>dùng</a:t>
            </a:r>
            <a:r>
              <a:rPr lang="en-US" dirty="0"/>
              <a:t> </a:t>
            </a:r>
            <a:r>
              <a:rPr lang="en-US" dirty="0" err="1"/>
              <a:t>để</a:t>
            </a:r>
            <a:r>
              <a:rPr lang="en-US" dirty="0"/>
              <a:t> </a:t>
            </a:r>
            <a:r>
              <a:rPr lang="en-US" dirty="0" err="1"/>
              <a:t>truy</a:t>
            </a:r>
            <a:r>
              <a:rPr lang="en-US" dirty="0"/>
              <a:t> </a:t>
            </a:r>
            <a:r>
              <a:rPr lang="en-US" dirty="0" err="1"/>
              <a:t>cập</a:t>
            </a:r>
            <a:r>
              <a:rPr lang="en-US" dirty="0"/>
              <a:t> </a:t>
            </a:r>
            <a:r>
              <a:rPr lang="en-US" dirty="0" err="1"/>
              <a:t>các</a:t>
            </a:r>
            <a:r>
              <a:rPr lang="en-US" dirty="0"/>
              <a:t> </a:t>
            </a:r>
            <a:r>
              <a:rPr lang="en-US" dirty="0" err="1"/>
              <a:t>trang</a:t>
            </a:r>
            <a:r>
              <a:rPr lang="en-US" dirty="0"/>
              <a:t> Web, </a:t>
            </a:r>
            <a:r>
              <a:rPr lang="en-US" dirty="0" err="1"/>
              <a:t>có</a:t>
            </a:r>
            <a:r>
              <a:rPr lang="en-US" dirty="0"/>
              <a:t> </a:t>
            </a:r>
            <a:r>
              <a:rPr lang="en-US" dirty="0" err="1"/>
              <a:t>khả</a:t>
            </a:r>
            <a:r>
              <a:rPr lang="en-US" dirty="0"/>
              <a:t> </a:t>
            </a:r>
            <a:r>
              <a:rPr lang="en-US" dirty="0" err="1"/>
              <a:t>năng</a:t>
            </a:r>
            <a:r>
              <a:rPr lang="en-US" dirty="0"/>
              <a:t> </a:t>
            </a:r>
            <a:r>
              <a:rPr lang="en-US" dirty="0" err="1"/>
              <a:t>yêu</a:t>
            </a:r>
            <a:r>
              <a:rPr lang="en-US" dirty="0"/>
              <a:t> </a:t>
            </a:r>
            <a:r>
              <a:rPr lang="en-US" dirty="0" err="1"/>
              <a:t>cầu</a:t>
            </a:r>
            <a:r>
              <a:rPr lang="en-US" dirty="0"/>
              <a:t> </a:t>
            </a:r>
            <a:r>
              <a:rPr lang="en-US" dirty="0" err="1"/>
              <a:t>và</a:t>
            </a:r>
            <a:r>
              <a:rPr lang="en-US" dirty="0"/>
              <a:t> </a:t>
            </a:r>
            <a:r>
              <a:rPr lang="en-US" dirty="0" err="1"/>
              <a:t>nhận</a:t>
            </a:r>
            <a:r>
              <a:rPr lang="en-US" dirty="0"/>
              <a:t> </a:t>
            </a:r>
            <a:r>
              <a:rPr lang="en-US" dirty="0" err="1"/>
              <a:t>kết</a:t>
            </a:r>
            <a:r>
              <a:rPr lang="en-US" dirty="0"/>
              <a:t> </a:t>
            </a:r>
            <a:r>
              <a:rPr lang="en-US" dirty="0" err="1"/>
              <a:t>quả</a:t>
            </a:r>
            <a:r>
              <a:rPr lang="en-US" dirty="0"/>
              <a:t> </a:t>
            </a:r>
            <a:r>
              <a:rPr lang="en-US" dirty="0" err="1"/>
              <a:t>từ</a:t>
            </a:r>
            <a:r>
              <a:rPr lang="en-US" dirty="0"/>
              <a:t> Web Server.</a:t>
            </a:r>
          </a:p>
          <a:p>
            <a:r>
              <a:rPr lang="vi-VN" dirty="0"/>
              <a:t>Web Browser: là nơi thể hiện dữ liệu, tập hợp dữ</a:t>
            </a:r>
            <a:r>
              <a:rPr lang="en-US" dirty="0"/>
              <a:t> </a:t>
            </a:r>
            <a:r>
              <a:rPr lang="vi-VN" dirty="0"/>
              <a:t>liệu của người dùng và gởi đến Web Server.</a:t>
            </a:r>
            <a:endParaRPr lang="en-US" dirty="0"/>
          </a:p>
          <a:p>
            <a:r>
              <a:rPr lang="vi-VN" dirty="0"/>
              <a:t>HTTP: </a:t>
            </a:r>
            <a:r>
              <a:rPr lang="en-US" dirty="0" err="1"/>
              <a:t>là</a:t>
            </a:r>
            <a:r>
              <a:rPr lang="en-US" dirty="0"/>
              <a:t> </a:t>
            </a:r>
            <a:r>
              <a:rPr lang="en-US" dirty="0" err="1"/>
              <a:t>chữ</a:t>
            </a:r>
            <a:r>
              <a:rPr lang="en-US" dirty="0"/>
              <a:t> </a:t>
            </a:r>
            <a:r>
              <a:rPr lang="en-US" dirty="0" err="1"/>
              <a:t>viết</a:t>
            </a:r>
            <a:r>
              <a:rPr lang="en-US" dirty="0"/>
              <a:t> </a:t>
            </a:r>
            <a:r>
              <a:rPr lang="en-US" dirty="0" err="1"/>
              <a:t>tắt</a:t>
            </a:r>
            <a:r>
              <a:rPr lang="en-US" dirty="0"/>
              <a:t> </a:t>
            </a:r>
            <a:r>
              <a:rPr lang="en-US" dirty="0" err="1"/>
              <a:t>từ</a:t>
            </a:r>
            <a:r>
              <a:rPr lang="en-US" dirty="0"/>
              <a:t> </a:t>
            </a:r>
            <a:r>
              <a:rPr lang="en-US" dirty="0" err="1"/>
              <a:t>HyperText</a:t>
            </a:r>
            <a:r>
              <a:rPr lang="en-US" dirty="0"/>
              <a:t> Transfer Protocol (</a:t>
            </a:r>
            <a:r>
              <a:rPr lang="en-US" dirty="0" err="1"/>
              <a:t>giao</a:t>
            </a:r>
            <a:r>
              <a:rPr lang="en-US" dirty="0"/>
              <a:t> </a:t>
            </a:r>
            <a:r>
              <a:rPr lang="en-US" dirty="0" err="1"/>
              <a:t>thức</a:t>
            </a:r>
            <a:r>
              <a:rPr lang="en-US" dirty="0"/>
              <a:t> </a:t>
            </a:r>
            <a:r>
              <a:rPr lang="en-US" dirty="0" err="1"/>
              <a:t>truyền</a:t>
            </a:r>
            <a:r>
              <a:rPr lang="en-US" dirty="0"/>
              <a:t> </a:t>
            </a:r>
            <a:r>
              <a:rPr lang="en-US" dirty="0" err="1"/>
              <a:t>tải</a:t>
            </a:r>
            <a:r>
              <a:rPr lang="en-US" dirty="0"/>
              <a:t> </a:t>
            </a:r>
            <a:r>
              <a:rPr lang="en-US" dirty="0" err="1"/>
              <a:t>siêu</a:t>
            </a:r>
            <a:r>
              <a:rPr lang="en-US" dirty="0"/>
              <a:t> </a:t>
            </a:r>
            <a:r>
              <a:rPr lang="en-US" dirty="0" err="1"/>
              <a:t>văn</a:t>
            </a:r>
            <a:r>
              <a:rPr lang="en-US" dirty="0"/>
              <a:t> </a:t>
            </a:r>
            <a:r>
              <a:rPr lang="en-US" dirty="0" err="1"/>
              <a:t>bản</a:t>
            </a:r>
            <a:r>
              <a:rPr lang="en-US" dirty="0"/>
              <a:t>) </a:t>
            </a:r>
            <a:r>
              <a:rPr lang="vi-VN" dirty="0"/>
              <a:t>là một giao thức dùng để trao đổi thông</a:t>
            </a:r>
            <a:r>
              <a:rPr lang="en-US" dirty="0"/>
              <a:t> </a:t>
            </a:r>
            <a:r>
              <a:rPr lang="vi-VN" dirty="0"/>
              <a:t>tin giữa Web Browser với Web Server.</a:t>
            </a:r>
          </a:p>
          <a:p>
            <a:r>
              <a:rPr lang="vi-VN" dirty="0"/>
              <a:t>Hành động gởi nội dung đến Web Server trong</a:t>
            </a:r>
            <a:r>
              <a:rPr lang="en-US" dirty="0"/>
              <a:t> </a:t>
            </a:r>
            <a:r>
              <a:rPr lang="vi-VN" dirty="0"/>
              <a:t>quá trình xử lý thông tin và sau đó Server trả kết</a:t>
            </a:r>
            <a:r>
              <a:rPr lang="en-US" dirty="0"/>
              <a:t> </a:t>
            </a:r>
            <a:r>
              <a:rPr lang="vi-VN" dirty="0"/>
              <a:t>quả về cho Web Browser thì được xem là</a:t>
            </a:r>
            <a:r>
              <a:rPr lang="en-US" dirty="0"/>
              <a:t> </a:t>
            </a:r>
            <a:r>
              <a:rPr lang="vi-VN" dirty="0"/>
              <a:t>Postback</a:t>
            </a:r>
          </a:p>
          <a:p>
            <a:r>
              <a:rPr lang="vi-VN" dirty="0"/>
              <a:t>Ví dụ: các trang đăng nhập website, forum...</a:t>
            </a:r>
            <a:endParaRPr lang="en-US" dirty="0"/>
          </a:p>
        </p:txBody>
      </p:sp>
    </p:spTree>
    <p:extLst>
      <p:ext uri="{BB962C8B-B14F-4D97-AF65-F5344CB8AC3E}">
        <p14:creationId xmlns:p14="http://schemas.microsoft.com/office/powerpoint/2010/main" val="57419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pic>
        <p:nvPicPr>
          <p:cNvPr id="4" name="Content Placeholder 3"/>
          <p:cNvPicPr>
            <a:picLocks noGrp="1" noChangeAspect="1"/>
          </p:cNvPicPr>
          <p:nvPr>
            <p:ph idx="1"/>
          </p:nvPr>
        </p:nvPicPr>
        <p:blipFill>
          <a:blip r:embed="rId2"/>
          <a:stretch>
            <a:fillRect/>
          </a:stretch>
        </p:blipFill>
        <p:spPr>
          <a:xfrm>
            <a:off x="1062981" y="1424316"/>
            <a:ext cx="9295865" cy="4877776"/>
          </a:xfrm>
          <a:prstGeom prst="rect">
            <a:avLst/>
          </a:prstGeom>
        </p:spPr>
      </p:pic>
    </p:spTree>
    <p:extLst>
      <p:ext uri="{BB962C8B-B14F-4D97-AF65-F5344CB8AC3E}">
        <p14:creationId xmlns:p14="http://schemas.microsoft.com/office/powerpoint/2010/main" val="1801823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b="1" dirty="0"/>
          </a:p>
        </p:txBody>
      </p:sp>
      <p:sp>
        <p:nvSpPr>
          <p:cNvPr id="3" name="Content Placeholder 2"/>
          <p:cNvSpPr>
            <a:spLocks noGrp="1"/>
          </p:cNvSpPr>
          <p:nvPr>
            <p:ph idx="1"/>
          </p:nvPr>
        </p:nvSpPr>
        <p:spPr/>
        <p:txBody>
          <a:bodyPr>
            <a:normAutofit/>
          </a:bodyPr>
          <a:lstStyle/>
          <a:p>
            <a:r>
              <a:rPr lang="en-US" dirty="0"/>
              <a:t>URL (Uniform Resource Location): </a:t>
            </a:r>
            <a:r>
              <a:rPr lang="en-US" dirty="0" err="1"/>
              <a:t>đường</a:t>
            </a:r>
            <a:r>
              <a:rPr lang="en-US" dirty="0"/>
              <a:t> </a:t>
            </a:r>
            <a:r>
              <a:rPr lang="en-US" dirty="0" err="1"/>
              <a:t>dẫn</a:t>
            </a:r>
            <a:r>
              <a:rPr lang="en-US" dirty="0"/>
              <a:t> </a:t>
            </a:r>
            <a:r>
              <a:rPr lang="en-US" dirty="0" err="1"/>
              <a:t>đến</a:t>
            </a:r>
            <a:r>
              <a:rPr lang="en-US" dirty="0"/>
              <a:t> </a:t>
            </a:r>
            <a:r>
              <a:rPr lang="en-US" dirty="0" err="1"/>
              <a:t>một</a:t>
            </a:r>
            <a:r>
              <a:rPr lang="en-US" dirty="0"/>
              <a:t> </a:t>
            </a:r>
            <a:r>
              <a:rPr lang="en-US" dirty="0" err="1"/>
              <a:t>trang</a:t>
            </a:r>
            <a:r>
              <a:rPr lang="en-US" dirty="0"/>
              <a:t> Web </a:t>
            </a:r>
            <a:r>
              <a:rPr lang="en-US" dirty="0" err="1"/>
              <a:t>cụ</a:t>
            </a:r>
            <a:r>
              <a:rPr lang="en-US" dirty="0"/>
              <a:t> </a:t>
            </a:r>
            <a:r>
              <a:rPr lang="en-US" dirty="0" err="1"/>
              <a:t>thể</a:t>
            </a:r>
            <a:r>
              <a:rPr lang="en-US" dirty="0"/>
              <a:t> </a:t>
            </a:r>
            <a:r>
              <a:rPr lang="en-US" dirty="0" err="1"/>
              <a:t>trên</a:t>
            </a:r>
            <a:r>
              <a:rPr lang="en-US" dirty="0"/>
              <a:t> Internet</a:t>
            </a:r>
          </a:p>
          <a:p>
            <a:pPr algn="just">
              <a:lnSpc>
                <a:spcPct val="125000"/>
              </a:lnSpc>
              <a:buFont typeface="Wingdings" panose="05000000000000000000" pitchFamily="2" charset="2"/>
              <a:buChar char="§"/>
            </a:pPr>
            <a:r>
              <a:rPr lang="en-US" altLang="en-US" dirty="0" err="1"/>
              <a:t>Mỗi</a:t>
            </a:r>
            <a:r>
              <a:rPr lang="en-US" altLang="en-US" dirty="0"/>
              <a:t> </a:t>
            </a:r>
            <a:r>
              <a:rPr lang="en-US" altLang="en-US" dirty="0" err="1"/>
              <a:t>tài</a:t>
            </a:r>
            <a:r>
              <a:rPr lang="en-US" altLang="en-US" dirty="0"/>
              <a:t> </a:t>
            </a:r>
            <a:r>
              <a:rPr lang="en-US" altLang="en-US" dirty="0" err="1"/>
              <a:t>liệu</a:t>
            </a:r>
            <a:r>
              <a:rPr lang="en-US" altLang="en-US" dirty="0"/>
              <a:t> </a:t>
            </a:r>
            <a:r>
              <a:rPr lang="en-US" altLang="en-US" dirty="0" err="1"/>
              <a:t>hoặc</a:t>
            </a:r>
            <a:r>
              <a:rPr lang="en-US" altLang="en-US" dirty="0"/>
              <a:t> </a:t>
            </a:r>
            <a:r>
              <a:rPr lang="en-US" altLang="en-US" dirty="0" err="1"/>
              <a:t>tệp</a:t>
            </a:r>
            <a:r>
              <a:rPr lang="en-US" altLang="en-US" dirty="0"/>
              <a:t> tin Internet </a:t>
            </a:r>
            <a:r>
              <a:rPr lang="en-US" altLang="en-US" dirty="0" err="1"/>
              <a:t>có</a:t>
            </a:r>
            <a:r>
              <a:rPr lang="en-US" altLang="en-US" dirty="0"/>
              <a:t> </a:t>
            </a:r>
            <a:r>
              <a:rPr lang="en-US" altLang="en-US" dirty="0" err="1"/>
              <a:t>một</a:t>
            </a:r>
            <a:r>
              <a:rPr lang="en-US" altLang="en-US" dirty="0"/>
              <a:t> </a:t>
            </a:r>
            <a:r>
              <a:rPr lang="en-US" altLang="en-US" dirty="0" err="1"/>
              <a:t>địa</a:t>
            </a:r>
            <a:r>
              <a:rPr lang="en-US" altLang="en-US" dirty="0"/>
              <a:t> </a:t>
            </a:r>
            <a:r>
              <a:rPr lang="en-US" altLang="en-US" dirty="0" err="1"/>
              <a:t>chỉ</a:t>
            </a:r>
            <a:r>
              <a:rPr lang="en-US" altLang="en-US" dirty="0"/>
              <a:t> </a:t>
            </a:r>
            <a:r>
              <a:rPr lang="en-US" altLang="en-US" dirty="0" err="1"/>
              <a:t>duy</a:t>
            </a:r>
            <a:r>
              <a:rPr lang="en-US" altLang="en-US" dirty="0"/>
              <a:t> </a:t>
            </a:r>
            <a:r>
              <a:rPr lang="en-US" altLang="en-US" dirty="0" err="1"/>
              <a:t>nhất</a:t>
            </a:r>
            <a:endParaRPr lang="en-US" altLang="en-US" dirty="0"/>
          </a:p>
          <a:p>
            <a:pPr algn="just">
              <a:lnSpc>
                <a:spcPct val="125000"/>
              </a:lnSpc>
              <a:buFont typeface="Wingdings" panose="05000000000000000000" pitchFamily="2" charset="2"/>
              <a:buChar char="§"/>
            </a:pPr>
            <a:r>
              <a:rPr lang="en-US" altLang="en-US" dirty="0"/>
              <a:t>URL </a:t>
            </a:r>
            <a:r>
              <a:rPr lang="en-US" altLang="en-US" dirty="0" err="1"/>
              <a:t>gồm</a:t>
            </a:r>
            <a:r>
              <a:rPr lang="en-US" altLang="en-US" dirty="0"/>
              <a:t> </a:t>
            </a:r>
            <a:r>
              <a:rPr lang="en-US" altLang="en-US" dirty="0" err="1"/>
              <a:t>ba</a:t>
            </a:r>
            <a:r>
              <a:rPr lang="en-US" altLang="en-US" dirty="0"/>
              <a:t> </a:t>
            </a:r>
            <a:r>
              <a:rPr lang="en-US" altLang="en-US" dirty="0" err="1"/>
              <a:t>phần</a:t>
            </a:r>
            <a:r>
              <a:rPr lang="en-US" altLang="en-US" dirty="0"/>
              <a:t>:</a:t>
            </a:r>
          </a:p>
          <a:p>
            <a:pPr lvl="1" algn="just">
              <a:lnSpc>
                <a:spcPct val="125000"/>
              </a:lnSpc>
              <a:buSzPct val="75000"/>
            </a:pPr>
            <a:r>
              <a:rPr lang="en-US" altLang="en-US" dirty="0" err="1"/>
              <a:t>Giao</a:t>
            </a:r>
            <a:r>
              <a:rPr lang="en-US" altLang="en-US" dirty="0"/>
              <a:t> </a:t>
            </a:r>
            <a:r>
              <a:rPr lang="en-US" altLang="en-US" dirty="0" err="1"/>
              <a:t>thức</a:t>
            </a:r>
            <a:r>
              <a:rPr lang="en-US" altLang="en-US" dirty="0"/>
              <a:t> – </a:t>
            </a:r>
            <a:r>
              <a:rPr lang="en-US" altLang="en-US" dirty="0" err="1"/>
              <a:t>cho</a:t>
            </a:r>
            <a:r>
              <a:rPr lang="en-US" altLang="en-US" dirty="0"/>
              <a:t> </a:t>
            </a:r>
            <a:r>
              <a:rPr lang="en-US" altLang="en-US" dirty="0" err="1"/>
              <a:t>phép</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hiểu</a:t>
            </a:r>
            <a:r>
              <a:rPr lang="en-US" altLang="en-US" dirty="0"/>
              <a:t> </a:t>
            </a:r>
            <a:r>
              <a:rPr lang="en-US" altLang="en-US" dirty="0" err="1"/>
              <a:t>cách</a:t>
            </a:r>
            <a:r>
              <a:rPr lang="en-US" altLang="en-US" dirty="0"/>
              <a:t> </a:t>
            </a:r>
            <a:r>
              <a:rPr lang="en-US" altLang="en-US" dirty="0" err="1"/>
              <a:t>xử</a:t>
            </a:r>
            <a:r>
              <a:rPr lang="en-US" altLang="en-US" dirty="0"/>
              <a:t> </a:t>
            </a:r>
            <a:r>
              <a:rPr lang="en-US" altLang="en-US" dirty="0" err="1"/>
              <a:t>lý</a:t>
            </a:r>
            <a:r>
              <a:rPr lang="en-US" altLang="en-US" dirty="0"/>
              <a:t> </a:t>
            </a:r>
            <a:r>
              <a:rPr lang="en-US" altLang="en-US" dirty="0" err="1"/>
              <a:t>thông</a:t>
            </a:r>
            <a:r>
              <a:rPr lang="en-US" altLang="en-US" dirty="0"/>
              <a:t> tin </a:t>
            </a:r>
            <a:r>
              <a:rPr lang="en-US" altLang="en-US" dirty="0" err="1"/>
              <a:t>mà</a:t>
            </a:r>
            <a:r>
              <a:rPr lang="en-US" altLang="en-US" dirty="0"/>
              <a:t> </a:t>
            </a:r>
            <a:r>
              <a:rPr lang="en-US" altLang="en-US" dirty="0" err="1"/>
              <a:t>nó</a:t>
            </a:r>
            <a:r>
              <a:rPr lang="en-US" altLang="en-US" dirty="0"/>
              <a:t> </a:t>
            </a:r>
            <a:r>
              <a:rPr lang="en-US" altLang="en-US" dirty="0" err="1"/>
              <a:t>nhận</a:t>
            </a:r>
            <a:r>
              <a:rPr lang="en-US" altLang="en-US" dirty="0"/>
              <a:t> </a:t>
            </a:r>
            <a:r>
              <a:rPr lang="en-US" altLang="en-US" dirty="0" err="1"/>
              <a:t>được</a:t>
            </a:r>
            <a:endParaRPr lang="en-US" altLang="en-US" dirty="0"/>
          </a:p>
          <a:p>
            <a:pPr lvl="1" algn="just">
              <a:lnSpc>
                <a:spcPct val="125000"/>
              </a:lnSpc>
              <a:buSzPct val="75000"/>
            </a:pPr>
            <a:r>
              <a:rPr lang="en-US" altLang="en-US" dirty="0" err="1"/>
              <a:t>Tên</a:t>
            </a:r>
            <a:r>
              <a:rPr lang="en-US" altLang="en-US" dirty="0"/>
              <a:t> </a:t>
            </a:r>
            <a:r>
              <a:rPr lang="en-US" altLang="en-US" dirty="0" err="1"/>
              <a:t>miền</a:t>
            </a:r>
            <a:r>
              <a:rPr lang="en-US" altLang="en-US" dirty="0"/>
              <a:t> – </a:t>
            </a:r>
            <a:r>
              <a:rPr lang="en-US" altLang="en-US" dirty="0" err="1"/>
              <a:t>địa</a:t>
            </a:r>
            <a:r>
              <a:rPr lang="en-US" altLang="en-US" dirty="0"/>
              <a:t> </a:t>
            </a:r>
            <a:r>
              <a:rPr lang="en-US" altLang="en-US" dirty="0" err="1"/>
              <a:t>chỉ</a:t>
            </a:r>
            <a:r>
              <a:rPr lang="en-US" altLang="en-US" dirty="0"/>
              <a:t> Internet </a:t>
            </a:r>
            <a:r>
              <a:rPr lang="en-US" altLang="en-US" dirty="0" err="1"/>
              <a:t>của</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lưu</a:t>
            </a:r>
            <a:r>
              <a:rPr lang="en-US" altLang="en-US" dirty="0"/>
              <a:t> website </a:t>
            </a:r>
            <a:r>
              <a:rPr lang="en-US" altLang="en-US" dirty="0" err="1"/>
              <a:t>và</a:t>
            </a:r>
            <a:r>
              <a:rPr lang="en-US" altLang="en-US" dirty="0"/>
              <a:t> </a:t>
            </a:r>
            <a:r>
              <a:rPr lang="en-US" altLang="en-US" dirty="0" err="1"/>
              <a:t>tài</a:t>
            </a:r>
            <a:r>
              <a:rPr lang="en-US" altLang="en-US" dirty="0"/>
              <a:t> </a:t>
            </a:r>
            <a:r>
              <a:rPr lang="en-US" altLang="en-US" dirty="0" err="1"/>
              <a:t>liệu</a:t>
            </a:r>
            <a:r>
              <a:rPr lang="en-US" altLang="en-US" dirty="0"/>
              <a:t> </a:t>
            </a:r>
            <a:r>
              <a:rPr lang="en-US" altLang="en-US" dirty="0" err="1"/>
              <a:t>đó</a:t>
            </a:r>
            <a:endParaRPr lang="en-US" altLang="en-US" dirty="0"/>
          </a:p>
          <a:p>
            <a:pPr lvl="1" algn="just">
              <a:lnSpc>
                <a:spcPct val="125000"/>
              </a:lnSpc>
              <a:buSzPct val="75000"/>
            </a:pPr>
            <a:r>
              <a:rPr lang="en-US" altLang="en-US" dirty="0" err="1"/>
              <a:t>Đường</a:t>
            </a:r>
            <a:r>
              <a:rPr lang="en-US" altLang="en-US" dirty="0"/>
              <a:t> </a:t>
            </a:r>
            <a:r>
              <a:rPr lang="en-US" altLang="en-US" dirty="0" err="1"/>
              <a:t>dẫn</a:t>
            </a:r>
            <a:r>
              <a:rPr lang="en-US" altLang="en-US" dirty="0"/>
              <a:t> – </a:t>
            </a:r>
            <a:r>
              <a:rPr lang="en-US" altLang="en-US" dirty="0" err="1"/>
              <a:t>cho</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biết</a:t>
            </a:r>
            <a:r>
              <a:rPr lang="en-US" altLang="en-US" dirty="0"/>
              <a:t> </a:t>
            </a:r>
            <a:r>
              <a:rPr lang="en-US" altLang="en-US" dirty="0" err="1"/>
              <a:t>thư</a:t>
            </a:r>
            <a:r>
              <a:rPr lang="en-US" altLang="en-US" dirty="0"/>
              <a:t> </a:t>
            </a:r>
            <a:r>
              <a:rPr lang="en-US" altLang="en-US" dirty="0" err="1"/>
              <a:t>mục</a:t>
            </a:r>
            <a:r>
              <a:rPr lang="en-US" altLang="en-US" dirty="0"/>
              <a:t> </a:t>
            </a:r>
            <a:r>
              <a:rPr lang="en-US" altLang="en-US" dirty="0" err="1"/>
              <a:t>và</a:t>
            </a:r>
            <a:r>
              <a:rPr lang="en-US" altLang="en-US" dirty="0"/>
              <a:t> </a:t>
            </a:r>
            <a:r>
              <a:rPr lang="en-US" altLang="en-US" dirty="0" err="1"/>
              <a:t>tệp</a:t>
            </a:r>
            <a:r>
              <a:rPr lang="en-US" altLang="en-US" dirty="0"/>
              <a:t> tin </a:t>
            </a:r>
            <a:r>
              <a:rPr lang="en-US" altLang="en-US" dirty="0" err="1"/>
              <a:t>để</a:t>
            </a:r>
            <a:r>
              <a:rPr lang="en-US" altLang="en-US" dirty="0"/>
              <a:t> </a:t>
            </a:r>
            <a:r>
              <a:rPr lang="en-US" altLang="en-US" dirty="0" err="1"/>
              <a:t>truy</a:t>
            </a:r>
            <a:r>
              <a:rPr lang="en-US" altLang="en-US" dirty="0"/>
              <a:t> </a:t>
            </a:r>
            <a:r>
              <a:rPr lang="en-US" altLang="en-US" dirty="0" err="1"/>
              <a:t>cập</a:t>
            </a:r>
            <a:endParaRPr lang="en-US" altLang="en-US" dirty="0"/>
          </a:p>
          <a:p>
            <a:endParaRPr lang="en-US" dirty="0"/>
          </a:p>
        </p:txBody>
      </p:sp>
    </p:spTree>
    <p:extLst>
      <p:ext uri="{BB962C8B-B14F-4D97-AF65-F5344CB8AC3E}">
        <p14:creationId xmlns:p14="http://schemas.microsoft.com/office/powerpoint/2010/main" val="3623517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le 1"/>
          <p:cNvSpPr>
            <a:spLocks noGrp="1"/>
          </p:cNvSpPr>
          <p:nvPr>
            <p:ph type="title"/>
          </p:nvPr>
        </p:nvSpPr>
        <p:spPr>
          <a:xfrm>
            <a:off x="838200" y="196850"/>
            <a:ext cx="10515600" cy="106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r>
              <a:rPr lang="en-US" dirty="0"/>
              <a:t>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altLang="en-US" b="1" dirty="0"/>
          </a:p>
        </p:txBody>
      </p:sp>
      <p:sp>
        <p:nvSpPr>
          <p:cNvPr id="33796" name="Content Placeholder 2"/>
          <p:cNvSpPr>
            <a:spLocks noGrp="1"/>
          </p:cNvSpPr>
          <p:nvPr>
            <p:ph idx="1"/>
          </p:nvPr>
        </p:nvSpPr>
        <p:spPr/>
        <p:txBody>
          <a:bodyPr/>
          <a:lstStyle/>
          <a:p>
            <a:pPr algn="just">
              <a:lnSpc>
                <a:spcPct val="125000"/>
              </a:lnSpc>
              <a:buFont typeface="Wingdings" panose="05000000000000000000" pitchFamily="2" charset="2"/>
              <a:buChar char="§"/>
            </a:pPr>
            <a:endParaRPr lang="en-US" altLang="en-US" sz="3200" dirty="0"/>
          </a:p>
        </p:txBody>
      </p:sp>
      <p:sp>
        <p:nvSpPr>
          <p:cNvPr id="33794" name="Rectangle 18"/>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ð"/>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ü"/>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9pPr>
          </a:lstStyle>
          <a:p>
            <a:pPr>
              <a:spcBef>
                <a:spcPct val="0"/>
              </a:spcBef>
              <a:buFontTx/>
              <a:buNone/>
            </a:pPr>
            <a:fld id="{4DACD4A6-CD6D-4B27-81F9-044A89C26D7A}" type="slidenum">
              <a:rPr lang="en-US" altLang="en-US" sz="1400">
                <a:solidFill>
                  <a:schemeClr val="tx2"/>
                </a:solidFill>
                <a:latin typeface="Calibri" panose="020F0502020204030204" pitchFamily="34" charset="0"/>
              </a:rPr>
              <a:pPr>
                <a:spcBef>
                  <a:spcPct val="0"/>
                </a:spcBef>
                <a:buFontTx/>
                <a:buNone/>
              </a:pPr>
              <a:t>19</a:t>
            </a:fld>
            <a:endParaRPr lang="en-US" altLang="en-US" sz="1400">
              <a:solidFill>
                <a:schemeClr val="tx2"/>
              </a:solidFill>
              <a:latin typeface="Calibri" panose="020F0502020204030204" pitchFamily="34" charset="0"/>
            </a:endParaRPr>
          </a:p>
        </p:txBody>
      </p:sp>
      <p:sp>
        <p:nvSpPr>
          <p:cNvPr id="33797" name="Rectangle 4"/>
          <p:cNvSpPr>
            <a:spLocks noChangeArrowheads="1"/>
          </p:cNvSpPr>
          <p:nvPr/>
        </p:nvSpPr>
        <p:spPr bwMode="auto">
          <a:xfrm>
            <a:off x="1676400" y="1295400"/>
            <a:ext cx="8763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ð"/>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ü"/>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9pPr>
          </a:lstStyle>
          <a:p>
            <a:endParaRPr lang="en-US" altLang="en-US"/>
          </a:p>
          <a:p>
            <a:endParaRPr lang="en-US" altLang="en-US"/>
          </a:p>
          <a:p>
            <a:endParaRPr lang="en-US" altLang="en-US"/>
          </a:p>
          <a:p>
            <a:endParaRPr lang="en-US" altLang="en-US"/>
          </a:p>
          <a:p>
            <a:endParaRPr lang="en-US" altLang="en-US" sz="1800"/>
          </a:p>
          <a:p>
            <a:pPr>
              <a:buFont typeface="Wingdings" panose="05000000000000000000" pitchFamily="2" charset="2"/>
              <a:buChar char="§"/>
            </a:pPr>
            <a:r>
              <a:rPr lang="en-US" altLang="en-US" sz="2800"/>
              <a:t>http://www.amazon.com/books/children.html</a:t>
            </a:r>
          </a:p>
        </p:txBody>
      </p:sp>
      <p:sp>
        <p:nvSpPr>
          <p:cNvPr id="33798" name="Rectangle 5"/>
          <p:cNvSpPr>
            <a:spLocks noChangeArrowheads="1"/>
          </p:cNvSpPr>
          <p:nvPr/>
        </p:nvSpPr>
        <p:spPr bwMode="auto">
          <a:xfrm>
            <a:off x="1828800" y="1371600"/>
            <a:ext cx="3886200" cy="533400"/>
          </a:xfrm>
          <a:prstGeom prst="rect">
            <a:avLst/>
          </a:prstGeom>
          <a:solidFill>
            <a:schemeClr val="accent1"/>
          </a:solidFill>
          <a:ln w="12700">
            <a:solidFill>
              <a:schemeClr val="tx1"/>
            </a:solidFill>
            <a:miter lim="800000"/>
            <a:headEnd/>
            <a:tailEnd/>
          </a:ln>
        </p:spPr>
        <p:txBody>
          <a:bodyPr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ð"/>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ü"/>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800"/>
              <a:t>Địa chỉ máy chủ Internet sử dụng giao thức truyền tệp</a:t>
            </a:r>
          </a:p>
        </p:txBody>
      </p:sp>
      <p:sp>
        <p:nvSpPr>
          <p:cNvPr id="33799" name="Rectangle 6"/>
          <p:cNvSpPr>
            <a:spLocks noChangeArrowheads="1"/>
          </p:cNvSpPr>
          <p:nvPr/>
        </p:nvSpPr>
        <p:spPr bwMode="auto">
          <a:xfrm>
            <a:off x="1981200" y="5638800"/>
            <a:ext cx="3124200" cy="609600"/>
          </a:xfrm>
          <a:prstGeom prst="rect">
            <a:avLst/>
          </a:prstGeom>
          <a:solidFill>
            <a:schemeClr val="accent1"/>
          </a:solidFill>
          <a:ln w="12700">
            <a:solidFill>
              <a:schemeClr val="tx1"/>
            </a:solidFill>
            <a:miter lim="800000"/>
            <a:headEnd/>
            <a:tailEnd/>
          </a:ln>
        </p:spPr>
        <p:txBody>
          <a:bodyPr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ð"/>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ü"/>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t>Cho biết site này là một phần của World Wide Web</a:t>
            </a:r>
          </a:p>
        </p:txBody>
      </p:sp>
      <p:sp>
        <p:nvSpPr>
          <p:cNvPr id="33800" name="Rectangle 7"/>
          <p:cNvSpPr>
            <a:spLocks noChangeArrowheads="1"/>
          </p:cNvSpPr>
          <p:nvPr/>
        </p:nvSpPr>
        <p:spPr bwMode="auto">
          <a:xfrm>
            <a:off x="3200400" y="2286000"/>
            <a:ext cx="1905000" cy="457200"/>
          </a:xfrm>
          <a:prstGeom prst="rect">
            <a:avLst/>
          </a:prstGeom>
          <a:solidFill>
            <a:schemeClr val="accent1"/>
          </a:solidFill>
          <a:ln w="12700">
            <a:solidFill>
              <a:schemeClr val="tx1"/>
            </a:solidFill>
            <a:miter lim="800000"/>
            <a:headEnd/>
            <a:tailEnd/>
          </a:ln>
        </p:spPr>
        <p:txBody>
          <a:bodyPr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ð"/>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ü"/>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t>Tên miền thứ hai</a:t>
            </a:r>
          </a:p>
        </p:txBody>
      </p:sp>
      <p:sp>
        <p:nvSpPr>
          <p:cNvPr id="33801" name="Rectangle 8"/>
          <p:cNvSpPr>
            <a:spLocks noChangeArrowheads="1"/>
          </p:cNvSpPr>
          <p:nvPr/>
        </p:nvSpPr>
        <p:spPr bwMode="auto">
          <a:xfrm>
            <a:off x="4648200" y="4876800"/>
            <a:ext cx="2819400" cy="457200"/>
          </a:xfrm>
          <a:prstGeom prst="rect">
            <a:avLst/>
          </a:prstGeom>
          <a:solidFill>
            <a:schemeClr val="accent1"/>
          </a:solidFill>
          <a:ln w="12700">
            <a:solidFill>
              <a:schemeClr val="tx1"/>
            </a:solidFill>
            <a:miter lim="800000"/>
            <a:headEnd/>
            <a:tailEnd/>
          </a:ln>
        </p:spPr>
        <p:txBody>
          <a:bodyPr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ð"/>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ü"/>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t>Thư mục nơi chứa trang web</a:t>
            </a:r>
          </a:p>
        </p:txBody>
      </p:sp>
      <p:sp>
        <p:nvSpPr>
          <p:cNvPr id="33802" name="Rectangle 9"/>
          <p:cNvSpPr>
            <a:spLocks noChangeArrowheads="1"/>
          </p:cNvSpPr>
          <p:nvPr/>
        </p:nvSpPr>
        <p:spPr bwMode="auto">
          <a:xfrm>
            <a:off x="5715000" y="2514600"/>
            <a:ext cx="2362200" cy="457200"/>
          </a:xfrm>
          <a:prstGeom prst="rect">
            <a:avLst/>
          </a:prstGeom>
          <a:solidFill>
            <a:schemeClr val="accent1"/>
          </a:solidFill>
          <a:ln w="12700">
            <a:solidFill>
              <a:schemeClr val="tx1"/>
            </a:solidFill>
            <a:miter lim="800000"/>
            <a:headEnd/>
            <a:tailEnd/>
          </a:ln>
        </p:spPr>
        <p:txBody>
          <a:bodyPr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ð"/>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ü"/>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t>Tên miền cấp cao cho biết đây là site thương mại</a:t>
            </a:r>
          </a:p>
        </p:txBody>
      </p:sp>
      <p:sp>
        <p:nvSpPr>
          <p:cNvPr id="33803" name="Rectangle 10"/>
          <p:cNvSpPr>
            <a:spLocks noChangeArrowheads="1"/>
          </p:cNvSpPr>
          <p:nvPr/>
        </p:nvSpPr>
        <p:spPr bwMode="auto">
          <a:xfrm>
            <a:off x="8153400" y="4724400"/>
            <a:ext cx="2057400" cy="457200"/>
          </a:xfrm>
          <a:prstGeom prst="rect">
            <a:avLst/>
          </a:prstGeom>
          <a:solidFill>
            <a:schemeClr val="accent1"/>
          </a:solidFill>
          <a:ln w="12700">
            <a:solidFill>
              <a:schemeClr val="tx1"/>
            </a:solidFill>
            <a:miter lim="800000"/>
            <a:headEnd/>
            <a:tailEnd/>
          </a:ln>
        </p:spPr>
        <p:txBody>
          <a:bodyPr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ð"/>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ü"/>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t>Trang web thực tế</a:t>
            </a:r>
          </a:p>
        </p:txBody>
      </p:sp>
      <p:sp>
        <p:nvSpPr>
          <p:cNvPr id="33804" name="Rectangle 11"/>
          <p:cNvSpPr>
            <a:spLocks noChangeArrowheads="1"/>
          </p:cNvSpPr>
          <p:nvPr/>
        </p:nvSpPr>
        <p:spPr bwMode="auto">
          <a:xfrm>
            <a:off x="7924800" y="1905000"/>
            <a:ext cx="1600200" cy="457200"/>
          </a:xfrm>
          <a:prstGeom prst="rect">
            <a:avLst/>
          </a:prstGeom>
          <a:solidFill>
            <a:schemeClr val="accent1"/>
          </a:solidFill>
          <a:ln w="12700">
            <a:solidFill>
              <a:schemeClr val="tx1"/>
            </a:solidFill>
            <a:miter lim="800000"/>
            <a:headEnd/>
            <a:tailEnd/>
          </a:ln>
        </p:spPr>
        <p:txBody>
          <a:bodyPr anchor="ctr"/>
          <a:lstStyle>
            <a:lvl1pPr>
              <a:spcBef>
                <a:spcPct val="20000"/>
              </a:spcBef>
              <a:buChar char="•"/>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ð"/>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ü"/>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è"/>
              <a:defRPr sz="14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400"/>
              <a:t>Loại tệp tin</a:t>
            </a:r>
          </a:p>
        </p:txBody>
      </p:sp>
      <p:sp>
        <p:nvSpPr>
          <p:cNvPr id="33805" name="Line 12"/>
          <p:cNvSpPr>
            <a:spLocks noChangeShapeType="1"/>
          </p:cNvSpPr>
          <p:nvPr/>
        </p:nvSpPr>
        <p:spPr bwMode="auto">
          <a:xfrm flipH="1">
            <a:off x="2438400" y="1905000"/>
            <a:ext cx="76200" cy="1600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06" name="Line 13"/>
          <p:cNvSpPr>
            <a:spLocks noChangeShapeType="1"/>
          </p:cNvSpPr>
          <p:nvPr/>
        </p:nvSpPr>
        <p:spPr bwMode="auto">
          <a:xfrm flipV="1">
            <a:off x="3276600" y="3810000"/>
            <a:ext cx="0" cy="1828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07" name="Line 14"/>
          <p:cNvSpPr>
            <a:spLocks noChangeShapeType="1"/>
          </p:cNvSpPr>
          <p:nvPr/>
        </p:nvSpPr>
        <p:spPr bwMode="auto">
          <a:xfrm>
            <a:off x="4267200" y="2743200"/>
            <a:ext cx="0" cy="762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08" name="Line 15"/>
          <p:cNvSpPr>
            <a:spLocks noChangeShapeType="1"/>
          </p:cNvSpPr>
          <p:nvPr/>
        </p:nvSpPr>
        <p:spPr bwMode="auto">
          <a:xfrm flipH="1">
            <a:off x="5562600" y="2971800"/>
            <a:ext cx="1295400" cy="533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09" name="Line 16"/>
          <p:cNvSpPr>
            <a:spLocks noChangeShapeType="1"/>
          </p:cNvSpPr>
          <p:nvPr/>
        </p:nvSpPr>
        <p:spPr bwMode="auto">
          <a:xfrm flipV="1">
            <a:off x="6400800" y="3810000"/>
            <a:ext cx="0" cy="1066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10" name="Line 17"/>
          <p:cNvSpPr>
            <a:spLocks noChangeShapeType="1"/>
          </p:cNvSpPr>
          <p:nvPr/>
        </p:nvSpPr>
        <p:spPr bwMode="auto">
          <a:xfrm flipH="1" flipV="1">
            <a:off x="7772400" y="3810000"/>
            <a:ext cx="1066800" cy="914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11" name="Line 18"/>
          <p:cNvSpPr>
            <a:spLocks noChangeShapeType="1"/>
          </p:cNvSpPr>
          <p:nvPr/>
        </p:nvSpPr>
        <p:spPr bwMode="auto">
          <a:xfrm>
            <a:off x="8763000" y="2362200"/>
            <a:ext cx="0" cy="1143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527213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Một</a:t>
            </a:r>
            <a:r>
              <a:rPr lang="en-US" dirty="0"/>
              <a:t> </a:t>
            </a:r>
            <a:r>
              <a:rPr lang="en-US" dirty="0" err="1"/>
              <a:t>số</a:t>
            </a:r>
            <a:r>
              <a:rPr lang="en-US" dirty="0"/>
              <a:t> </a:t>
            </a:r>
            <a:r>
              <a:rPr lang="en-US" dirty="0" err="1"/>
              <a:t>khái</a:t>
            </a:r>
            <a:r>
              <a:rPr lang="en-US" dirty="0"/>
              <a:t> </a:t>
            </a:r>
            <a:r>
              <a:rPr lang="en-US" dirty="0" err="1"/>
              <a:t>niệm</a:t>
            </a:r>
            <a:endParaRPr lang="en-US" dirty="0"/>
          </a:p>
        </p:txBody>
      </p:sp>
      <p:sp>
        <p:nvSpPr>
          <p:cNvPr id="3" name="Content Placeholder 2"/>
          <p:cNvSpPr>
            <a:spLocks noGrp="1"/>
          </p:cNvSpPr>
          <p:nvPr>
            <p:ph idx="1"/>
          </p:nvPr>
        </p:nvSpPr>
        <p:spPr/>
        <p:txBody>
          <a:bodyPr/>
          <a:lstStyle/>
          <a:p>
            <a:r>
              <a:rPr lang="en-US" dirty="0"/>
              <a:t>HTML </a:t>
            </a:r>
            <a:r>
              <a:rPr lang="vi-VN" dirty="0"/>
              <a:t>(HyperText Markup Language): là ngôn ngữ đánh dấu siêu văn bản được sử dụng để tạo các trang web, nó chứa các trang văn bản và các thẻ (tags) để báo cho trình duyệt biết làm thế nào để thể hiện các thông tin trên  World Wide Web. HTML là một chuẩn được tổ chức W3C duy trì.</a:t>
            </a:r>
            <a:endParaRPr lang="en-US" dirty="0"/>
          </a:p>
        </p:txBody>
      </p:sp>
    </p:spTree>
    <p:extLst>
      <p:ext uri="{BB962C8B-B14F-4D97-AF65-F5344CB8AC3E}">
        <p14:creationId xmlns:p14="http://schemas.microsoft.com/office/powerpoint/2010/main" val="4115617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Cơ</a:t>
            </a:r>
            <a:r>
              <a:rPr lang="en-US" dirty="0"/>
              <a:t> </a:t>
            </a:r>
            <a:r>
              <a:rPr lang="en-US" dirty="0" err="1"/>
              <a:t>bản</a:t>
            </a:r>
            <a:r>
              <a:rPr lang="en-US" dirty="0"/>
              <a:t> </a:t>
            </a:r>
            <a:r>
              <a:rPr lang="en-US" dirty="0" err="1"/>
              <a:t>về</a:t>
            </a:r>
            <a:r>
              <a:rPr lang="en-US" dirty="0"/>
              <a:t> Web </a:t>
            </a:r>
            <a:r>
              <a:rPr lang="en-US" dirty="0" err="1"/>
              <a:t>động</a:t>
            </a:r>
            <a:endParaRPr lang="en-US" dirty="0"/>
          </a:p>
        </p:txBody>
      </p:sp>
      <p:sp>
        <p:nvSpPr>
          <p:cNvPr id="3" name="Content Placeholder 2"/>
          <p:cNvSpPr>
            <a:spLocks noGrp="1"/>
          </p:cNvSpPr>
          <p:nvPr>
            <p:ph idx="1"/>
          </p:nvPr>
        </p:nvSpPr>
        <p:spPr/>
        <p:txBody>
          <a:bodyPr/>
          <a:lstStyle/>
          <a:p>
            <a:r>
              <a:rPr lang="en-US" dirty="0" err="1"/>
              <a:t>Khái</a:t>
            </a:r>
            <a:r>
              <a:rPr lang="en-US" dirty="0"/>
              <a:t> </a:t>
            </a:r>
            <a:r>
              <a:rPr lang="en-US" dirty="0" err="1"/>
              <a:t>niệm</a:t>
            </a:r>
            <a:r>
              <a:rPr lang="en-US" dirty="0"/>
              <a:t> Web </a:t>
            </a:r>
            <a:r>
              <a:rPr lang="en-US" dirty="0" err="1"/>
              <a:t>động</a:t>
            </a:r>
            <a:endParaRPr lang="en-US" dirty="0"/>
          </a:p>
          <a:p>
            <a:r>
              <a:rPr lang="en-US" dirty="0" err="1"/>
              <a:t>Ưu</a:t>
            </a:r>
            <a:r>
              <a:rPr lang="en-US" dirty="0"/>
              <a:t> </a:t>
            </a:r>
            <a:r>
              <a:rPr lang="en-US" dirty="0" err="1"/>
              <a:t>điểm</a:t>
            </a:r>
            <a:endParaRPr lang="en-US" dirty="0"/>
          </a:p>
          <a:p>
            <a:r>
              <a:rPr lang="en-US" dirty="0" err="1"/>
              <a:t>Nhược</a:t>
            </a:r>
            <a:r>
              <a:rPr lang="en-US" dirty="0"/>
              <a:t> </a:t>
            </a:r>
            <a:r>
              <a:rPr lang="en-US" dirty="0" err="1"/>
              <a:t>điểm</a:t>
            </a:r>
            <a:endParaRPr lang="en-US" dirty="0"/>
          </a:p>
          <a:p>
            <a:r>
              <a:rPr lang="en-US" dirty="0"/>
              <a:t>So </a:t>
            </a:r>
            <a:r>
              <a:rPr lang="en-US" dirty="0" err="1"/>
              <a:t>sánh</a:t>
            </a:r>
            <a:r>
              <a:rPr lang="en-US" dirty="0"/>
              <a:t> </a:t>
            </a:r>
            <a:r>
              <a:rPr lang="en-US" dirty="0" err="1"/>
              <a:t>với</a:t>
            </a:r>
            <a:r>
              <a:rPr lang="en-US" dirty="0"/>
              <a:t> Web </a:t>
            </a:r>
            <a:r>
              <a:rPr lang="en-US" dirty="0" err="1"/>
              <a:t>tĩnh</a:t>
            </a:r>
            <a:endParaRPr lang="en-US" dirty="0"/>
          </a:p>
        </p:txBody>
      </p:sp>
    </p:spTree>
    <p:extLst>
      <p:ext uri="{BB962C8B-B14F-4D97-AF65-F5344CB8AC3E}">
        <p14:creationId xmlns:p14="http://schemas.microsoft.com/office/powerpoint/2010/main" val="3352441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Cơ</a:t>
            </a:r>
            <a:r>
              <a:rPr lang="en-US" dirty="0"/>
              <a:t> </a:t>
            </a:r>
            <a:r>
              <a:rPr lang="en-US" dirty="0" err="1"/>
              <a:t>bản</a:t>
            </a:r>
            <a:r>
              <a:rPr lang="en-US" dirty="0"/>
              <a:t> </a:t>
            </a:r>
            <a:r>
              <a:rPr lang="en-US" dirty="0" err="1"/>
              <a:t>về</a:t>
            </a:r>
            <a:r>
              <a:rPr lang="en-US" dirty="0"/>
              <a:t> Web </a:t>
            </a:r>
            <a:r>
              <a:rPr lang="en-US" dirty="0" err="1"/>
              <a:t>động</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a:t>Khái</a:t>
            </a:r>
            <a:r>
              <a:rPr lang="en-US" dirty="0"/>
              <a:t> </a:t>
            </a:r>
            <a:r>
              <a:rPr lang="en-US" dirty="0" err="1"/>
              <a:t>niệm</a:t>
            </a:r>
            <a:endParaRPr lang="en-US" dirty="0"/>
          </a:p>
          <a:p>
            <a:pPr lvl="1"/>
            <a:r>
              <a:rPr lang="vi-VN" dirty="0"/>
              <a:t>Web động là thuật ngữ dùng để chỉ các website được xây dựng sử dụng các hệ quản trị CSDL để lưu trữ thông tin</a:t>
            </a:r>
            <a:endParaRPr lang="en-US" dirty="0"/>
          </a:p>
          <a:p>
            <a:r>
              <a:rPr lang="vi-VN" dirty="0"/>
              <a:t>Web động, thực hiện tạo nội dung trả lại cho người dùng dựa trên yêu cầu các tham số do người dùng truyền vào trên thanh địa chỉ của trình duyệt (các địa chỉ này cũng được tạo động bởi website). Dựa vào các tham số nhận được, máy chủ web làm nhiệm vụ truy vấn thông tin trong cơ sở dữ liệu, tạo trang web động và trả lại cho người sử dụng.</a:t>
            </a:r>
            <a:endParaRPr lang="en-US" dirty="0"/>
          </a:p>
          <a:p>
            <a:r>
              <a:rPr lang="en-US" dirty="0" err="1"/>
              <a:t>Dùng</a:t>
            </a:r>
            <a:r>
              <a:rPr lang="en-US" dirty="0"/>
              <a:t> </a:t>
            </a:r>
            <a:r>
              <a:rPr lang="en-US" dirty="0" err="1"/>
              <a:t>ngôn</a:t>
            </a:r>
            <a:r>
              <a:rPr lang="en-US" dirty="0"/>
              <a:t> </a:t>
            </a:r>
            <a:r>
              <a:rPr lang="en-US" dirty="0" err="1"/>
              <a:t>ngữ</a:t>
            </a:r>
            <a:r>
              <a:rPr lang="en-US" dirty="0"/>
              <a:t> Server-side script </a:t>
            </a:r>
            <a:r>
              <a:rPr lang="en-US" dirty="0" err="1"/>
              <a:t>để</a:t>
            </a:r>
            <a:r>
              <a:rPr lang="en-US" dirty="0"/>
              <a:t> </a:t>
            </a:r>
            <a:r>
              <a:rPr lang="en-US" dirty="0" err="1"/>
              <a:t>xử</a:t>
            </a:r>
            <a:r>
              <a:rPr lang="en-US" dirty="0"/>
              <a:t> </a:t>
            </a:r>
            <a:r>
              <a:rPr lang="en-US" dirty="0" err="1"/>
              <a:t>lý</a:t>
            </a:r>
            <a:endParaRPr lang="en-US" dirty="0"/>
          </a:p>
          <a:p>
            <a:r>
              <a:rPr lang="en-US" dirty="0" err="1"/>
              <a:t>Quá</a:t>
            </a:r>
            <a:r>
              <a:rPr lang="en-US" dirty="0"/>
              <a:t> </a:t>
            </a:r>
            <a:r>
              <a:rPr lang="en-US" dirty="0" err="1"/>
              <a:t>trình</a:t>
            </a:r>
            <a:r>
              <a:rPr lang="en-US" dirty="0"/>
              <a:t> </a:t>
            </a:r>
            <a:r>
              <a:rPr lang="en-US" dirty="0" err="1"/>
              <a:t>xử</a:t>
            </a:r>
            <a:r>
              <a:rPr lang="en-US" dirty="0"/>
              <a:t> </a:t>
            </a:r>
            <a:r>
              <a:rPr lang="en-US" dirty="0" err="1"/>
              <a:t>lý</a:t>
            </a:r>
            <a:r>
              <a:rPr lang="en-US" dirty="0"/>
              <a:t> </a:t>
            </a:r>
            <a:r>
              <a:rPr lang="en-US" dirty="0" err="1"/>
              <a:t>xảy</a:t>
            </a:r>
            <a:r>
              <a:rPr lang="en-US" dirty="0"/>
              <a:t> </a:t>
            </a:r>
            <a:r>
              <a:rPr lang="en-US" dirty="0" err="1"/>
              <a:t>ra</a:t>
            </a:r>
            <a:r>
              <a:rPr lang="en-US" dirty="0"/>
              <a:t> </a:t>
            </a:r>
            <a:r>
              <a:rPr lang="en-US" dirty="0" err="1"/>
              <a:t>tại</a:t>
            </a:r>
            <a:r>
              <a:rPr lang="en-US" dirty="0"/>
              <a:t> Web server</a:t>
            </a:r>
          </a:p>
        </p:txBody>
      </p:sp>
    </p:spTree>
    <p:extLst>
      <p:ext uri="{BB962C8B-B14F-4D97-AF65-F5344CB8AC3E}">
        <p14:creationId xmlns:p14="http://schemas.microsoft.com/office/powerpoint/2010/main" val="2452740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Cơ</a:t>
            </a:r>
            <a:r>
              <a:rPr lang="en-US" dirty="0"/>
              <a:t> </a:t>
            </a:r>
            <a:r>
              <a:rPr lang="en-US" dirty="0" err="1"/>
              <a:t>bản</a:t>
            </a:r>
            <a:r>
              <a:rPr lang="en-US" dirty="0"/>
              <a:t> </a:t>
            </a:r>
            <a:r>
              <a:rPr lang="en-US" dirty="0" err="1"/>
              <a:t>về</a:t>
            </a:r>
            <a:r>
              <a:rPr lang="en-US" dirty="0"/>
              <a:t> Web </a:t>
            </a:r>
            <a:r>
              <a:rPr lang="en-US" dirty="0" err="1"/>
              <a:t>động</a:t>
            </a:r>
            <a:endParaRPr lang="en-US" dirty="0"/>
          </a:p>
        </p:txBody>
      </p:sp>
      <p:sp>
        <p:nvSpPr>
          <p:cNvPr id="3" name="Content Placeholder 2"/>
          <p:cNvSpPr>
            <a:spLocks noGrp="1"/>
          </p:cNvSpPr>
          <p:nvPr>
            <p:ph idx="1"/>
          </p:nvPr>
        </p:nvSpPr>
        <p:spPr/>
        <p:txBody>
          <a:bodyPr>
            <a:normAutofit fontScale="92500" lnSpcReduction="10000"/>
          </a:bodyPr>
          <a:lstStyle/>
          <a:p>
            <a:r>
              <a:rPr lang="vi-VN" dirty="0"/>
              <a:t>Ư</a:t>
            </a:r>
            <a:r>
              <a:rPr lang="en-US" dirty="0"/>
              <a:t>u </a:t>
            </a:r>
            <a:r>
              <a:rPr lang="en-US" dirty="0" err="1"/>
              <a:t>điểm</a:t>
            </a:r>
            <a:r>
              <a:rPr lang="en-US" dirty="0"/>
              <a:t>:</a:t>
            </a:r>
          </a:p>
          <a:p>
            <a:pPr lvl="1"/>
            <a:r>
              <a:rPr lang="vi-VN" dirty="0"/>
              <a:t>Có khả năng thực hiện những xử lý phức tạp và truy cập cơ sở dữ liệu</a:t>
            </a:r>
          </a:p>
          <a:p>
            <a:pPr lvl="1"/>
            <a:r>
              <a:rPr lang="vi-VN" dirty="0"/>
              <a:t>Trang web linh động</a:t>
            </a:r>
            <a:r>
              <a:rPr lang="en-US" dirty="0"/>
              <a:t>, </a:t>
            </a:r>
            <a:r>
              <a:rPr lang="vi-VN" dirty="0"/>
              <a:t>có tính tương tác với người dùng cao, phục vụ đa yêu cầu của người dùng</a:t>
            </a:r>
            <a:endParaRPr lang="en-US" dirty="0"/>
          </a:p>
          <a:p>
            <a:pPr lvl="1"/>
            <a:r>
              <a:rPr lang="vi-VN" dirty="0"/>
              <a:t>Công tác cập nhật thông tin website dễ dàng do có công cụ cập nhật website được tích hợp sẵn</a:t>
            </a:r>
            <a:endParaRPr lang="en-US" dirty="0"/>
          </a:p>
          <a:p>
            <a:r>
              <a:rPr lang="en-US" dirty="0" err="1"/>
              <a:t>Nhược</a:t>
            </a:r>
            <a:r>
              <a:rPr lang="en-US" dirty="0"/>
              <a:t> </a:t>
            </a:r>
            <a:r>
              <a:rPr lang="en-US" dirty="0" err="1"/>
              <a:t>điểm</a:t>
            </a:r>
            <a:r>
              <a:rPr lang="en-US" dirty="0"/>
              <a:t>:</a:t>
            </a:r>
          </a:p>
          <a:p>
            <a:pPr lvl="1"/>
            <a:r>
              <a:rPr lang="vi-VN" dirty="0"/>
              <a:t>Cấu trúc trang web khó thay đổi, thường các trang đều có cấu trúc giống nhau</a:t>
            </a:r>
          </a:p>
          <a:p>
            <a:pPr lvl="1"/>
            <a:r>
              <a:rPr lang="vi-VN" dirty="0"/>
              <a:t>Tải trang chậm hơn web tĩnh do nội dung trang web được tạo động khi người dùng yêu cầu</a:t>
            </a:r>
          </a:p>
          <a:p>
            <a:endParaRPr lang="en-US" dirty="0"/>
          </a:p>
        </p:txBody>
      </p:sp>
    </p:spTree>
    <p:extLst>
      <p:ext uri="{BB962C8B-B14F-4D97-AF65-F5344CB8AC3E}">
        <p14:creationId xmlns:p14="http://schemas.microsoft.com/office/powerpoint/2010/main" val="893854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Cơ</a:t>
            </a:r>
            <a:r>
              <a:rPr lang="en-US" dirty="0"/>
              <a:t> </a:t>
            </a:r>
            <a:r>
              <a:rPr lang="en-US" dirty="0" err="1"/>
              <a:t>bản</a:t>
            </a:r>
            <a:r>
              <a:rPr lang="en-US" dirty="0"/>
              <a:t> </a:t>
            </a:r>
            <a:r>
              <a:rPr lang="en-US" dirty="0" err="1"/>
              <a:t>về</a:t>
            </a:r>
            <a:r>
              <a:rPr lang="en-US" dirty="0"/>
              <a:t> Web </a:t>
            </a:r>
            <a:r>
              <a:rPr lang="en-US" dirty="0" err="1"/>
              <a:t>động</a:t>
            </a:r>
            <a:endParaRPr lang="en-US" dirty="0"/>
          </a:p>
        </p:txBody>
      </p:sp>
      <p:sp>
        <p:nvSpPr>
          <p:cNvPr id="3" name="Content Placeholder 2"/>
          <p:cNvSpPr>
            <a:spLocks noGrp="1"/>
          </p:cNvSpPr>
          <p:nvPr>
            <p:ph idx="1"/>
          </p:nvPr>
        </p:nvSpPr>
        <p:spPr/>
        <p:txBody>
          <a:bodyPr/>
          <a:lstStyle/>
          <a:p>
            <a:r>
              <a:rPr lang="en-US" dirty="0"/>
              <a:t>Web </a:t>
            </a:r>
            <a:r>
              <a:rPr lang="en-US" dirty="0" err="1"/>
              <a:t>tĩnh</a:t>
            </a:r>
            <a:endParaRPr lang="en-US" dirty="0"/>
          </a:p>
          <a:p>
            <a:pPr lvl="1"/>
            <a:r>
              <a:rPr lang="vi-VN" dirty="0"/>
              <a:t>Là trang web được trình bày dưới dạng văn bản. Nội dung trong trang được tạo ra lúc thiết kế và không được thay đổi khi có người dùng truy cập</a:t>
            </a:r>
          </a:p>
          <a:p>
            <a:pPr lvl="1"/>
            <a:r>
              <a:rPr lang="vi-VN" dirty="0"/>
              <a:t>Được viết bằng ngôn ngữ HTML và không có kết nối với cơ sở dữ liệu (CSDL)</a:t>
            </a:r>
          </a:p>
          <a:p>
            <a:pPr lvl="1"/>
            <a:r>
              <a:rPr lang="vi-VN" dirty="0"/>
              <a:t>Khi có nhu cầu xử lý trên trang web tĩnh, ta dùng ngôn ngữ Client-side script =&gt; Lập trình Client-side</a:t>
            </a:r>
          </a:p>
          <a:p>
            <a:pPr lvl="1"/>
            <a:r>
              <a:rPr lang="vi-VN" dirty="0"/>
              <a:t>Quá trình xử lý chỉ xảy ra tại Web client</a:t>
            </a:r>
          </a:p>
          <a:p>
            <a:endParaRPr lang="en-US" dirty="0"/>
          </a:p>
        </p:txBody>
      </p:sp>
    </p:spTree>
    <p:extLst>
      <p:ext uri="{BB962C8B-B14F-4D97-AF65-F5344CB8AC3E}">
        <p14:creationId xmlns:p14="http://schemas.microsoft.com/office/powerpoint/2010/main" val="3868369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Cơ</a:t>
            </a:r>
            <a:r>
              <a:rPr lang="en-US" dirty="0"/>
              <a:t> </a:t>
            </a:r>
            <a:r>
              <a:rPr lang="en-US" dirty="0" err="1"/>
              <a:t>bản</a:t>
            </a:r>
            <a:r>
              <a:rPr lang="en-US" dirty="0"/>
              <a:t> </a:t>
            </a:r>
            <a:r>
              <a:rPr lang="en-US" dirty="0" err="1"/>
              <a:t>về</a:t>
            </a:r>
            <a:r>
              <a:rPr lang="en-US" dirty="0"/>
              <a:t> Web </a:t>
            </a:r>
            <a:r>
              <a:rPr lang="en-US" dirty="0" err="1"/>
              <a:t>động</a:t>
            </a:r>
            <a:endParaRPr lang="en-US" dirty="0"/>
          </a:p>
        </p:txBody>
      </p:sp>
      <p:sp>
        <p:nvSpPr>
          <p:cNvPr id="3" name="Content Placeholder 2"/>
          <p:cNvSpPr>
            <a:spLocks noGrp="1"/>
          </p:cNvSpPr>
          <p:nvPr>
            <p:ph idx="1"/>
          </p:nvPr>
        </p:nvSpPr>
        <p:spPr>
          <a:xfrm>
            <a:off x="914401" y="1569494"/>
            <a:ext cx="10367433" cy="4544704"/>
          </a:xfrm>
        </p:spPr>
        <p:txBody>
          <a:bodyPr>
            <a:normAutofit fontScale="77500" lnSpcReduction="20000"/>
          </a:bodyPr>
          <a:lstStyle/>
          <a:p>
            <a:r>
              <a:rPr lang="en-US" sz="3100" dirty="0"/>
              <a:t>Web </a:t>
            </a:r>
            <a:r>
              <a:rPr lang="en-US" sz="3100" dirty="0" err="1"/>
              <a:t>tĩnh</a:t>
            </a:r>
            <a:endParaRPr lang="en-US" sz="3100" dirty="0"/>
          </a:p>
          <a:p>
            <a:pPr lvl="1"/>
            <a:r>
              <a:rPr lang="vi-VN" sz="2600" dirty="0"/>
              <a:t>Nhanh, không mất thời gian để thể hiện kết quả lên trang web</a:t>
            </a:r>
          </a:p>
          <a:p>
            <a:pPr lvl="1"/>
            <a:r>
              <a:rPr lang="vi-VN" sz="2600" dirty="0"/>
              <a:t>Chỉ có thể thực hiện những xử lý đơn giản và độc lập</a:t>
            </a:r>
          </a:p>
          <a:p>
            <a:pPr lvl="1">
              <a:lnSpc>
                <a:spcPct val="120000"/>
              </a:lnSpc>
            </a:pPr>
            <a:r>
              <a:rPr lang="vi-VN" sz="2600" dirty="0"/>
              <a:t>Khó khăn trong việc thay đổi và cập nhật thông tin: Muốn thay đổi và cập nhật nội dung thông tin của trang website tĩnh Bạn cần phải biết về ngôn ngữ html, sử dụng được các chương trình thiết kế đồ hoạ và thiết kế web cũng như các chương trình cập nhật file lên server.</a:t>
            </a:r>
          </a:p>
          <a:p>
            <a:pPr lvl="1">
              <a:lnSpc>
                <a:spcPct val="120000"/>
              </a:lnSpc>
            </a:pPr>
            <a:r>
              <a:rPr lang="vi-VN" sz="2600" dirty="0"/>
              <a:t>Thông tin không có tính linh hoạt, không thân thiện với người dùng: Do nội dung trên trang web tĩnh được thiết kế cố định nên khi nhu cầu về thông tin của người truy cập tăng cao thì thông tin trên website tĩnh sẽ không đáp ứng được.</a:t>
            </a:r>
          </a:p>
          <a:p>
            <a:pPr lvl="1">
              <a:lnSpc>
                <a:spcPct val="120000"/>
              </a:lnSpc>
            </a:pPr>
            <a:r>
              <a:rPr lang="vi-VN" sz="2600" dirty="0"/>
              <a:t>Khó tích hợp, nâng cấp, mở rộng: Khi muốn mở rộng, nâng cấp một website tĩnh hầu như là phải làm mới lại website.</a:t>
            </a:r>
          </a:p>
          <a:p>
            <a:endParaRPr lang="en-US" dirty="0"/>
          </a:p>
        </p:txBody>
      </p:sp>
    </p:spTree>
    <p:extLst>
      <p:ext uri="{BB962C8B-B14F-4D97-AF65-F5344CB8AC3E}">
        <p14:creationId xmlns:p14="http://schemas.microsoft.com/office/powerpoint/2010/main" val="37666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D9FC-9927-B8FD-BA1E-FCA7CCBA5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A5D12-900F-EA22-496F-4585EFA2276A}"/>
              </a:ext>
            </a:extLst>
          </p:cNvPr>
          <p:cNvSpPr>
            <a:spLocks noGrp="1"/>
          </p:cNvSpPr>
          <p:nvPr>
            <p:ph type="title"/>
          </p:nvPr>
        </p:nvSpPr>
        <p:spPr/>
        <p:txBody>
          <a:bodyPr/>
          <a:lstStyle/>
          <a:p>
            <a:r>
              <a:rPr lang="en-US" dirty="0"/>
              <a:t>2. </a:t>
            </a:r>
            <a:r>
              <a:rPr lang="en-US" dirty="0" err="1"/>
              <a:t>Cơ</a:t>
            </a:r>
            <a:r>
              <a:rPr lang="en-US" dirty="0"/>
              <a:t> </a:t>
            </a:r>
            <a:r>
              <a:rPr lang="en-US" dirty="0" err="1"/>
              <a:t>bản</a:t>
            </a:r>
            <a:r>
              <a:rPr lang="en-US" dirty="0"/>
              <a:t> </a:t>
            </a:r>
            <a:r>
              <a:rPr lang="en-US" dirty="0" err="1"/>
              <a:t>về</a:t>
            </a:r>
            <a:r>
              <a:rPr lang="en-US" dirty="0"/>
              <a:t> Web </a:t>
            </a:r>
            <a:r>
              <a:rPr lang="en-US" dirty="0" err="1"/>
              <a:t>động</a:t>
            </a:r>
            <a:endParaRPr lang="en-US" dirty="0"/>
          </a:p>
        </p:txBody>
      </p:sp>
      <p:sp>
        <p:nvSpPr>
          <p:cNvPr id="3" name="Content Placeholder 2">
            <a:extLst>
              <a:ext uri="{FF2B5EF4-FFF2-40B4-BE49-F238E27FC236}">
                <a16:creationId xmlns:a16="http://schemas.microsoft.com/office/drawing/2014/main" id="{400E892A-6F33-63A3-43FE-D2C9A49C8789}"/>
              </a:ext>
            </a:extLst>
          </p:cNvPr>
          <p:cNvSpPr>
            <a:spLocks noGrp="1"/>
          </p:cNvSpPr>
          <p:nvPr>
            <p:ph idx="1"/>
          </p:nvPr>
        </p:nvSpPr>
        <p:spPr>
          <a:xfrm>
            <a:off x="914401" y="1542197"/>
            <a:ext cx="10367433" cy="4749421"/>
          </a:xfrm>
        </p:spPr>
        <p:txBody>
          <a:bodyPr>
            <a:normAutofit fontScale="85000" lnSpcReduction="20000"/>
          </a:bodyPr>
          <a:lstStyle/>
          <a:p>
            <a:pPr marL="0" indent="0">
              <a:buNone/>
            </a:pPr>
            <a:r>
              <a:rPr lang="en-US" sz="2900" b="1" dirty="0" err="1"/>
              <a:t>Bài</a:t>
            </a:r>
            <a:r>
              <a:rPr lang="en-US" sz="2900" b="1" dirty="0"/>
              <a:t> </a:t>
            </a:r>
            <a:r>
              <a:rPr lang="en-US" sz="2900" b="1" dirty="0" err="1"/>
              <a:t>tập</a:t>
            </a:r>
            <a:r>
              <a:rPr lang="en-US" sz="2900" b="1" dirty="0"/>
              <a:t> </a:t>
            </a:r>
            <a:r>
              <a:rPr lang="en-US" sz="2900" b="1" dirty="0" err="1"/>
              <a:t>thảo</a:t>
            </a:r>
            <a:r>
              <a:rPr lang="en-US" sz="2900" b="1" dirty="0"/>
              <a:t> </a:t>
            </a:r>
            <a:r>
              <a:rPr lang="en-US" sz="2900" b="1" dirty="0" err="1"/>
              <a:t>luận</a:t>
            </a:r>
            <a:endParaRPr lang="en-US" sz="2900" b="1" dirty="0"/>
          </a:p>
          <a:p>
            <a:r>
              <a:rPr lang="en-US" dirty="0" err="1"/>
              <a:t>Một</a:t>
            </a:r>
            <a:r>
              <a:rPr lang="en-US" dirty="0"/>
              <a:t> </a:t>
            </a:r>
            <a:r>
              <a:rPr lang="en-US" dirty="0" err="1"/>
              <a:t>trường</a:t>
            </a:r>
            <a:r>
              <a:rPr lang="en-US" dirty="0"/>
              <a:t> </a:t>
            </a:r>
            <a:r>
              <a:rPr lang="en-US" dirty="0" err="1"/>
              <a:t>đại</a:t>
            </a:r>
            <a:r>
              <a:rPr lang="en-US" dirty="0"/>
              <a:t> </a:t>
            </a:r>
            <a:r>
              <a:rPr lang="en-US" dirty="0" err="1"/>
              <a:t>học</a:t>
            </a:r>
            <a:r>
              <a:rPr lang="en-US" dirty="0"/>
              <a:t> </a:t>
            </a:r>
            <a:r>
              <a:rPr lang="en-US" dirty="0" err="1"/>
              <a:t>muốn</a:t>
            </a:r>
            <a:r>
              <a:rPr lang="en-US" dirty="0"/>
              <a:t> </a:t>
            </a:r>
            <a:r>
              <a:rPr lang="en-US" dirty="0" err="1"/>
              <a:t>xây</a:t>
            </a:r>
            <a:r>
              <a:rPr lang="en-US" dirty="0"/>
              <a:t> </a:t>
            </a:r>
            <a:r>
              <a:rPr lang="en-US" dirty="0" err="1"/>
              <a:t>dựng</a:t>
            </a:r>
            <a:r>
              <a:rPr lang="en-US" dirty="0"/>
              <a:t> website </a:t>
            </a:r>
            <a:r>
              <a:rPr lang="en-US" dirty="0" err="1"/>
              <a:t>phục</a:t>
            </a:r>
            <a:r>
              <a:rPr lang="en-US" dirty="0"/>
              <a:t> </a:t>
            </a:r>
            <a:r>
              <a:rPr lang="en-US" dirty="0" err="1"/>
              <a:t>vụ</a:t>
            </a:r>
            <a:r>
              <a:rPr lang="en-US" dirty="0"/>
              <a:t> </a:t>
            </a:r>
            <a:r>
              <a:rPr lang="en-US" dirty="0" err="1"/>
              <a:t>sinh</a:t>
            </a:r>
            <a:r>
              <a:rPr lang="en-US" dirty="0"/>
              <a:t> </a:t>
            </a:r>
            <a:r>
              <a:rPr lang="en-US" dirty="0" err="1"/>
              <a:t>viên</a:t>
            </a:r>
            <a:r>
              <a:rPr lang="en-US" dirty="0"/>
              <a:t> </a:t>
            </a:r>
            <a:r>
              <a:rPr lang="en-US" dirty="0" err="1"/>
              <a:t>với</a:t>
            </a:r>
            <a:r>
              <a:rPr lang="en-US" dirty="0"/>
              <a:t> </a:t>
            </a:r>
            <a:r>
              <a:rPr lang="en-US" dirty="0" err="1"/>
              <a:t>các</a:t>
            </a:r>
            <a:r>
              <a:rPr lang="en-US" dirty="0"/>
              <a:t> </a:t>
            </a:r>
            <a:r>
              <a:rPr lang="en-US" dirty="0" err="1"/>
              <a:t>chức</a:t>
            </a:r>
            <a:r>
              <a:rPr lang="en-US" dirty="0"/>
              <a:t> </a:t>
            </a:r>
            <a:r>
              <a:rPr lang="en-US" dirty="0" err="1"/>
              <a:t>năng</a:t>
            </a:r>
            <a:r>
              <a:rPr lang="en-US" dirty="0"/>
              <a:t>:</a:t>
            </a:r>
          </a:p>
          <a:p>
            <a:pPr lvl="1"/>
            <a:r>
              <a:rPr lang="en-US" dirty="0"/>
              <a:t>Xem </a:t>
            </a:r>
            <a:r>
              <a:rPr lang="en-US" dirty="0" err="1"/>
              <a:t>thông</a:t>
            </a:r>
            <a:r>
              <a:rPr lang="en-US" dirty="0"/>
              <a:t> tin </a:t>
            </a:r>
            <a:r>
              <a:rPr lang="en-US" dirty="0" err="1"/>
              <a:t>môn</a:t>
            </a:r>
            <a:r>
              <a:rPr lang="en-US" dirty="0"/>
              <a:t> </a:t>
            </a:r>
            <a:r>
              <a:rPr lang="en-US" dirty="0" err="1"/>
              <a:t>học</a:t>
            </a:r>
            <a:r>
              <a:rPr lang="en-US" dirty="0"/>
              <a:t>. </a:t>
            </a:r>
          </a:p>
          <a:p>
            <a:pPr lvl="1"/>
            <a:r>
              <a:rPr lang="en-US" dirty="0" err="1"/>
              <a:t>Đăng</a:t>
            </a:r>
            <a:r>
              <a:rPr lang="en-US" dirty="0"/>
              <a:t> </a:t>
            </a:r>
            <a:r>
              <a:rPr lang="en-US" dirty="0" err="1"/>
              <a:t>nhập</a:t>
            </a:r>
            <a:r>
              <a:rPr lang="en-US" dirty="0"/>
              <a:t> </a:t>
            </a:r>
            <a:r>
              <a:rPr lang="en-US" dirty="0" err="1"/>
              <a:t>tài</a:t>
            </a:r>
            <a:r>
              <a:rPr lang="en-US" dirty="0"/>
              <a:t> </a:t>
            </a:r>
            <a:r>
              <a:rPr lang="en-US" dirty="0" err="1"/>
              <a:t>khoản</a:t>
            </a:r>
            <a:r>
              <a:rPr lang="en-US" dirty="0"/>
              <a:t>. </a:t>
            </a:r>
          </a:p>
          <a:p>
            <a:pPr lvl="1"/>
            <a:r>
              <a:rPr lang="en-US" dirty="0" err="1"/>
              <a:t>Đăng</a:t>
            </a:r>
            <a:r>
              <a:rPr lang="en-US" dirty="0"/>
              <a:t> </a:t>
            </a:r>
            <a:r>
              <a:rPr lang="en-US" dirty="0" err="1"/>
              <a:t>ký</a:t>
            </a:r>
            <a:r>
              <a:rPr lang="en-US" dirty="0"/>
              <a:t> </a:t>
            </a:r>
            <a:r>
              <a:rPr lang="en-US" dirty="0" err="1"/>
              <a:t>học</a:t>
            </a:r>
            <a:r>
              <a:rPr lang="en-US" dirty="0"/>
              <a:t> </a:t>
            </a:r>
            <a:r>
              <a:rPr lang="en-US" dirty="0" err="1"/>
              <a:t>phần</a:t>
            </a:r>
            <a:r>
              <a:rPr lang="en-US" dirty="0"/>
              <a:t>. </a:t>
            </a:r>
          </a:p>
          <a:p>
            <a:pPr lvl="1"/>
            <a:r>
              <a:rPr lang="en-US" dirty="0"/>
              <a:t>Xem </a:t>
            </a:r>
            <a:r>
              <a:rPr lang="en-US" dirty="0" err="1"/>
              <a:t>điểm</a:t>
            </a:r>
            <a:r>
              <a:rPr lang="en-US" dirty="0"/>
              <a:t>. </a:t>
            </a:r>
          </a:p>
          <a:p>
            <a:pPr lvl="1"/>
            <a:r>
              <a:rPr lang="en-US" dirty="0"/>
              <a:t>Tra </a:t>
            </a:r>
            <a:r>
              <a:rPr lang="en-US" dirty="0" err="1"/>
              <a:t>cứu</a:t>
            </a:r>
            <a:r>
              <a:rPr lang="en-US" dirty="0"/>
              <a:t> </a:t>
            </a:r>
            <a:r>
              <a:rPr lang="en-US" dirty="0" err="1"/>
              <a:t>thời</a:t>
            </a:r>
            <a:r>
              <a:rPr lang="en-US" dirty="0"/>
              <a:t> </a:t>
            </a:r>
            <a:r>
              <a:rPr lang="en-US" dirty="0" err="1"/>
              <a:t>khóa</a:t>
            </a:r>
            <a:r>
              <a:rPr lang="en-US" dirty="0"/>
              <a:t> </a:t>
            </a:r>
            <a:r>
              <a:rPr lang="en-US" dirty="0" err="1"/>
              <a:t>biểu</a:t>
            </a:r>
            <a:r>
              <a:rPr lang="en-US" dirty="0"/>
              <a:t>. </a:t>
            </a:r>
          </a:p>
          <a:p>
            <a:pPr lvl="1"/>
            <a:r>
              <a:rPr lang="en-US" dirty="0" err="1"/>
              <a:t>Nhận</a:t>
            </a:r>
            <a:r>
              <a:rPr lang="en-US" dirty="0"/>
              <a:t> </a:t>
            </a:r>
            <a:r>
              <a:rPr lang="en-US" dirty="0" err="1"/>
              <a:t>thông</a:t>
            </a:r>
            <a:r>
              <a:rPr lang="en-US" dirty="0"/>
              <a:t> </a:t>
            </a:r>
            <a:r>
              <a:rPr lang="en-US" dirty="0" err="1"/>
              <a:t>báo</a:t>
            </a:r>
            <a:r>
              <a:rPr lang="en-US" dirty="0"/>
              <a:t> </a:t>
            </a:r>
            <a:r>
              <a:rPr lang="en-US" dirty="0" err="1"/>
              <a:t>cá</a:t>
            </a:r>
            <a:r>
              <a:rPr lang="en-US" dirty="0"/>
              <a:t> </a:t>
            </a:r>
            <a:r>
              <a:rPr lang="en-US" dirty="0" err="1"/>
              <a:t>nhân</a:t>
            </a:r>
            <a:r>
              <a:rPr lang="en-US" dirty="0"/>
              <a:t>. </a:t>
            </a:r>
          </a:p>
          <a:p>
            <a:pPr lvl="1"/>
            <a:r>
              <a:rPr lang="en-US" dirty="0"/>
              <a:t>Quản </a:t>
            </a:r>
            <a:r>
              <a:rPr lang="en-US" dirty="0" err="1"/>
              <a:t>lý</a:t>
            </a:r>
            <a:r>
              <a:rPr lang="en-US" dirty="0"/>
              <a:t> </a:t>
            </a:r>
            <a:r>
              <a:rPr lang="en-US" dirty="0" err="1"/>
              <a:t>dữ</a:t>
            </a:r>
            <a:r>
              <a:rPr lang="en-US" dirty="0"/>
              <a:t> </a:t>
            </a:r>
            <a:r>
              <a:rPr lang="en-US" dirty="0" err="1"/>
              <a:t>liệu</a:t>
            </a:r>
            <a:r>
              <a:rPr lang="en-US" dirty="0"/>
              <a:t> </a:t>
            </a:r>
            <a:r>
              <a:rPr lang="en-US" dirty="0" err="1"/>
              <a:t>sinh</a:t>
            </a:r>
            <a:r>
              <a:rPr lang="en-US" dirty="0"/>
              <a:t> </a:t>
            </a:r>
            <a:r>
              <a:rPr lang="en-US" dirty="0" err="1"/>
              <a:t>viên</a:t>
            </a:r>
            <a:r>
              <a:rPr lang="en-US" dirty="0"/>
              <a:t>. </a:t>
            </a:r>
          </a:p>
          <a:p>
            <a:r>
              <a:rPr lang="en-US" b="1" dirty="0" err="1"/>
              <a:t>Câu</a:t>
            </a:r>
            <a:r>
              <a:rPr lang="en-US" b="1" dirty="0"/>
              <a:t> </a:t>
            </a:r>
            <a:r>
              <a:rPr lang="en-US" b="1" dirty="0" err="1"/>
              <a:t>hỏi</a:t>
            </a:r>
            <a:r>
              <a:rPr lang="en-US" b="1" dirty="0"/>
              <a:t> </a:t>
            </a:r>
            <a:r>
              <a:rPr lang="en-US" b="1" dirty="0" err="1"/>
              <a:t>thảo</a:t>
            </a:r>
            <a:r>
              <a:rPr lang="en-US" b="1" dirty="0"/>
              <a:t> </a:t>
            </a:r>
            <a:r>
              <a:rPr lang="en-US" b="1" dirty="0" err="1"/>
              <a:t>luận</a:t>
            </a:r>
            <a:r>
              <a:rPr lang="en-US" b="1" dirty="0"/>
              <a:t>:</a:t>
            </a:r>
            <a:endParaRPr lang="en-US" dirty="0"/>
          </a:p>
          <a:p>
            <a:r>
              <a:rPr lang="en-US" dirty="0"/>
              <a:t>1. Website </a:t>
            </a:r>
            <a:r>
              <a:rPr lang="en-US" dirty="0" err="1"/>
              <a:t>trên</a:t>
            </a:r>
            <a:r>
              <a:rPr lang="en-US" dirty="0"/>
              <a:t> </a:t>
            </a:r>
            <a:r>
              <a:rPr lang="en-US" dirty="0" err="1"/>
              <a:t>nên</a:t>
            </a:r>
            <a:r>
              <a:rPr lang="en-US" dirty="0"/>
              <a:t> </a:t>
            </a:r>
            <a:r>
              <a:rPr lang="en-US" dirty="0" err="1"/>
              <a:t>sử</a:t>
            </a:r>
            <a:r>
              <a:rPr lang="en-US" dirty="0"/>
              <a:t> </a:t>
            </a:r>
            <a:r>
              <a:rPr lang="en-US" dirty="0" err="1"/>
              <a:t>dụng</a:t>
            </a:r>
            <a:r>
              <a:rPr lang="en-US" dirty="0"/>
              <a:t> Web </a:t>
            </a:r>
            <a:r>
              <a:rPr lang="en-US" dirty="0" err="1"/>
              <a:t>tĩnh</a:t>
            </a:r>
            <a:r>
              <a:rPr lang="en-US" dirty="0"/>
              <a:t> hay Web </a:t>
            </a:r>
            <a:r>
              <a:rPr lang="en-US" dirty="0" err="1"/>
              <a:t>động</a:t>
            </a:r>
            <a:r>
              <a:rPr lang="en-US" dirty="0"/>
              <a:t>? </a:t>
            </a:r>
            <a:r>
              <a:rPr lang="en-US" dirty="0" err="1"/>
              <a:t>Vì</a:t>
            </a:r>
            <a:r>
              <a:rPr lang="en-US" dirty="0"/>
              <a:t> </a:t>
            </a:r>
            <a:r>
              <a:rPr lang="en-US" dirty="0" err="1"/>
              <a:t>sao</a:t>
            </a:r>
            <a:r>
              <a:rPr lang="en-US" dirty="0"/>
              <a:t>?</a:t>
            </a:r>
          </a:p>
          <a:p>
            <a:r>
              <a:rPr lang="en-US" dirty="0"/>
              <a:t>2. </a:t>
            </a:r>
            <a:r>
              <a:rPr lang="en-US" dirty="0" err="1"/>
              <a:t>Có</a:t>
            </a:r>
            <a:r>
              <a:rPr lang="en-US" dirty="0"/>
              <a:t> </a:t>
            </a:r>
            <a:r>
              <a:rPr lang="en-US" dirty="0" err="1"/>
              <a:t>cần</a:t>
            </a:r>
            <a:r>
              <a:rPr lang="en-US" dirty="0"/>
              <a:t> </a:t>
            </a:r>
            <a:r>
              <a:rPr lang="en-US" dirty="0" err="1"/>
              <a:t>sử</a:t>
            </a:r>
            <a:r>
              <a:rPr lang="en-US" dirty="0"/>
              <a:t> </a:t>
            </a:r>
            <a:r>
              <a:rPr lang="en-US" dirty="0" err="1"/>
              <a:t>dụng</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không</a:t>
            </a:r>
            <a:r>
              <a:rPr lang="en-US" dirty="0"/>
              <a:t>?</a:t>
            </a:r>
          </a:p>
          <a:p>
            <a:endParaRPr lang="en-US" dirty="0"/>
          </a:p>
        </p:txBody>
      </p:sp>
    </p:spTree>
    <p:extLst>
      <p:ext uri="{BB962C8B-B14F-4D97-AF65-F5344CB8AC3E}">
        <p14:creationId xmlns:p14="http://schemas.microsoft.com/office/powerpoint/2010/main" val="4085917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82752-5C8D-A79F-C5D8-DA26305D48CC}"/>
              </a:ext>
            </a:extLst>
          </p:cNvPr>
          <p:cNvSpPr>
            <a:spLocks noGrp="1"/>
          </p:cNvSpPr>
          <p:nvPr>
            <p:ph type="title"/>
          </p:nvPr>
        </p:nvSpPr>
        <p:spPr/>
        <p:txBody>
          <a:bodyPr/>
          <a:lstStyle/>
          <a:p>
            <a:r>
              <a:rPr lang="en-US" dirty="0"/>
              <a:t>3. </a:t>
            </a:r>
            <a:r>
              <a:rPr lang="en-US" dirty="0" err="1"/>
              <a:t>Mô</a:t>
            </a:r>
            <a:r>
              <a:rPr lang="en-US" dirty="0"/>
              <a:t> </a:t>
            </a:r>
            <a:r>
              <a:rPr lang="en-US" dirty="0" err="1"/>
              <a:t>hình</a:t>
            </a:r>
            <a:r>
              <a:rPr lang="en-US" dirty="0"/>
              <a:t> </a:t>
            </a:r>
            <a:r>
              <a:rPr lang="en-US" dirty="0" err="1"/>
              <a:t>phát</a:t>
            </a:r>
            <a:r>
              <a:rPr lang="en-US" dirty="0"/>
              <a:t> </a:t>
            </a:r>
            <a:r>
              <a:rPr lang="en-US" dirty="0" err="1"/>
              <a:t>triển</a:t>
            </a:r>
            <a:r>
              <a:rPr lang="en-US" dirty="0"/>
              <a:t> Web </a:t>
            </a:r>
            <a:r>
              <a:rPr lang="en-US" dirty="0" err="1"/>
              <a:t>phía</a:t>
            </a:r>
            <a:r>
              <a:rPr lang="en-US" dirty="0"/>
              <a:t> Server</a:t>
            </a:r>
          </a:p>
        </p:txBody>
      </p:sp>
      <p:sp>
        <p:nvSpPr>
          <p:cNvPr id="3" name="Content Placeholder 2">
            <a:extLst>
              <a:ext uri="{FF2B5EF4-FFF2-40B4-BE49-F238E27FC236}">
                <a16:creationId xmlns:a16="http://schemas.microsoft.com/office/drawing/2014/main" id="{BC1B5D75-1CF6-0401-2DD6-3A2E504A939E}"/>
              </a:ext>
            </a:extLst>
          </p:cNvPr>
          <p:cNvSpPr>
            <a:spLocks noGrp="1"/>
          </p:cNvSpPr>
          <p:nvPr>
            <p:ph idx="1"/>
          </p:nvPr>
        </p:nvSpPr>
        <p:spPr/>
        <p:txBody>
          <a:bodyPr/>
          <a:lstStyle/>
          <a:p>
            <a:r>
              <a:rPr lang="en-US" dirty="0" err="1"/>
              <a:t>Mô</a:t>
            </a:r>
            <a:r>
              <a:rPr lang="en-US" dirty="0"/>
              <a:t> </a:t>
            </a:r>
            <a:r>
              <a:rPr lang="en-US" dirty="0" err="1"/>
              <a:t>hình</a:t>
            </a:r>
            <a:r>
              <a:rPr lang="en-US" dirty="0"/>
              <a:t> </a:t>
            </a:r>
            <a:r>
              <a:rPr lang="en-US" dirty="0" err="1"/>
              <a:t>mức</a:t>
            </a:r>
            <a:r>
              <a:rPr lang="en-US" dirty="0"/>
              <a:t> </a:t>
            </a:r>
            <a:r>
              <a:rPr lang="en-US" dirty="0" err="1"/>
              <a:t>cơ</a:t>
            </a:r>
            <a:r>
              <a:rPr lang="en-US" dirty="0"/>
              <a:t> </a:t>
            </a:r>
            <a:r>
              <a:rPr lang="en-US" dirty="0" err="1"/>
              <a:t>bản</a:t>
            </a:r>
            <a:endParaRPr lang="en-US" dirty="0"/>
          </a:p>
          <a:p>
            <a:r>
              <a:rPr lang="en-US" dirty="0" err="1"/>
              <a:t>Mô</a:t>
            </a:r>
            <a:r>
              <a:rPr lang="en-US" dirty="0"/>
              <a:t> </a:t>
            </a:r>
            <a:r>
              <a:rPr lang="en-US" dirty="0" err="1"/>
              <a:t>hình</a:t>
            </a:r>
            <a:r>
              <a:rPr lang="en-US" dirty="0"/>
              <a:t> 3 </a:t>
            </a:r>
            <a:r>
              <a:rPr lang="en-US" dirty="0" err="1"/>
              <a:t>lớp</a:t>
            </a:r>
            <a:endParaRPr lang="en-US" dirty="0"/>
          </a:p>
          <a:p>
            <a:r>
              <a:rPr lang="en-US" dirty="0" err="1"/>
              <a:t>Mô</a:t>
            </a:r>
            <a:r>
              <a:rPr lang="en-US" dirty="0"/>
              <a:t> </a:t>
            </a:r>
            <a:r>
              <a:rPr lang="en-US" dirty="0" err="1"/>
              <a:t>hình</a:t>
            </a:r>
            <a:r>
              <a:rPr lang="en-US" dirty="0"/>
              <a:t> MVC</a:t>
            </a:r>
          </a:p>
        </p:txBody>
      </p:sp>
    </p:spTree>
    <p:extLst>
      <p:ext uri="{BB962C8B-B14F-4D97-AF65-F5344CB8AC3E}">
        <p14:creationId xmlns:p14="http://schemas.microsoft.com/office/powerpoint/2010/main" val="3421698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Mô</a:t>
            </a:r>
            <a:r>
              <a:rPr lang="en-US" dirty="0"/>
              <a:t> </a:t>
            </a:r>
            <a:r>
              <a:rPr lang="en-US" dirty="0" err="1"/>
              <a:t>hình</a:t>
            </a:r>
            <a:r>
              <a:rPr lang="en-US" dirty="0"/>
              <a:t> </a:t>
            </a:r>
            <a:r>
              <a:rPr lang="en-US" dirty="0" err="1"/>
              <a:t>mức</a:t>
            </a:r>
            <a:r>
              <a:rPr lang="en-US" dirty="0"/>
              <a:t> </a:t>
            </a:r>
            <a:r>
              <a:rPr lang="en-US" dirty="0" err="1"/>
              <a:t>cơ</a:t>
            </a:r>
            <a:r>
              <a:rPr lang="en-US" dirty="0"/>
              <a:t> </a:t>
            </a:r>
            <a:r>
              <a:rPr lang="en-US" dirty="0" err="1"/>
              <a:t>bản</a:t>
            </a:r>
            <a:endParaRPr lang="en-US" dirty="0"/>
          </a:p>
        </p:txBody>
      </p:sp>
      <p:sp>
        <p:nvSpPr>
          <p:cNvPr id="3" name="Content Placeholder 2"/>
          <p:cNvSpPr>
            <a:spLocks noGrp="1"/>
          </p:cNvSpPr>
          <p:nvPr>
            <p:ph idx="1"/>
          </p:nvPr>
        </p:nvSpPr>
        <p:spPr/>
        <p:txBody>
          <a:bodyPr/>
          <a:lstStyle/>
          <a:p>
            <a:r>
              <a:rPr lang="en-US" dirty="0"/>
              <a:t>S</a:t>
            </a:r>
            <a:r>
              <a:rPr lang="vi-VN" dirty="0"/>
              <a:t>ử dụng thêm Application Server giữ nhiệm vụ tương tác giữa Client và Database server, giảm bớt các xử lý trên Database server, tập trung các xử lý nhận và hiển thị dữ liệu tại</a:t>
            </a:r>
            <a:r>
              <a:rPr lang="en-US" dirty="0"/>
              <a:t> </a:t>
            </a:r>
            <a:r>
              <a:rPr lang="vi-VN" dirty="0"/>
              <a:t>Application server. </a:t>
            </a:r>
            <a:endParaRPr lang="en-US" dirty="0"/>
          </a:p>
          <a:p>
            <a:endParaRPr lang="en-US" dirty="0"/>
          </a:p>
        </p:txBody>
      </p:sp>
    </p:spTree>
    <p:extLst>
      <p:ext uri="{BB962C8B-B14F-4D97-AF65-F5344CB8AC3E}">
        <p14:creationId xmlns:p14="http://schemas.microsoft.com/office/powerpoint/2010/main" val="7897759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Mô</a:t>
            </a:r>
            <a:r>
              <a:rPr lang="en-US" dirty="0"/>
              <a:t> </a:t>
            </a:r>
            <a:r>
              <a:rPr lang="en-US" dirty="0" err="1"/>
              <a:t>hình</a:t>
            </a:r>
            <a:r>
              <a:rPr lang="en-US" dirty="0"/>
              <a:t> </a:t>
            </a:r>
            <a:r>
              <a:rPr lang="en-US" dirty="0" err="1"/>
              <a:t>mức</a:t>
            </a:r>
            <a:r>
              <a:rPr lang="en-US" dirty="0"/>
              <a:t> </a:t>
            </a:r>
            <a:r>
              <a:rPr lang="en-US" dirty="0" err="1"/>
              <a:t>cơ</a:t>
            </a:r>
            <a:r>
              <a:rPr lang="en-US" dirty="0"/>
              <a:t> </a:t>
            </a:r>
            <a:r>
              <a:rPr lang="en-US" dirty="0" err="1"/>
              <a:t>bản</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2289402" y="2384787"/>
            <a:ext cx="8324372" cy="3691981"/>
          </a:xfrm>
          <a:prstGeom prst="rect">
            <a:avLst/>
          </a:prstGeom>
        </p:spPr>
      </p:pic>
    </p:spTree>
    <p:extLst>
      <p:ext uri="{BB962C8B-B14F-4D97-AF65-F5344CB8AC3E}">
        <p14:creationId xmlns:p14="http://schemas.microsoft.com/office/powerpoint/2010/main" val="1396215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Mô</a:t>
            </a:r>
            <a:r>
              <a:rPr lang="en-US" dirty="0"/>
              <a:t> </a:t>
            </a:r>
            <a:r>
              <a:rPr lang="en-US" dirty="0" err="1"/>
              <a:t>hình</a:t>
            </a:r>
            <a:r>
              <a:rPr lang="en-US" dirty="0"/>
              <a:t> </a:t>
            </a:r>
            <a:r>
              <a:rPr lang="en-US" dirty="0" err="1"/>
              <a:t>mức</a:t>
            </a:r>
            <a:r>
              <a:rPr lang="en-US" dirty="0"/>
              <a:t> </a:t>
            </a:r>
            <a:r>
              <a:rPr lang="en-US" dirty="0" err="1"/>
              <a:t>cơ</a:t>
            </a:r>
            <a:r>
              <a:rPr lang="en-US" dirty="0"/>
              <a:t> </a:t>
            </a:r>
            <a:r>
              <a:rPr lang="en-US" dirty="0" err="1"/>
              <a:t>bản</a:t>
            </a:r>
            <a:endParaRPr lang="en-US" dirty="0"/>
          </a:p>
        </p:txBody>
      </p:sp>
      <p:pic>
        <p:nvPicPr>
          <p:cNvPr id="4" name="Content Placeholder 3"/>
          <p:cNvPicPr>
            <a:picLocks noGrp="1" noChangeAspect="1"/>
          </p:cNvPicPr>
          <p:nvPr>
            <p:ph idx="1"/>
          </p:nvPr>
        </p:nvPicPr>
        <p:blipFill>
          <a:blip r:embed="rId2"/>
          <a:stretch>
            <a:fillRect/>
          </a:stretch>
        </p:blipFill>
        <p:spPr>
          <a:xfrm>
            <a:off x="2016097" y="1370014"/>
            <a:ext cx="9183188" cy="5225967"/>
          </a:xfrm>
          <a:prstGeom prst="rect">
            <a:avLst/>
          </a:prstGeom>
        </p:spPr>
      </p:pic>
    </p:spTree>
    <p:extLst>
      <p:ext uri="{BB962C8B-B14F-4D97-AF65-F5344CB8AC3E}">
        <p14:creationId xmlns:p14="http://schemas.microsoft.com/office/powerpoint/2010/main" val="307126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Mô</a:t>
            </a:r>
            <a:r>
              <a:rPr lang="en-US" dirty="0"/>
              <a:t> </a:t>
            </a:r>
            <a:r>
              <a:rPr lang="en-US" dirty="0" err="1"/>
              <a:t>hình</a:t>
            </a:r>
            <a:r>
              <a:rPr lang="en-US" dirty="0"/>
              <a:t> </a:t>
            </a:r>
            <a:r>
              <a:rPr lang="en-US" dirty="0" err="1"/>
              <a:t>mức</a:t>
            </a:r>
            <a:r>
              <a:rPr lang="en-US" dirty="0"/>
              <a:t> </a:t>
            </a:r>
            <a:r>
              <a:rPr lang="en-US" dirty="0" err="1"/>
              <a:t>cơ</a:t>
            </a:r>
            <a:r>
              <a:rPr lang="en-US" dirty="0"/>
              <a:t> </a:t>
            </a:r>
            <a:r>
              <a:rPr lang="en-US" dirty="0" err="1"/>
              <a:t>bản</a:t>
            </a:r>
            <a:endParaRPr lang="en-US" dirty="0"/>
          </a:p>
        </p:txBody>
      </p:sp>
      <p:sp>
        <p:nvSpPr>
          <p:cNvPr id="3" name="Content Placeholder 2"/>
          <p:cNvSpPr>
            <a:spLocks noGrp="1"/>
          </p:cNvSpPr>
          <p:nvPr>
            <p:ph idx="1"/>
          </p:nvPr>
        </p:nvSpPr>
        <p:spPr/>
        <p:txBody>
          <a:bodyPr/>
          <a:lstStyle/>
          <a:p>
            <a:r>
              <a:rPr lang="vi-VN" dirty="0"/>
              <a:t>Ưu điểm </a:t>
            </a:r>
            <a:endParaRPr lang="en-US" dirty="0"/>
          </a:p>
          <a:p>
            <a:pPr lvl="1"/>
            <a:r>
              <a:rPr lang="vi-VN" dirty="0"/>
              <a:t>Hỗ trợ nhiều người dùng</a:t>
            </a:r>
            <a:endParaRPr lang="en-US" dirty="0"/>
          </a:p>
          <a:p>
            <a:pPr lvl="1"/>
            <a:r>
              <a:rPr lang="vi-VN" dirty="0"/>
              <a:t>Giảm bớt xử lý cho Client </a:t>
            </a:r>
            <a:r>
              <a:rPr lang="en-US" dirty="0"/>
              <a:t>-&gt; </a:t>
            </a:r>
            <a:r>
              <a:rPr lang="vi-VN" dirty="0"/>
              <a:t>Không yêu cầu máy tính ở Client có cấu hình mạnh. </a:t>
            </a:r>
            <a:endParaRPr lang="en-US" dirty="0"/>
          </a:p>
          <a:p>
            <a:pPr lvl="1"/>
            <a:r>
              <a:rPr lang="vi-VN" dirty="0"/>
              <a:t>Xử lý nhận và hiển thị dữ liệu tập trung tại Application Server</a:t>
            </a:r>
            <a:r>
              <a:rPr lang="en-US" dirty="0"/>
              <a:t>-&gt;</a:t>
            </a:r>
            <a:r>
              <a:rPr lang="vi-VN" dirty="0"/>
              <a:t> dễ quản lý, bảo trì và nâng cấp.</a:t>
            </a:r>
            <a:endParaRPr lang="en-US" dirty="0"/>
          </a:p>
          <a:p>
            <a:pPr lvl="1"/>
            <a:r>
              <a:rPr lang="vi-VN" dirty="0"/>
              <a:t>Xử lý truy cập dữ liệu tập trung tại Database Server. </a:t>
            </a:r>
            <a:endParaRPr lang="en-US" dirty="0"/>
          </a:p>
          <a:p>
            <a:r>
              <a:rPr lang="en-US" dirty="0" err="1"/>
              <a:t>Khuyết</a:t>
            </a:r>
            <a:r>
              <a:rPr lang="en-US" dirty="0"/>
              <a:t> </a:t>
            </a:r>
            <a:r>
              <a:rPr lang="en-US" dirty="0" err="1"/>
              <a:t>điểm</a:t>
            </a:r>
            <a:r>
              <a:rPr lang="en-US" dirty="0"/>
              <a:t>  </a:t>
            </a:r>
          </a:p>
          <a:p>
            <a:pPr lvl="1"/>
            <a:r>
              <a:rPr lang="en-US" dirty="0" err="1"/>
              <a:t>Phải</a:t>
            </a:r>
            <a:r>
              <a:rPr lang="en-US" dirty="0"/>
              <a:t> </a:t>
            </a:r>
            <a:r>
              <a:rPr lang="en-US" dirty="0" err="1"/>
              <a:t>sử</a:t>
            </a:r>
            <a:r>
              <a:rPr lang="en-US" dirty="0"/>
              <a:t> </a:t>
            </a:r>
            <a:r>
              <a:rPr lang="en-US" dirty="0" err="1"/>
              <a:t>dụng</a:t>
            </a:r>
            <a:r>
              <a:rPr lang="en-US" dirty="0"/>
              <a:t> </a:t>
            </a:r>
            <a:r>
              <a:rPr lang="en-US" dirty="0" err="1"/>
              <a:t>thêm</a:t>
            </a:r>
            <a:r>
              <a:rPr lang="en-US" dirty="0"/>
              <a:t> </a:t>
            </a:r>
            <a:r>
              <a:rPr lang="en-US" dirty="0" err="1"/>
              <a:t>một</a:t>
            </a:r>
            <a:r>
              <a:rPr lang="en-US" dirty="0"/>
              <a:t> Application Server -&gt;</a:t>
            </a:r>
            <a:r>
              <a:rPr lang="en-US" dirty="0" err="1"/>
              <a:t>Tăng</a:t>
            </a:r>
            <a:r>
              <a:rPr lang="en-US" dirty="0"/>
              <a:t> chi </a:t>
            </a:r>
            <a:r>
              <a:rPr lang="en-US" dirty="0" err="1"/>
              <a:t>phí</a:t>
            </a:r>
            <a:r>
              <a:rPr lang="en-US" dirty="0"/>
              <a:t>. </a:t>
            </a:r>
          </a:p>
        </p:txBody>
      </p:sp>
    </p:spTree>
    <p:extLst>
      <p:ext uri="{BB962C8B-B14F-4D97-AF65-F5344CB8AC3E}">
        <p14:creationId xmlns:p14="http://schemas.microsoft.com/office/powerpoint/2010/main" val="23968439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517B-0F75-22CF-45BF-813AB730C595}"/>
              </a:ext>
            </a:extLst>
          </p:cNvPr>
          <p:cNvSpPr>
            <a:spLocks noGrp="1"/>
          </p:cNvSpPr>
          <p:nvPr>
            <p:ph type="title"/>
          </p:nvPr>
        </p:nvSpPr>
        <p:spPr/>
        <p:txBody>
          <a:bodyPr/>
          <a:lstStyle/>
          <a:p>
            <a:r>
              <a:rPr lang="en-US" dirty="0" err="1"/>
              <a:t>Mô</a:t>
            </a:r>
            <a:r>
              <a:rPr lang="en-US" dirty="0"/>
              <a:t> </a:t>
            </a:r>
            <a:r>
              <a:rPr lang="en-US" dirty="0" err="1"/>
              <a:t>hình</a:t>
            </a:r>
            <a:r>
              <a:rPr lang="en-US" dirty="0"/>
              <a:t> 3 </a:t>
            </a:r>
            <a:r>
              <a:rPr lang="en-US" dirty="0" err="1"/>
              <a:t>lớp</a:t>
            </a:r>
            <a:endParaRPr lang="en-US" dirty="0"/>
          </a:p>
        </p:txBody>
      </p:sp>
      <p:sp>
        <p:nvSpPr>
          <p:cNvPr id="3" name="Content Placeholder 2">
            <a:extLst>
              <a:ext uri="{FF2B5EF4-FFF2-40B4-BE49-F238E27FC236}">
                <a16:creationId xmlns:a16="http://schemas.microsoft.com/office/drawing/2014/main" id="{3801D6E4-D36A-8BB4-E6F2-F2D6E343B8F4}"/>
              </a:ext>
            </a:extLst>
          </p:cNvPr>
          <p:cNvSpPr>
            <a:spLocks noGrp="1"/>
          </p:cNvSpPr>
          <p:nvPr>
            <p:ph idx="1"/>
          </p:nvPr>
        </p:nvSpPr>
        <p:spPr/>
        <p:txBody>
          <a:bodyPr/>
          <a:lstStyle/>
          <a:p>
            <a:pPr algn="l">
              <a:buFont typeface="Arial" panose="020B0604020202020204" pitchFamily="34" charset="0"/>
              <a:buChar char="•"/>
            </a:pPr>
            <a:r>
              <a:rPr lang="vi-VN" b="0" i="0" dirty="0">
                <a:solidFill>
                  <a:srgbClr val="1B1B1B"/>
                </a:solidFill>
                <a:effectLst/>
                <a:highlight>
                  <a:srgbClr val="FFFFFF"/>
                </a:highlight>
                <a:latin typeface="Arial (body)"/>
              </a:rPr>
              <a:t>Mô hình 3 lớp hay còn được gọi là mô hình Three Layer(3-Layer), mô hình này ra đời nhằm phân chia các thành phần trong hệ thống, các thành phần cùng chức năng sẽ được nhóm lại với nhau và phân chia công việc cho từng nhóm để dữ liệu không bị chồng chéo và chạy lộn xộn.</a:t>
            </a:r>
          </a:p>
          <a:p>
            <a:pPr algn="l">
              <a:buFont typeface="Arial" panose="020B0604020202020204" pitchFamily="34" charset="0"/>
              <a:buChar char="•"/>
            </a:pPr>
            <a:r>
              <a:rPr lang="vi-VN" b="0" i="0" dirty="0">
                <a:solidFill>
                  <a:srgbClr val="1B1B1B"/>
                </a:solidFill>
                <a:effectLst/>
                <a:highlight>
                  <a:srgbClr val="FFFFFF"/>
                </a:highlight>
                <a:latin typeface="Arial (body)"/>
              </a:rPr>
              <a:t>Mô hình này phát huy hiệu quả nhất khi bạn xây dựng một hệ thống lớn, việc quản lý code và xử lý dữ liệu lỗi dễ dàng hơn.</a:t>
            </a:r>
          </a:p>
        </p:txBody>
      </p:sp>
    </p:spTree>
    <p:extLst>
      <p:ext uri="{BB962C8B-B14F-4D97-AF65-F5344CB8AC3E}">
        <p14:creationId xmlns:p14="http://schemas.microsoft.com/office/powerpoint/2010/main" val="35370418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517B-0F75-22CF-45BF-813AB730C595}"/>
              </a:ext>
            </a:extLst>
          </p:cNvPr>
          <p:cNvSpPr>
            <a:spLocks noGrp="1"/>
          </p:cNvSpPr>
          <p:nvPr>
            <p:ph type="title"/>
          </p:nvPr>
        </p:nvSpPr>
        <p:spPr>
          <a:xfrm>
            <a:off x="258327" y="533834"/>
            <a:ext cx="10993967" cy="498475"/>
          </a:xfrm>
        </p:spPr>
        <p:txBody>
          <a:bodyPr/>
          <a:lstStyle/>
          <a:p>
            <a:r>
              <a:rPr lang="en-US" dirty="0" err="1"/>
              <a:t>Mô</a:t>
            </a:r>
            <a:r>
              <a:rPr lang="en-US" dirty="0"/>
              <a:t> </a:t>
            </a:r>
            <a:r>
              <a:rPr lang="en-US" dirty="0" err="1"/>
              <a:t>hình</a:t>
            </a:r>
            <a:r>
              <a:rPr lang="en-US" dirty="0"/>
              <a:t> 3 </a:t>
            </a:r>
            <a:r>
              <a:rPr lang="en-US" dirty="0" err="1"/>
              <a:t>lớp</a:t>
            </a:r>
            <a:endParaRPr lang="en-US" dirty="0"/>
          </a:p>
        </p:txBody>
      </p:sp>
      <p:pic>
        <p:nvPicPr>
          <p:cNvPr id="5" name="Content Placeholder 4">
            <a:extLst>
              <a:ext uri="{FF2B5EF4-FFF2-40B4-BE49-F238E27FC236}">
                <a16:creationId xmlns:a16="http://schemas.microsoft.com/office/drawing/2014/main" id="{E3EC4161-20F4-16DB-D44E-BF90AFC64FD7}"/>
              </a:ext>
            </a:extLst>
          </p:cNvPr>
          <p:cNvPicPr>
            <a:picLocks noGrp="1" noChangeAspect="1"/>
          </p:cNvPicPr>
          <p:nvPr>
            <p:ph idx="1"/>
          </p:nvPr>
        </p:nvPicPr>
        <p:blipFill>
          <a:blip r:embed="rId2"/>
          <a:stretch>
            <a:fillRect/>
          </a:stretch>
        </p:blipFill>
        <p:spPr>
          <a:xfrm>
            <a:off x="7773215" y="1359150"/>
            <a:ext cx="4213467" cy="4627311"/>
          </a:xfrm>
        </p:spPr>
      </p:pic>
      <p:sp>
        <p:nvSpPr>
          <p:cNvPr id="6" name="Content Placeholder 2">
            <a:extLst>
              <a:ext uri="{FF2B5EF4-FFF2-40B4-BE49-F238E27FC236}">
                <a16:creationId xmlns:a16="http://schemas.microsoft.com/office/drawing/2014/main" id="{7524C5B9-FBD2-6481-860C-5A104B1001DE}"/>
              </a:ext>
            </a:extLst>
          </p:cNvPr>
          <p:cNvSpPr txBox="1">
            <a:spLocks/>
          </p:cNvSpPr>
          <p:nvPr/>
        </p:nvSpPr>
        <p:spPr bwMode="auto">
          <a:xfrm>
            <a:off x="616228" y="1473003"/>
            <a:ext cx="7156987" cy="3911993"/>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a:lstStyle>
          <a:p>
            <a:r>
              <a:rPr lang="vi-VN" sz="2200" kern="0" dirty="0">
                <a:highlight>
                  <a:srgbClr val="FFFFFF"/>
                </a:highlight>
              </a:rPr>
              <a:t>Lớp trên cùng là Presentation, có nhiệm vụ tương tác với người dùng</a:t>
            </a:r>
            <a:r>
              <a:rPr lang="en-US" sz="2200" kern="0" dirty="0">
                <a:highlight>
                  <a:srgbClr val="FFFFFF"/>
                </a:highlight>
              </a:rPr>
              <a:t>, </a:t>
            </a:r>
            <a:r>
              <a:rPr lang="vi-VN" sz="2200" kern="0" dirty="0">
                <a:highlight>
                  <a:srgbClr val="FFFFFF"/>
                </a:highlight>
              </a:rPr>
              <a:t>tất cả những gì liên quan đến hiển thị giao diện, dữ liệu, nhập xuất… sẽ nằm ở đây. Trong lớp này </a:t>
            </a:r>
            <a:r>
              <a:rPr lang="en-US" sz="2200" kern="0" dirty="0">
                <a:highlight>
                  <a:srgbClr val="FFFFFF"/>
                </a:highlight>
              </a:rPr>
              <a:t>ta</a:t>
            </a:r>
            <a:r>
              <a:rPr lang="vi-VN" sz="2200" kern="0" dirty="0">
                <a:highlight>
                  <a:srgbClr val="FFFFFF"/>
                </a:highlight>
              </a:rPr>
              <a:t> không thao tác trực tiếp với CSDL.</a:t>
            </a:r>
          </a:p>
          <a:p>
            <a:r>
              <a:rPr lang="vi-VN" sz="2200" kern="0" dirty="0">
                <a:highlight>
                  <a:srgbClr val="FFFFFF"/>
                </a:highlight>
              </a:rPr>
              <a:t>Lớp chính giữa là Business Logic layer (BL), lớp này sẽ nắm toàn bộ logic của chương trình, các quy tắc xử lý, ràng buộc… đều phải được kiểm tra tại đây.</a:t>
            </a:r>
          </a:p>
          <a:p>
            <a:r>
              <a:rPr lang="vi-VN" sz="2200" kern="0" dirty="0">
                <a:highlight>
                  <a:srgbClr val="FFFFFF"/>
                </a:highlight>
              </a:rPr>
              <a:t>Lớp dưới cùng là Data layer, các thao tác lưu trữ, cập nhật… sẽ được xử lý tại đây.</a:t>
            </a:r>
          </a:p>
          <a:p>
            <a:pPr>
              <a:buFont typeface="Arial" panose="020B0604020202020204" pitchFamily="34" charset="0"/>
              <a:buChar char="•"/>
            </a:pPr>
            <a:endParaRPr lang="vi-VN" kern="0" dirty="0">
              <a:solidFill>
                <a:srgbClr val="1B1B1B"/>
              </a:solidFill>
              <a:highlight>
                <a:srgbClr val="FFFFFF"/>
              </a:highlight>
              <a:latin typeface="Open Sans" panose="020B0606030504020204" pitchFamily="34" charset="0"/>
            </a:endParaRPr>
          </a:p>
        </p:txBody>
      </p:sp>
    </p:spTree>
    <p:extLst>
      <p:ext uri="{BB962C8B-B14F-4D97-AF65-F5344CB8AC3E}">
        <p14:creationId xmlns:p14="http://schemas.microsoft.com/office/powerpoint/2010/main" val="1967723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4280B-499A-9820-DA8E-755ADC0DD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4683E-F508-E0B8-B775-271FCCEADD92}"/>
              </a:ext>
            </a:extLst>
          </p:cNvPr>
          <p:cNvSpPr>
            <a:spLocks noGrp="1"/>
          </p:cNvSpPr>
          <p:nvPr>
            <p:ph type="title"/>
          </p:nvPr>
        </p:nvSpPr>
        <p:spPr>
          <a:xfrm>
            <a:off x="258327" y="533834"/>
            <a:ext cx="10993967" cy="498475"/>
          </a:xfrm>
        </p:spPr>
        <p:txBody>
          <a:bodyPr/>
          <a:lstStyle/>
          <a:p>
            <a:r>
              <a:rPr lang="en-US" dirty="0" err="1"/>
              <a:t>Mô</a:t>
            </a:r>
            <a:r>
              <a:rPr lang="en-US" dirty="0"/>
              <a:t> </a:t>
            </a:r>
            <a:r>
              <a:rPr lang="en-US" dirty="0" err="1"/>
              <a:t>hình</a:t>
            </a:r>
            <a:r>
              <a:rPr lang="en-US" dirty="0"/>
              <a:t> 3 </a:t>
            </a:r>
            <a:r>
              <a:rPr lang="en-US" dirty="0" err="1"/>
              <a:t>lớp</a:t>
            </a:r>
            <a:endParaRPr lang="en-US" dirty="0"/>
          </a:p>
        </p:txBody>
      </p:sp>
      <p:sp>
        <p:nvSpPr>
          <p:cNvPr id="4" name="Content Placeholder 3">
            <a:extLst>
              <a:ext uri="{FF2B5EF4-FFF2-40B4-BE49-F238E27FC236}">
                <a16:creationId xmlns:a16="http://schemas.microsoft.com/office/drawing/2014/main" id="{7CB33BA6-9921-2937-EC2D-26108894BEF2}"/>
              </a:ext>
            </a:extLst>
          </p:cNvPr>
          <p:cNvSpPr>
            <a:spLocks noGrp="1"/>
          </p:cNvSpPr>
          <p:nvPr>
            <p:ph idx="1"/>
          </p:nvPr>
        </p:nvSpPr>
        <p:spPr>
          <a:xfrm>
            <a:off x="914401" y="1201004"/>
            <a:ext cx="10367433" cy="4477486"/>
          </a:xfrm>
        </p:spPr>
        <p:txBody>
          <a:bodyPr/>
          <a:lstStyle/>
          <a:p>
            <a:r>
              <a:rPr lang="en-US" dirty="0" err="1"/>
              <a:t>Ví</a:t>
            </a:r>
            <a:r>
              <a:rPr lang="en-US" dirty="0"/>
              <a:t> </a:t>
            </a:r>
            <a:r>
              <a:rPr lang="en-US" dirty="0" err="1"/>
              <a:t>dụ</a:t>
            </a:r>
            <a:r>
              <a:rPr lang="en-US" dirty="0"/>
              <a:t> Website </a:t>
            </a:r>
            <a:r>
              <a:rPr lang="en-US" dirty="0" err="1"/>
              <a:t>tra</a:t>
            </a:r>
            <a:r>
              <a:rPr lang="en-US" dirty="0"/>
              <a:t> </a:t>
            </a:r>
            <a:r>
              <a:rPr lang="en-US" dirty="0" err="1"/>
              <a:t>cứu</a:t>
            </a:r>
            <a:r>
              <a:rPr lang="en-US" dirty="0"/>
              <a:t> </a:t>
            </a:r>
            <a:r>
              <a:rPr lang="en-US" dirty="0" err="1"/>
              <a:t>điểm</a:t>
            </a:r>
            <a:r>
              <a:rPr lang="en-US" dirty="0"/>
              <a:t> </a:t>
            </a:r>
            <a:r>
              <a:rPr lang="en-US" dirty="0" err="1"/>
              <a:t>sinh</a:t>
            </a:r>
            <a:r>
              <a:rPr lang="en-US" dirty="0"/>
              <a:t> </a:t>
            </a:r>
            <a:r>
              <a:rPr lang="en-US" dirty="0" err="1"/>
              <a:t>viên</a:t>
            </a:r>
            <a:r>
              <a:rPr lang="en-US" dirty="0"/>
              <a:t> </a:t>
            </a:r>
            <a:r>
              <a:rPr lang="en-US" dirty="0" err="1"/>
              <a:t>cho</a:t>
            </a:r>
            <a:r>
              <a:rPr lang="en-US" dirty="0"/>
              <a:t> </a:t>
            </a:r>
            <a:r>
              <a:rPr lang="en-US" dirty="0" err="1"/>
              <a:t>phép</a:t>
            </a:r>
            <a:r>
              <a:rPr lang="en-US" dirty="0"/>
              <a:t> </a:t>
            </a:r>
            <a:r>
              <a:rPr lang="en-US" dirty="0" err="1"/>
              <a:t>sinh</a:t>
            </a:r>
            <a:r>
              <a:rPr lang="en-US" dirty="0"/>
              <a:t> </a:t>
            </a:r>
            <a:r>
              <a:rPr lang="en-US" dirty="0" err="1"/>
              <a:t>viên</a:t>
            </a:r>
            <a:r>
              <a:rPr lang="en-US" dirty="0"/>
              <a:t> </a:t>
            </a:r>
            <a:r>
              <a:rPr lang="en-US" dirty="0" err="1"/>
              <a:t>truy</a:t>
            </a:r>
            <a:r>
              <a:rPr lang="en-US" dirty="0"/>
              <a:t> </a:t>
            </a:r>
            <a:r>
              <a:rPr lang="en-US" dirty="0" err="1"/>
              <a:t>cập</a:t>
            </a:r>
            <a:r>
              <a:rPr lang="en-US" dirty="0"/>
              <a:t> website </a:t>
            </a:r>
            <a:r>
              <a:rPr lang="en-US" dirty="0" err="1"/>
              <a:t>và</a:t>
            </a:r>
            <a:r>
              <a:rPr lang="en-US" dirty="0"/>
              <a:t> </a:t>
            </a:r>
            <a:r>
              <a:rPr lang="en-US" dirty="0" err="1"/>
              <a:t>nhập</a:t>
            </a:r>
            <a:r>
              <a:rPr lang="en-US" dirty="0"/>
              <a:t> </a:t>
            </a:r>
            <a:r>
              <a:rPr lang="en-US" b="1" dirty="0" err="1"/>
              <a:t>mã</a:t>
            </a:r>
            <a:r>
              <a:rPr lang="en-US" b="1" dirty="0"/>
              <a:t> </a:t>
            </a:r>
            <a:r>
              <a:rPr lang="en-US" b="1" dirty="0" err="1"/>
              <a:t>sinh</a:t>
            </a:r>
            <a:r>
              <a:rPr lang="en-US" b="1" dirty="0"/>
              <a:t> </a:t>
            </a:r>
            <a:r>
              <a:rPr lang="en-US" b="1" dirty="0" err="1"/>
              <a:t>viên</a:t>
            </a:r>
            <a:r>
              <a:rPr lang="en-US" dirty="0"/>
              <a:t> </a:t>
            </a:r>
            <a:r>
              <a:rPr lang="en-US" dirty="0" err="1"/>
              <a:t>để</a:t>
            </a:r>
            <a:r>
              <a:rPr lang="en-US" dirty="0"/>
              <a:t> </a:t>
            </a:r>
            <a:r>
              <a:rPr lang="en-US" dirty="0" err="1"/>
              <a:t>xem</a:t>
            </a:r>
            <a:r>
              <a:rPr lang="en-US" dirty="0"/>
              <a:t> </a:t>
            </a:r>
            <a:r>
              <a:rPr lang="en-US" dirty="0" err="1"/>
              <a:t>điểm</a:t>
            </a:r>
            <a:r>
              <a:rPr lang="en-US" dirty="0"/>
              <a:t>. Khi </a:t>
            </a:r>
            <a:r>
              <a:rPr lang="en-US" dirty="0" err="1"/>
              <a:t>xây</a:t>
            </a:r>
            <a:r>
              <a:rPr lang="en-US" dirty="0"/>
              <a:t> </a:t>
            </a:r>
            <a:r>
              <a:rPr lang="en-US" dirty="0" err="1"/>
              <a:t>dựng</a:t>
            </a:r>
            <a:r>
              <a:rPr lang="en-US" dirty="0"/>
              <a:t> </a:t>
            </a:r>
            <a:r>
              <a:rPr lang="en-US" dirty="0" err="1"/>
              <a:t>theo</a:t>
            </a:r>
            <a:r>
              <a:rPr lang="en-US" dirty="0"/>
              <a:t> </a:t>
            </a:r>
            <a:r>
              <a:rPr lang="en-US" dirty="0" err="1"/>
              <a:t>mô</a:t>
            </a:r>
            <a:r>
              <a:rPr lang="en-US" dirty="0"/>
              <a:t> </a:t>
            </a:r>
            <a:r>
              <a:rPr lang="en-US" dirty="0" err="1"/>
              <a:t>hình</a:t>
            </a:r>
            <a:r>
              <a:rPr lang="en-US" dirty="0"/>
              <a:t> 3 </a:t>
            </a:r>
            <a:r>
              <a:rPr lang="en-US" dirty="0" err="1"/>
              <a:t>lớp</a:t>
            </a:r>
            <a:r>
              <a:rPr lang="en-US" dirty="0"/>
              <a:t> </a:t>
            </a:r>
            <a:r>
              <a:rPr lang="en-US" dirty="0" err="1"/>
              <a:t>sẽ</a:t>
            </a:r>
            <a:r>
              <a:rPr lang="en-US" dirty="0"/>
              <a:t> </a:t>
            </a:r>
            <a:r>
              <a:rPr lang="en-US" dirty="0" err="1"/>
              <a:t>gồm</a:t>
            </a:r>
            <a:r>
              <a:rPr lang="en-US" dirty="0"/>
              <a:t>:</a:t>
            </a:r>
          </a:p>
          <a:p>
            <a:r>
              <a:rPr lang="en-US" dirty="0" err="1"/>
              <a:t>Lớp</a:t>
            </a:r>
            <a:r>
              <a:rPr lang="en-US" dirty="0"/>
              <a:t> 1 – Presentation Layer</a:t>
            </a:r>
          </a:p>
          <a:p>
            <a:pPr lvl="1"/>
            <a:r>
              <a:rPr lang="en-US" dirty="0" err="1"/>
              <a:t>Đây</a:t>
            </a:r>
            <a:r>
              <a:rPr lang="en-US" dirty="0"/>
              <a:t> </a:t>
            </a:r>
            <a:r>
              <a:rPr lang="en-US" dirty="0" err="1"/>
              <a:t>là</a:t>
            </a:r>
            <a:r>
              <a:rPr lang="en-US" dirty="0"/>
              <a:t> </a:t>
            </a:r>
            <a:r>
              <a:rPr lang="en-US" dirty="0" err="1"/>
              <a:t>giao</a:t>
            </a:r>
            <a:r>
              <a:rPr lang="en-US" dirty="0"/>
              <a:t> </a:t>
            </a:r>
            <a:r>
              <a:rPr lang="en-US" dirty="0" err="1"/>
              <a:t>diện</a:t>
            </a:r>
            <a:r>
              <a:rPr lang="en-US" dirty="0"/>
              <a:t> </a:t>
            </a:r>
            <a:r>
              <a:rPr lang="en-US" dirty="0" err="1"/>
              <a:t>mà</a:t>
            </a:r>
            <a:r>
              <a:rPr lang="en-US" dirty="0"/>
              <a:t> </a:t>
            </a:r>
            <a:r>
              <a:rPr lang="en-US" dirty="0" err="1"/>
              <a:t>người</a:t>
            </a:r>
            <a:r>
              <a:rPr lang="en-US" dirty="0"/>
              <a:t> </a:t>
            </a:r>
            <a:r>
              <a:rPr lang="en-US" dirty="0" err="1"/>
              <a:t>dùng</a:t>
            </a:r>
            <a:r>
              <a:rPr lang="en-US" dirty="0"/>
              <a:t> </a:t>
            </a:r>
            <a:r>
              <a:rPr lang="en-US" dirty="0" err="1"/>
              <a:t>nhìn</a:t>
            </a:r>
            <a:r>
              <a:rPr lang="en-US" dirty="0"/>
              <a:t> </a:t>
            </a:r>
            <a:r>
              <a:rPr lang="en-US" dirty="0" err="1"/>
              <a:t>thấy</a:t>
            </a:r>
            <a:r>
              <a:rPr lang="en-US" dirty="0"/>
              <a:t> </a:t>
            </a:r>
            <a:r>
              <a:rPr lang="en-US" dirty="0" err="1"/>
              <a:t>và</a:t>
            </a:r>
            <a:r>
              <a:rPr lang="en-US" dirty="0"/>
              <a:t> </a:t>
            </a:r>
            <a:r>
              <a:rPr lang="en-US" dirty="0" err="1"/>
              <a:t>tương</a:t>
            </a:r>
            <a:r>
              <a:rPr lang="en-US" dirty="0"/>
              <a:t> </a:t>
            </a:r>
            <a:r>
              <a:rPr lang="en-US" dirty="0" err="1"/>
              <a:t>tác</a:t>
            </a:r>
            <a:r>
              <a:rPr lang="en-US" dirty="0"/>
              <a:t>.</a:t>
            </a:r>
          </a:p>
          <a:p>
            <a:pPr lvl="1"/>
            <a:r>
              <a:rPr lang="en-US" dirty="0" err="1"/>
              <a:t>Lớp</a:t>
            </a:r>
            <a:r>
              <a:rPr lang="en-US" dirty="0"/>
              <a:t> </a:t>
            </a:r>
            <a:r>
              <a:rPr lang="en-US" dirty="0" err="1"/>
              <a:t>này</a:t>
            </a:r>
            <a:r>
              <a:rPr lang="en-US" dirty="0"/>
              <a:t> </a:t>
            </a:r>
            <a:r>
              <a:rPr lang="en-US" dirty="0" err="1"/>
              <a:t>chịu</a:t>
            </a:r>
            <a:r>
              <a:rPr lang="en-US" dirty="0"/>
              <a:t> </a:t>
            </a:r>
            <a:r>
              <a:rPr lang="en-US" dirty="0" err="1"/>
              <a:t>trách</a:t>
            </a:r>
            <a:r>
              <a:rPr lang="en-US" dirty="0"/>
              <a:t> </a:t>
            </a:r>
            <a:r>
              <a:rPr lang="en-US" dirty="0" err="1"/>
              <a:t>nhiệm</a:t>
            </a:r>
            <a:r>
              <a:rPr lang="en-US" dirty="0"/>
              <a:t>:</a:t>
            </a:r>
          </a:p>
          <a:p>
            <a:pPr lvl="1"/>
            <a:r>
              <a:rPr lang="en-US" dirty="0"/>
              <a:t>Hiển </a:t>
            </a:r>
            <a:r>
              <a:rPr lang="en-US" dirty="0" err="1"/>
              <a:t>thị</a:t>
            </a:r>
            <a:r>
              <a:rPr lang="en-US" dirty="0"/>
              <a:t> </a:t>
            </a:r>
            <a:r>
              <a:rPr lang="en-US" dirty="0" err="1"/>
              <a:t>giao</a:t>
            </a:r>
            <a:r>
              <a:rPr lang="en-US" dirty="0"/>
              <a:t> </a:t>
            </a:r>
            <a:r>
              <a:rPr lang="en-US" dirty="0" err="1"/>
              <a:t>diện</a:t>
            </a:r>
            <a:r>
              <a:rPr lang="en-US" dirty="0"/>
              <a:t>. </a:t>
            </a:r>
          </a:p>
          <a:p>
            <a:pPr lvl="1"/>
            <a:r>
              <a:rPr lang="en-US" dirty="0" err="1"/>
              <a:t>Nhận</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người</a:t>
            </a:r>
            <a:r>
              <a:rPr lang="en-US" dirty="0"/>
              <a:t> </a:t>
            </a:r>
            <a:r>
              <a:rPr lang="en-US" dirty="0" err="1"/>
              <a:t>dùng</a:t>
            </a:r>
            <a:r>
              <a:rPr lang="en-US" dirty="0"/>
              <a:t>. </a:t>
            </a:r>
          </a:p>
          <a:p>
            <a:pPr lvl="1"/>
            <a:r>
              <a:rPr lang="en-US" dirty="0" err="1"/>
              <a:t>Gửi</a:t>
            </a:r>
            <a:r>
              <a:rPr lang="en-US" dirty="0"/>
              <a:t> </a:t>
            </a:r>
            <a:r>
              <a:rPr lang="en-US" dirty="0" err="1"/>
              <a:t>yêu</a:t>
            </a:r>
            <a:r>
              <a:rPr lang="en-US" dirty="0"/>
              <a:t> </a:t>
            </a:r>
            <a:r>
              <a:rPr lang="en-US" dirty="0" err="1"/>
              <a:t>cầu</a:t>
            </a:r>
            <a:r>
              <a:rPr lang="en-US" dirty="0"/>
              <a:t> </a:t>
            </a:r>
            <a:r>
              <a:rPr lang="en-US" dirty="0" err="1"/>
              <a:t>đến</a:t>
            </a:r>
            <a:r>
              <a:rPr lang="en-US" dirty="0"/>
              <a:t> </a:t>
            </a:r>
            <a:r>
              <a:rPr lang="en-US" dirty="0" err="1"/>
              <a:t>lớp</a:t>
            </a:r>
            <a:r>
              <a:rPr lang="en-US" dirty="0"/>
              <a:t> Business Logic. </a:t>
            </a:r>
          </a:p>
          <a:p>
            <a:pPr lvl="1"/>
            <a:r>
              <a:rPr lang="en-US" dirty="0"/>
              <a:t>Hiển </a:t>
            </a:r>
            <a:r>
              <a:rPr lang="en-US" dirty="0" err="1"/>
              <a:t>thị</a:t>
            </a:r>
            <a:r>
              <a:rPr lang="en-US" dirty="0"/>
              <a:t> </a:t>
            </a:r>
            <a:r>
              <a:rPr lang="en-US" dirty="0" err="1"/>
              <a:t>kết</a:t>
            </a:r>
            <a:r>
              <a:rPr lang="en-US" dirty="0"/>
              <a:t> </a:t>
            </a:r>
            <a:r>
              <a:rPr lang="en-US" dirty="0" err="1"/>
              <a:t>quả</a:t>
            </a:r>
            <a:r>
              <a:rPr lang="en-US" dirty="0"/>
              <a:t>.</a:t>
            </a:r>
          </a:p>
          <a:p>
            <a:endParaRPr lang="en-US" dirty="0"/>
          </a:p>
          <a:p>
            <a:endParaRPr lang="en-US" dirty="0"/>
          </a:p>
        </p:txBody>
      </p:sp>
    </p:spTree>
    <p:extLst>
      <p:ext uri="{BB962C8B-B14F-4D97-AF65-F5344CB8AC3E}">
        <p14:creationId xmlns:p14="http://schemas.microsoft.com/office/powerpoint/2010/main" val="402686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98B00-D92B-DAF4-707B-5DD02B2EF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65BD8-0B95-D57D-CDD0-31E9383C5B96}"/>
              </a:ext>
            </a:extLst>
          </p:cNvPr>
          <p:cNvSpPr>
            <a:spLocks noGrp="1"/>
          </p:cNvSpPr>
          <p:nvPr>
            <p:ph type="title"/>
          </p:nvPr>
        </p:nvSpPr>
        <p:spPr>
          <a:xfrm>
            <a:off x="258327" y="533834"/>
            <a:ext cx="10993967" cy="498475"/>
          </a:xfrm>
        </p:spPr>
        <p:txBody>
          <a:bodyPr/>
          <a:lstStyle/>
          <a:p>
            <a:r>
              <a:rPr lang="en-US" dirty="0" err="1"/>
              <a:t>Mô</a:t>
            </a:r>
            <a:r>
              <a:rPr lang="en-US" dirty="0"/>
              <a:t> </a:t>
            </a:r>
            <a:r>
              <a:rPr lang="en-US" dirty="0" err="1"/>
              <a:t>hình</a:t>
            </a:r>
            <a:r>
              <a:rPr lang="en-US" dirty="0"/>
              <a:t> 3 </a:t>
            </a:r>
            <a:r>
              <a:rPr lang="en-US" dirty="0" err="1"/>
              <a:t>lớp</a:t>
            </a:r>
            <a:endParaRPr lang="en-US" dirty="0"/>
          </a:p>
        </p:txBody>
      </p:sp>
      <p:sp>
        <p:nvSpPr>
          <p:cNvPr id="4" name="Content Placeholder 3">
            <a:extLst>
              <a:ext uri="{FF2B5EF4-FFF2-40B4-BE49-F238E27FC236}">
                <a16:creationId xmlns:a16="http://schemas.microsoft.com/office/drawing/2014/main" id="{BC42AEF0-DE70-23F2-79D3-87731AF6DA0E}"/>
              </a:ext>
            </a:extLst>
          </p:cNvPr>
          <p:cNvSpPr>
            <a:spLocks noGrp="1"/>
          </p:cNvSpPr>
          <p:nvPr>
            <p:ph idx="1"/>
          </p:nvPr>
        </p:nvSpPr>
        <p:spPr>
          <a:xfrm>
            <a:off x="914401" y="1201004"/>
            <a:ext cx="10367433" cy="4477486"/>
          </a:xfrm>
        </p:spPr>
        <p:txBody>
          <a:bodyPr/>
          <a:lstStyle/>
          <a:p>
            <a:r>
              <a:rPr lang="en-US" dirty="0" err="1"/>
              <a:t>Lớp</a:t>
            </a:r>
            <a:r>
              <a:rPr lang="en-US" dirty="0"/>
              <a:t> 2 – Business Logic Layer</a:t>
            </a:r>
          </a:p>
          <a:p>
            <a:pPr lvl="1"/>
            <a:r>
              <a:rPr lang="en-US" dirty="0" err="1"/>
              <a:t>Đây</a:t>
            </a:r>
            <a:r>
              <a:rPr lang="en-US" dirty="0"/>
              <a:t> </a:t>
            </a:r>
            <a:r>
              <a:rPr lang="en-US" dirty="0" err="1"/>
              <a:t>là</a:t>
            </a:r>
            <a:r>
              <a:rPr lang="en-US" dirty="0"/>
              <a:t> </a:t>
            </a:r>
            <a:r>
              <a:rPr lang="en-US" dirty="0" err="1"/>
              <a:t>lớp</a:t>
            </a:r>
            <a:r>
              <a:rPr lang="en-US" dirty="0"/>
              <a:t> </a:t>
            </a:r>
            <a:r>
              <a:rPr lang="en-US" dirty="0" err="1"/>
              <a:t>xử</a:t>
            </a:r>
            <a:r>
              <a:rPr lang="en-US" dirty="0"/>
              <a:t> </a:t>
            </a:r>
            <a:r>
              <a:rPr lang="en-US" dirty="0" err="1"/>
              <a:t>lý</a:t>
            </a:r>
            <a:r>
              <a:rPr lang="en-US" dirty="0"/>
              <a:t> </a:t>
            </a:r>
            <a:r>
              <a:rPr lang="en-US" dirty="0" err="1"/>
              <a:t>nghiệp</a:t>
            </a:r>
            <a:r>
              <a:rPr lang="en-US" dirty="0"/>
              <a:t> </a:t>
            </a:r>
            <a:r>
              <a:rPr lang="en-US" dirty="0" err="1"/>
              <a:t>vụ</a:t>
            </a:r>
            <a:r>
              <a:rPr lang="en-US" dirty="0"/>
              <a:t>. Business Logic </a:t>
            </a:r>
            <a:r>
              <a:rPr lang="en-US" dirty="0" err="1"/>
              <a:t>có</a:t>
            </a:r>
            <a:r>
              <a:rPr lang="en-US" dirty="0"/>
              <a:t> </a:t>
            </a:r>
            <a:r>
              <a:rPr lang="en-US" dirty="0" err="1"/>
              <a:t>thể</a:t>
            </a:r>
            <a:r>
              <a:rPr lang="en-US" dirty="0"/>
              <a:t> </a:t>
            </a:r>
            <a:r>
              <a:rPr lang="en-US" dirty="0" err="1"/>
              <a:t>thực</a:t>
            </a:r>
            <a:r>
              <a:rPr lang="en-US" dirty="0"/>
              <a:t> </a:t>
            </a:r>
            <a:r>
              <a:rPr lang="en-US" dirty="0" err="1"/>
              <a:t>hiện</a:t>
            </a:r>
            <a:r>
              <a:rPr lang="en-US" dirty="0"/>
              <a:t>:</a:t>
            </a:r>
          </a:p>
          <a:p>
            <a:pPr lvl="1"/>
            <a:r>
              <a:rPr lang="en-US" dirty="0" err="1"/>
              <a:t>Kiểm</a:t>
            </a:r>
            <a:r>
              <a:rPr lang="en-US" dirty="0"/>
              <a:t> </a:t>
            </a:r>
            <a:r>
              <a:rPr lang="en-US" dirty="0" err="1"/>
              <a:t>tra</a:t>
            </a:r>
            <a:r>
              <a:rPr lang="en-US" dirty="0"/>
              <a:t> </a:t>
            </a:r>
            <a:r>
              <a:rPr lang="en-US" dirty="0" err="1"/>
              <a:t>mã</a:t>
            </a:r>
            <a:r>
              <a:rPr lang="en-US" dirty="0"/>
              <a:t> </a:t>
            </a:r>
            <a:r>
              <a:rPr lang="en-US" dirty="0" err="1"/>
              <a:t>sinh</a:t>
            </a:r>
            <a:r>
              <a:rPr lang="en-US" dirty="0"/>
              <a:t> </a:t>
            </a:r>
            <a:r>
              <a:rPr lang="en-US" dirty="0" err="1"/>
              <a:t>viên</a:t>
            </a:r>
            <a:r>
              <a:rPr lang="en-US" dirty="0"/>
              <a:t> </a:t>
            </a:r>
            <a:r>
              <a:rPr lang="en-US" dirty="0" err="1"/>
              <a:t>có</a:t>
            </a:r>
            <a:r>
              <a:rPr lang="en-US" dirty="0"/>
              <a:t> </a:t>
            </a:r>
            <a:r>
              <a:rPr lang="en-US" dirty="0" err="1"/>
              <a:t>hợp</a:t>
            </a:r>
            <a:r>
              <a:rPr lang="en-US" dirty="0"/>
              <a:t> </a:t>
            </a:r>
            <a:r>
              <a:rPr lang="en-US" dirty="0" err="1"/>
              <a:t>lệ</a:t>
            </a:r>
            <a:r>
              <a:rPr lang="en-US" dirty="0"/>
              <a:t> </a:t>
            </a:r>
            <a:r>
              <a:rPr lang="en-US" dirty="0" err="1"/>
              <a:t>không</a:t>
            </a:r>
            <a:r>
              <a:rPr lang="en-US" dirty="0"/>
              <a:t>. </a:t>
            </a:r>
          </a:p>
          <a:p>
            <a:pPr lvl="1"/>
            <a:r>
              <a:rPr lang="en-US" dirty="0" err="1"/>
              <a:t>Kiểm</a:t>
            </a:r>
            <a:r>
              <a:rPr lang="en-US" dirty="0"/>
              <a:t> </a:t>
            </a:r>
            <a:r>
              <a:rPr lang="en-US" dirty="0" err="1"/>
              <a:t>tra</a:t>
            </a:r>
            <a:r>
              <a:rPr lang="en-US" dirty="0"/>
              <a:t> </a:t>
            </a:r>
            <a:r>
              <a:rPr lang="en-US" dirty="0" err="1"/>
              <a:t>sinh</a:t>
            </a:r>
            <a:r>
              <a:rPr lang="en-US" dirty="0"/>
              <a:t> </a:t>
            </a:r>
            <a:r>
              <a:rPr lang="en-US" dirty="0" err="1"/>
              <a:t>viên</a:t>
            </a:r>
            <a:r>
              <a:rPr lang="en-US" dirty="0"/>
              <a:t> </a:t>
            </a:r>
            <a:r>
              <a:rPr lang="en-US" dirty="0" err="1"/>
              <a:t>có</a:t>
            </a:r>
            <a:r>
              <a:rPr lang="en-US" dirty="0"/>
              <a:t> </a:t>
            </a:r>
            <a:r>
              <a:rPr lang="en-US" dirty="0" err="1"/>
              <a:t>quyền</a:t>
            </a:r>
            <a:r>
              <a:rPr lang="en-US" dirty="0"/>
              <a:t> </a:t>
            </a:r>
            <a:r>
              <a:rPr lang="en-US" dirty="0" err="1"/>
              <a:t>xem</a:t>
            </a:r>
            <a:r>
              <a:rPr lang="en-US" dirty="0"/>
              <a:t> </a:t>
            </a:r>
            <a:r>
              <a:rPr lang="en-US" dirty="0" err="1"/>
              <a:t>điểm</a:t>
            </a:r>
            <a:r>
              <a:rPr lang="en-US" dirty="0"/>
              <a:t> </a:t>
            </a:r>
            <a:r>
              <a:rPr lang="en-US" dirty="0" err="1"/>
              <a:t>không</a:t>
            </a:r>
            <a:r>
              <a:rPr lang="en-US" dirty="0"/>
              <a:t>. </a:t>
            </a:r>
          </a:p>
          <a:p>
            <a:pPr lvl="1"/>
            <a:r>
              <a:rPr lang="en-US" dirty="0" err="1"/>
              <a:t>Yêu</a:t>
            </a:r>
            <a:r>
              <a:rPr lang="en-US" dirty="0"/>
              <a:t> </a:t>
            </a:r>
            <a:r>
              <a:rPr lang="en-US" dirty="0" err="1"/>
              <a:t>cầu</a:t>
            </a:r>
            <a:r>
              <a:rPr lang="en-US" dirty="0"/>
              <a:t> Data Access </a:t>
            </a:r>
            <a:r>
              <a:rPr lang="en-US" dirty="0" err="1"/>
              <a:t>lấy</a:t>
            </a:r>
            <a:r>
              <a:rPr lang="en-US" dirty="0"/>
              <a:t> </a:t>
            </a:r>
            <a:r>
              <a:rPr lang="en-US" dirty="0" err="1"/>
              <a:t>điểm</a:t>
            </a:r>
            <a:r>
              <a:rPr lang="en-US" dirty="0"/>
              <a:t>. </a:t>
            </a:r>
          </a:p>
          <a:p>
            <a:pPr lvl="1"/>
            <a:r>
              <a:rPr lang="en-US" dirty="0" err="1"/>
              <a:t>Tính</a:t>
            </a:r>
            <a:r>
              <a:rPr lang="en-US" dirty="0"/>
              <a:t> </a:t>
            </a:r>
            <a:r>
              <a:rPr lang="en-US" dirty="0" err="1"/>
              <a:t>điểm</a:t>
            </a:r>
            <a:r>
              <a:rPr lang="en-US" dirty="0"/>
              <a:t> </a:t>
            </a:r>
            <a:r>
              <a:rPr lang="en-US" dirty="0" err="1"/>
              <a:t>trung</a:t>
            </a:r>
            <a:r>
              <a:rPr lang="en-US" dirty="0"/>
              <a:t> </a:t>
            </a:r>
            <a:r>
              <a:rPr lang="en-US" dirty="0" err="1"/>
              <a:t>bình</a:t>
            </a:r>
            <a:r>
              <a:rPr lang="en-US" dirty="0"/>
              <a:t>. </a:t>
            </a:r>
          </a:p>
          <a:p>
            <a:pPr lvl="1"/>
            <a:r>
              <a:rPr lang="en-US" dirty="0" err="1"/>
              <a:t>Xác</a:t>
            </a:r>
            <a:r>
              <a:rPr lang="en-US" dirty="0"/>
              <a:t> </a:t>
            </a:r>
            <a:r>
              <a:rPr lang="en-US" dirty="0" err="1"/>
              <a:t>định</a:t>
            </a:r>
            <a:r>
              <a:rPr lang="en-US" dirty="0"/>
              <a:t> </a:t>
            </a:r>
            <a:r>
              <a:rPr lang="en-US" dirty="0" err="1"/>
              <a:t>kết</a:t>
            </a:r>
            <a:r>
              <a:rPr lang="en-US" dirty="0"/>
              <a:t> </a:t>
            </a:r>
            <a:r>
              <a:rPr lang="en-US" dirty="0" err="1"/>
              <a:t>quả</a:t>
            </a:r>
            <a:r>
              <a:rPr lang="en-US" dirty="0"/>
              <a:t> </a:t>
            </a:r>
            <a:r>
              <a:rPr lang="en-US" dirty="0" err="1"/>
              <a:t>học</a:t>
            </a:r>
            <a:r>
              <a:rPr lang="en-US" dirty="0"/>
              <a:t> </a:t>
            </a:r>
            <a:r>
              <a:rPr lang="en-US" dirty="0" err="1"/>
              <a:t>tập</a:t>
            </a:r>
            <a:r>
              <a:rPr lang="en-US" dirty="0"/>
              <a:t>. </a:t>
            </a:r>
          </a:p>
          <a:p>
            <a:pPr lvl="1"/>
            <a:r>
              <a:rPr lang="en-US" dirty="0" err="1"/>
              <a:t>Trả</a:t>
            </a:r>
            <a:r>
              <a:rPr lang="en-US" dirty="0"/>
              <a:t> </a:t>
            </a:r>
            <a:r>
              <a:rPr lang="en-US" dirty="0" err="1"/>
              <a:t>kết</a:t>
            </a:r>
            <a:r>
              <a:rPr lang="en-US" dirty="0"/>
              <a:t> </a:t>
            </a:r>
            <a:r>
              <a:rPr lang="en-US" dirty="0" err="1"/>
              <a:t>quả</a:t>
            </a:r>
            <a:r>
              <a:rPr lang="en-US" dirty="0"/>
              <a:t> </a:t>
            </a:r>
            <a:r>
              <a:rPr lang="en-US" dirty="0" err="1"/>
              <a:t>về</a:t>
            </a:r>
            <a:r>
              <a:rPr lang="en-US" dirty="0"/>
              <a:t> Presentation.</a:t>
            </a:r>
          </a:p>
          <a:p>
            <a:pPr lvl="1"/>
            <a:endParaRPr lang="en-US" dirty="0"/>
          </a:p>
          <a:p>
            <a:endParaRPr lang="en-US" dirty="0"/>
          </a:p>
          <a:p>
            <a:endParaRPr lang="en-US" dirty="0"/>
          </a:p>
        </p:txBody>
      </p:sp>
    </p:spTree>
    <p:extLst>
      <p:ext uri="{BB962C8B-B14F-4D97-AF65-F5344CB8AC3E}">
        <p14:creationId xmlns:p14="http://schemas.microsoft.com/office/powerpoint/2010/main" val="1905377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09051-EBF6-DDA4-11F8-474E2BB47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433BF-7E29-6ABA-721B-0F81C792C270}"/>
              </a:ext>
            </a:extLst>
          </p:cNvPr>
          <p:cNvSpPr>
            <a:spLocks noGrp="1"/>
          </p:cNvSpPr>
          <p:nvPr>
            <p:ph type="title"/>
          </p:nvPr>
        </p:nvSpPr>
        <p:spPr>
          <a:xfrm>
            <a:off x="258327" y="533834"/>
            <a:ext cx="10993967" cy="498475"/>
          </a:xfrm>
        </p:spPr>
        <p:txBody>
          <a:bodyPr/>
          <a:lstStyle/>
          <a:p>
            <a:r>
              <a:rPr lang="en-US" dirty="0" err="1"/>
              <a:t>Mô</a:t>
            </a:r>
            <a:r>
              <a:rPr lang="en-US" dirty="0"/>
              <a:t> </a:t>
            </a:r>
            <a:r>
              <a:rPr lang="en-US" dirty="0" err="1"/>
              <a:t>hình</a:t>
            </a:r>
            <a:r>
              <a:rPr lang="en-US" dirty="0"/>
              <a:t> 3 </a:t>
            </a:r>
            <a:r>
              <a:rPr lang="en-US" dirty="0" err="1"/>
              <a:t>lớp</a:t>
            </a:r>
            <a:endParaRPr lang="en-US" dirty="0"/>
          </a:p>
        </p:txBody>
      </p:sp>
      <p:sp>
        <p:nvSpPr>
          <p:cNvPr id="4" name="Content Placeholder 3">
            <a:extLst>
              <a:ext uri="{FF2B5EF4-FFF2-40B4-BE49-F238E27FC236}">
                <a16:creationId xmlns:a16="http://schemas.microsoft.com/office/drawing/2014/main" id="{1EB04A47-22CE-D8E8-5314-C084DE9AA6BF}"/>
              </a:ext>
            </a:extLst>
          </p:cNvPr>
          <p:cNvSpPr>
            <a:spLocks noGrp="1"/>
          </p:cNvSpPr>
          <p:nvPr>
            <p:ph idx="1"/>
          </p:nvPr>
        </p:nvSpPr>
        <p:spPr>
          <a:xfrm>
            <a:off x="914401" y="1201004"/>
            <a:ext cx="10367433" cy="4477486"/>
          </a:xfrm>
        </p:spPr>
        <p:txBody>
          <a:bodyPr/>
          <a:lstStyle/>
          <a:p>
            <a:r>
              <a:rPr lang="en-US" dirty="0" err="1"/>
              <a:t>Lớp</a:t>
            </a:r>
            <a:r>
              <a:rPr lang="en-US" dirty="0"/>
              <a:t> 3 – Data Access Layer</a:t>
            </a:r>
          </a:p>
          <a:p>
            <a:pPr lvl="1"/>
            <a:r>
              <a:rPr lang="en-US" dirty="0" err="1"/>
              <a:t>Lớp</a:t>
            </a:r>
            <a:r>
              <a:rPr lang="en-US" dirty="0"/>
              <a:t> </a:t>
            </a:r>
            <a:r>
              <a:rPr lang="en-US" dirty="0" err="1"/>
              <a:t>này</a:t>
            </a:r>
            <a:r>
              <a:rPr lang="en-US" dirty="0"/>
              <a:t> </a:t>
            </a:r>
            <a:r>
              <a:rPr lang="en-US" dirty="0" err="1"/>
              <a:t>chịu</a:t>
            </a:r>
            <a:r>
              <a:rPr lang="en-US" dirty="0"/>
              <a:t> </a:t>
            </a:r>
            <a:r>
              <a:rPr lang="en-US" dirty="0" err="1"/>
              <a:t>trách</a:t>
            </a:r>
            <a:r>
              <a:rPr lang="en-US" dirty="0"/>
              <a:t> </a:t>
            </a:r>
            <a:r>
              <a:rPr lang="en-US" dirty="0" err="1"/>
              <a:t>nhiệm</a:t>
            </a:r>
            <a:r>
              <a:rPr lang="en-US" dirty="0"/>
              <a:t> </a:t>
            </a:r>
            <a:r>
              <a:rPr lang="en-US" dirty="0" err="1"/>
              <a:t>làm</a:t>
            </a:r>
            <a:r>
              <a:rPr lang="en-US" dirty="0"/>
              <a:t> </a:t>
            </a:r>
            <a:r>
              <a:rPr lang="en-US" dirty="0" err="1"/>
              <a:t>việc</a:t>
            </a:r>
            <a:r>
              <a:rPr lang="en-US" dirty="0"/>
              <a:t> </a:t>
            </a:r>
            <a:r>
              <a:rPr lang="en-US" dirty="0" err="1"/>
              <a:t>với</a:t>
            </a:r>
            <a:r>
              <a:rPr lang="en-US" dirty="0"/>
              <a:t> Database.</a:t>
            </a:r>
          </a:p>
          <a:p>
            <a:pPr lvl="1"/>
            <a:r>
              <a:rPr lang="en-US" dirty="0" err="1"/>
              <a:t>Ví</a:t>
            </a:r>
            <a:r>
              <a:rPr lang="en-US" dirty="0"/>
              <a:t> </a:t>
            </a:r>
            <a:r>
              <a:rPr lang="en-US" dirty="0" err="1"/>
              <a:t>dụ</a:t>
            </a:r>
            <a:r>
              <a:rPr lang="en-US" dirty="0"/>
              <a:t> </a:t>
            </a:r>
            <a:r>
              <a:rPr lang="en-US" dirty="0" err="1"/>
              <a:t>khi</a:t>
            </a:r>
            <a:r>
              <a:rPr lang="en-US" dirty="0"/>
              <a:t> Business Logic </a:t>
            </a:r>
            <a:r>
              <a:rPr lang="en-US" dirty="0" err="1"/>
              <a:t>yêu</a:t>
            </a:r>
            <a:r>
              <a:rPr lang="en-US" dirty="0"/>
              <a:t> </a:t>
            </a:r>
            <a:r>
              <a:rPr lang="en-US" dirty="0" err="1"/>
              <a:t>cầu</a:t>
            </a:r>
            <a:r>
              <a:rPr lang="en-US" dirty="0"/>
              <a:t> </a:t>
            </a:r>
            <a:r>
              <a:rPr lang="en-US" dirty="0" err="1"/>
              <a:t>lấy</a:t>
            </a:r>
            <a:r>
              <a:rPr lang="en-US" dirty="0"/>
              <a:t> </a:t>
            </a:r>
            <a:r>
              <a:rPr lang="en-US" dirty="0" err="1"/>
              <a:t>điểm</a:t>
            </a:r>
            <a:r>
              <a:rPr lang="en-US" dirty="0"/>
              <a:t> </a:t>
            </a:r>
            <a:r>
              <a:rPr lang="en-US" dirty="0" err="1"/>
              <a:t>của</a:t>
            </a:r>
            <a:r>
              <a:rPr lang="en-US" dirty="0"/>
              <a:t> </a:t>
            </a:r>
            <a:r>
              <a:rPr lang="en-US" dirty="0" err="1"/>
              <a:t>sinh</a:t>
            </a:r>
            <a:r>
              <a:rPr lang="en-US" dirty="0"/>
              <a:t> </a:t>
            </a:r>
            <a:r>
              <a:rPr lang="en-US" dirty="0" err="1"/>
              <a:t>viên</a:t>
            </a:r>
            <a:r>
              <a:rPr lang="en-US" dirty="0"/>
              <a:t> SV001, </a:t>
            </a:r>
            <a:r>
              <a:rPr lang="en-US" dirty="0" err="1"/>
              <a:t>tầng</a:t>
            </a:r>
            <a:r>
              <a:rPr lang="en-US" dirty="0"/>
              <a:t> Data Access </a:t>
            </a:r>
            <a:r>
              <a:rPr lang="en-US" dirty="0" err="1"/>
              <a:t>sẽ</a:t>
            </a:r>
            <a:r>
              <a:rPr lang="en-US" dirty="0"/>
              <a:t> </a:t>
            </a:r>
            <a:r>
              <a:rPr lang="en-US" dirty="0" err="1"/>
              <a:t>thực</a:t>
            </a:r>
            <a:r>
              <a:rPr lang="en-US" dirty="0"/>
              <a:t> </a:t>
            </a:r>
            <a:r>
              <a:rPr lang="en-US" dirty="0" err="1"/>
              <a:t>hiện</a:t>
            </a:r>
            <a:r>
              <a:rPr lang="en-US" dirty="0"/>
              <a:t> </a:t>
            </a:r>
            <a:r>
              <a:rPr lang="en-US" dirty="0" err="1"/>
              <a:t>câu</a:t>
            </a:r>
            <a:r>
              <a:rPr lang="en-US" dirty="0"/>
              <a:t> </a:t>
            </a:r>
            <a:r>
              <a:rPr lang="en-US" dirty="0" err="1"/>
              <a:t>lệnh</a:t>
            </a:r>
            <a:r>
              <a:rPr lang="en-US" dirty="0"/>
              <a:t> </a:t>
            </a:r>
            <a:r>
              <a:rPr lang="en-US" dirty="0" err="1"/>
              <a:t>truy</a:t>
            </a:r>
            <a:r>
              <a:rPr lang="en-US" dirty="0"/>
              <a:t> </a:t>
            </a:r>
            <a:r>
              <a:rPr lang="en-US" dirty="0" err="1"/>
              <a:t>vấn</a:t>
            </a:r>
            <a:r>
              <a:rPr lang="en-US" dirty="0"/>
              <a:t> </a:t>
            </a:r>
            <a:r>
              <a:rPr lang="en-US" dirty="0" err="1"/>
              <a:t>với</a:t>
            </a:r>
            <a:r>
              <a:rPr lang="en-US" dirty="0"/>
              <a:t> Database “SELECT * FROM Diem WHERE </a:t>
            </a:r>
            <a:r>
              <a:rPr lang="en-US" dirty="0" err="1"/>
              <a:t>MaSV</a:t>
            </a:r>
            <a:r>
              <a:rPr lang="en-US" dirty="0"/>
              <a:t> = 'SV001’”</a:t>
            </a:r>
          </a:p>
          <a:p>
            <a:pPr lvl="1"/>
            <a:r>
              <a:rPr lang="en-US" dirty="0"/>
              <a:t>Khi Database </a:t>
            </a:r>
            <a:r>
              <a:rPr lang="en-US" dirty="0" err="1"/>
              <a:t>trả</a:t>
            </a:r>
            <a:r>
              <a:rPr lang="en-US" dirty="0"/>
              <a:t> </a:t>
            </a:r>
            <a:r>
              <a:rPr lang="en-US" dirty="0" err="1"/>
              <a:t>về</a:t>
            </a:r>
            <a:r>
              <a:rPr lang="en-US" dirty="0"/>
              <a:t> </a:t>
            </a:r>
            <a:r>
              <a:rPr lang="en-US" dirty="0" err="1"/>
              <a:t>kết</a:t>
            </a:r>
            <a:r>
              <a:rPr lang="en-US" dirty="0"/>
              <a:t> </a:t>
            </a:r>
            <a:r>
              <a:rPr lang="en-US" dirty="0" err="1"/>
              <a:t>quả</a:t>
            </a:r>
            <a:r>
              <a:rPr lang="en-US" dirty="0"/>
              <a:t>, </a:t>
            </a:r>
            <a:r>
              <a:rPr lang="en-US" dirty="0" err="1"/>
              <a:t>tầng</a:t>
            </a:r>
            <a:r>
              <a:rPr lang="en-US" dirty="0"/>
              <a:t> Data Access </a:t>
            </a:r>
            <a:r>
              <a:rPr lang="en-US" dirty="0" err="1"/>
              <a:t>sẽ</a:t>
            </a:r>
            <a:r>
              <a:rPr lang="en-US" dirty="0"/>
              <a:t> </a:t>
            </a:r>
            <a:r>
              <a:rPr lang="en-US" dirty="0" err="1"/>
              <a:t>chuyển</a:t>
            </a:r>
            <a:r>
              <a:rPr lang="en-US" dirty="0"/>
              <a:t> </a:t>
            </a:r>
            <a:r>
              <a:rPr lang="en-US" dirty="0" err="1"/>
              <a:t>các</a:t>
            </a:r>
            <a:r>
              <a:rPr lang="en-US" dirty="0"/>
              <a:t> </a:t>
            </a:r>
            <a:r>
              <a:rPr lang="en-US" dirty="0" err="1"/>
              <a:t>dữ</a:t>
            </a:r>
            <a:r>
              <a:rPr lang="en-US" dirty="0"/>
              <a:t> </a:t>
            </a:r>
            <a:r>
              <a:rPr lang="en-US" dirty="0" err="1"/>
              <a:t>liệu</a:t>
            </a:r>
            <a:r>
              <a:rPr lang="en-US" dirty="0"/>
              <a:t> </a:t>
            </a:r>
            <a:r>
              <a:rPr lang="en-US" dirty="0" err="1"/>
              <a:t>này</a:t>
            </a:r>
            <a:r>
              <a:rPr lang="en-US" dirty="0"/>
              <a:t> </a:t>
            </a:r>
            <a:r>
              <a:rPr lang="en-US" dirty="0" err="1"/>
              <a:t>tới</a:t>
            </a:r>
            <a:r>
              <a:rPr lang="en-US" dirty="0"/>
              <a:t> </a:t>
            </a:r>
            <a:r>
              <a:rPr lang="en-US" dirty="0" err="1"/>
              <a:t>cho</a:t>
            </a:r>
            <a:r>
              <a:rPr lang="en-US" dirty="0"/>
              <a:t> </a:t>
            </a:r>
            <a:r>
              <a:rPr lang="en-US" dirty="0" err="1"/>
              <a:t>tầng</a:t>
            </a:r>
            <a:r>
              <a:rPr lang="en-US" dirty="0"/>
              <a:t> Business Logic </a:t>
            </a:r>
            <a:r>
              <a:rPr lang="en-US" dirty="0" err="1"/>
              <a:t>để</a:t>
            </a:r>
            <a:r>
              <a:rPr lang="en-US" dirty="0"/>
              <a:t> </a:t>
            </a:r>
            <a:r>
              <a:rPr lang="en-US" dirty="0" err="1"/>
              <a:t>tầng</a:t>
            </a:r>
            <a:r>
              <a:rPr lang="en-US" dirty="0"/>
              <a:t> </a:t>
            </a:r>
            <a:r>
              <a:rPr lang="en-US" dirty="0" err="1"/>
              <a:t>này</a:t>
            </a:r>
            <a:r>
              <a:rPr lang="en-US" dirty="0"/>
              <a:t> </a:t>
            </a:r>
            <a:r>
              <a:rPr lang="en-US" dirty="0" err="1"/>
              <a:t>thực</a:t>
            </a:r>
            <a:r>
              <a:rPr lang="en-US" dirty="0"/>
              <a:t> </a:t>
            </a:r>
            <a:r>
              <a:rPr lang="en-US" dirty="0" err="1"/>
              <a:t>hiện</a:t>
            </a:r>
            <a:r>
              <a:rPr lang="en-US" dirty="0"/>
              <a:t> </a:t>
            </a:r>
            <a:r>
              <a:rPr lang="en-US" dirty="0" err="1"/>
              <a:t>tính</a:t>
            </a:r>
            <a:r>
              <a:rPr lang="en-US" dirty="0"/>
              <a:t> </a:t>
            </a:r>
            <a:r>
              <a:rPr lang="en-US" dirty="0" err="1"/>
              <a:t>điểm</a:t>
            </a:r>
            <a:r>
              <a:rPr lang="en-US" dirty="0"/>
              <a:t> </a:t>
            </a:r>
            <a:r>
              <a:rPr lang="en-US" dirty="0" err="1"/>
              <a:t>trung</a:t>
            </a:r>
            <a:r>
              <a:rPr lang="en-US" dirty="0"/>
              <a:t> </a:t>
            </a:r>
            <a:r>
              <a:rPr lang="en-US" dirty="0" err="1"/>
              <a:t>bình</a:t>
            </a:r>
            <a:r>
              <a:rPr lang="en-US" dirty="0"/>
              <a:t>, </a:t>
            </a:r>
            <a:r>
              <a:rPr lang="en-US" dirty="0" err="1"/>
              <a:t>xác</a:t>
            </a:r>
            <a:r>
              <a:rPr lang="en-US" dirty="0"/>
              <a:t> </a:t>
            </a:r>
            <a:r>
              <a:rPr lang="en-US" dirty="0" err="1"/>
              <a:t>định</a:t>
            </a:r>
            <a:r>
              <a:rPr lang="en-US" dirty="0"/>
              <a:t> </a:t>
            </a:r>
            <a:r>
              <a:rPr lang="en-US" dirty="0" err="1"/>
              <a:t>kết</a:t>
            </a:r>
            <a:r>
              <a:rPr lang="en-US" dirty="0"/>
              <a:t> </a:t>
            </a:r>
            <a:r>
              <a:rPr lang="en-US" dirty="0" err="1"/>
              <a:t>quả</a:t>
            </a:r>
            <a:r>
              <a:rPr lang="en-US" dirty="0"/>
              <a:t> </a:t>
            </a:r>
            <a:r>
              <a:rPr lang="en-US" dirty="0" err="1"/>
              <a:t>học</a:t>
            </a:r>
            <a:r>
              <a:rPr lang="en-US" dirty="0"/>
              <a:t> </a:t>
            </a:r>
            <a:r>
              <a:rPr lang="en-US" dirty="0" err="1"/>
              <a:t>tập</a:t>
            </a:r>
            <a:r>
              <a:rPr lang="en-US" dirty="0"/>
              <a:t> </a:t>
            </a:r>
            <a:r>
              <a:rPr lang="en-US" dirty="0" err="1"/>
              <a:t>và</a:t>
            </a:r>
            <a:r>
              <a:rPr lang="en-US" dirty="0"/>
              <a:t> </a:t>
            </a:r>
            <a:r>
              <a:rPr lang="en-US" dirty="0" err="1"/>
              <a:t>gửi</a:t>
            </a:r>
            <a:r>
              <a:rPr lang="en-US" dirty="0"/>
              <a:t> </a:t>
            </a:r>
            <a:r>
              <a:rPr lang="en-US" dirty="0" err="1"/>
              <a:t>về</a:t>
            </a:r>
            <a:r>
              <a:rPr lang="en-US" dirty="0"/>
              <a:t> </a:t>
            </a:r>
            <a:r>
              <a:rPr lang="en-US" dirty="0" err="1"/>
              <a:t>cho</a:t>
            </a:r>
            <a:r>
              <a:rPr lang="en-US" dirty="0"/>
              <a:t> </a:t>
            </a:r>
            <a:r>
              <a:rPr lang="en-US" dirty="0" err="1"/>
              <a:t>tầng</a:t>
            </a:r>
            <a:r>
              <a:rPr lang="en-US" dirty="0"/>
              <a:t> Presentation.</a:t>
            </a:r>
          </a:p>
          <a:p>
            <a:endParaRPr lang="en-US" dirty="0"/>
          </a:p>
          <a:p>
            <a:endParaRPr lang="en-US" dirty="0"/>
          </a:p>
        </p:txBody>
      </p:sp>
    </p:spTree>
    <p:extLst>
      <p:ext uri="{BB962C8B-B14F-4D97-AF65-F5344CB8AC3E}">
        <p14:creationId xmlns:p14="http://schemas.microsoft.com/office/powerpoint/2010/main" val="13533088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517B-0F75-22CF-45BF-813AB730C595}"/>
              </a:ext>
            </a:extLst>
          </p:cNvPr>
          <p:cNvSpPr>
            <a:spLocks noGrp="1"/>
          </p:cNvSpPr>
          <p:nvPr>
            <p:ph type="title"/>
          </p:nvPr>
        </p:nvSpPr>
        <p:spPr/>
        <p:txBody>
          <a:bodyPr/>
          <a:lstStyle/>
          <a:p>
            <a:r>
              <a:rPr lang="en-US" dirty="0" err="1"/>
              <a:t>Mô</a:t>
            </a:r>
            <a:r>
              <a:rPr lang="en-US" dirty="0"/>
              <a:t> </a:t>
            </a:r>
            <a:r>
              <a:rPr lang="en-US" dirty="0" err="1"/>
              <a:t>hình</a:t>
            </a:r>
            <a:r>
              <a:rPr lang="en-US" dirty="0"/>
              <a:t> 3 </a:t>
            </a:r>
            <a:r>
              <a:rPr lang="en-US" dirty="0" err="1"/>
              <a:t>lớp</a:t>
            </a:r>
            <a:endParaRPr lang="en-US" dirty="0"/>
          </a:p>
        </p:txBody>
      </p:sp>
      <p:sp>
        <p:nvSpPr>
          <p:cNvPr id="3" name="Content Placeholder 2">
            <a:extLst>
              <a:ext uri="{FF2B5EF4-FFF2-40B4-BE49-F238E27FC236}">
                <a16:creationId xmlns:a16="http://schemas.microsoft.com/office/drawing/2014/main" id="{3801D6E4-D36A-8BB4-E6F2-F2D6E343B8F4}"/>
              </a:ext>
            </a:extLst>
          </p:cNvPr>
          <p:cNvSpPr>
            <a:spLocks noGrp="1"/>
          </p:cNvSpPr>
          <p:nvPr>
            <p:ph idx="1"/>
          </p:nvPr>
        </p:nvSpPr>
        <p:spPr/>
        <p:txBody>
          <a:bodyPr/>
          <a:lstStyle/>
          <a:p>
            <a:pPr algn="l">
              <a:buFont typeface="Arial" panose="020B0604020202020204" pitchFamily="34" charset="0"/>
              <a:buChar char="•"/>
            </a:pPr>
            <a:r>
              <a:rPr lang="en-US" dirty="0" err="1">
                <a:solidFill>
                  <a:srgbClr val="1B1B1B"/>
                </a:solidFill>
                <a:highlight>
                  <a:srgbClr val="FFFFFF"/>
                </a:highlight>
                <a:latin typeface="+mj-lt"/>
              </a:rPr>
              <a:t>Ưu</a:t>
            </a:r>
            <a:r>
              <a:rPr lang="en-US" dirty="0">
                <a:solidFill>
                  <a:srgbClr val="1B1B1B"/>
                </a:solidFill>
                <a:highlight>
                  <a:srgbClr val="FFFFFF"/>
                </a:highlight>
                <a:latin typeface="+mj-lt"/>
              </a:rPr>
              <a:t> </a:t>
            </a:r>
            <a:r>
              <a:rPr lang="en-US" dirty="0" err="1">
                <a:solidFill>
                  <a:srgbClr val="1B1B1B"/>
                </a:solidFill>
                <a:highlight>
                  <a:srgbClr val="FFFFFF"/>
                </a:highlight>
                <a:latin typeface="+mj-lt"/>
              </a:rPr>
              <a:t>điểm</a:t>
            </a:r>
            <a:endParaRPr lang="en-US" dirty="0">
              <a:solidFill>
                <a:srgbClr val="1B1B1B"/>
              </a:solidFill>
              <a:highlight>
                <a:srgbClr val="FFFFFF"/>
              </a:highlight>
              <a:latin typeface="+mj-lt"/>
            </a:endParaRPr>
          </a:p>
          <a:p>
            <a:pPr lvl="1">
              <a:buFont typeface="Arial" panose="020B0604020202020204" pitchFamily="34" charset="0"/>
              <a:buChar char="•"/>
            </a:pPr>
            <a:r>
              <a:rPr lang="vi-VN" b="0" i="0" dirty="0">
                <a:solidFill>
                  <a:srgbClr val="222222"/>
                </a:solidFill>
                <a:effectLst/>
                <a:highlight>
                  <a:srgbClr val="FFFFFF"/>
                </a:highlight>
                <a:latin typeface="+mj-lt"/>
              </a:rPr>
              <a:t>Việc phân chia thành từng lớp giúp cho code được tường minh hơn. Nhờ vào việc chia ra từng lớp đảm nhận các chức năng khác nhau và riêng biệt như giao diện, xử lý, truy vấn thay vì để tất cả lại một chỗ. Nhằm giảm sự kết dính.</a:t>
            </a:r>
          </a:p>
          <a:p>
            <a:pPr lvl="1">
              <a:buFont typeface="Arial" panose="020B0604020202020204" pitchFamily="34" charset="0"/>
              <a:buChar char="•"/>
            </a:pPr>
            <a:r>
              <a:rPr lang="vi-VN" b="0" i="0" dirty="0">
                <a:solidFill>
                  <a:srgbClr val="222222"/>
                </a:solidFill>
                <a:effectLst/>
                <a:highlight>
                  <a:srgbClr val="FFFFFF"/>
                </a:highlight>
                <a:latin typeface="+mj-lt"/>
              </a:rPr>
              <a:t>Dễ bảo trì khi được phân chia, thì một thành phần của hệ thống sẽ dễ thay đổi. Việc thay đổi này có thể được cô lập trong 1 lớp, hoặc ảnh hưởng đến lớp gần nhất mà không ảnh hưởng đến cả chương trình.</a:t>
            </a:r>
          </a:p>
          <a:p>
            <a:pPr algn="l">
              <a:buFont typeface="Arial" panose="020B0604020202020204" pitchFamily="34" charset="0"/>
              <a:buChar char="•"/>
            </a:pPr>
            <a:endParaRPr lang="vi-VN" b="0" i="0" dirty="0">
              <a:solidFill>
                <a:srgbClr val="1B1B1B"/>
              </a:solidFill>
              <a:effectLst/>
              <a:highlight>
                <a:srgbClr val="FFFFFF"/>
              </a:highlight>
              <a:latin typeface="Open Sans" panose="020B0606030504020204" pitchFamily="34" charset="0"/>
            </a:endParaRPr>
          </a:p>
        </p:txBody>
      </p:sp>
    </p:spTree>
    <p:extLst>
      <p:ext uri="{BB962C8B-B14F-4D97-AF65-F5344CB8AC3E}">
        <p14:creationId xmlns:p14="http://schemas.microsoft.com/office/powerpoint/2010/main" val="2251710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517B-0F75-22CF-45BF-813AB730C595}"/>
              </a:ext>
            </a:extLst>
          </p:cNvPr>
          <p:cNvSpPr>
            <a:spLocks noGrp="1"/>
          </p:cNvSpPr>
          <p:nvPr>
            <p:ph type="title"/>
          </p:nvPr>
        </p:nvSpPr>
        <p:spPr/>
        <p:txBody>
          <a:bodyPr/>
          <a:lstStyle/>
          <a:p>
            <a:r>
              <a:rPr lang="en-US" dirty="0" err="1"/>
              <a:t>Mô</a:t>
            </a:r>
            <a:r>
              <a:rPr lang="en-US" dirty="0"/>
              <a:t> </a:t>
            </a:r>
            <a:r>
              <a:rPr lang="en-US" dirty="0" err="1"/>
              <a:t>hình</a:t>
            </a:r>
            <a:r>
              <a:rPr lang="en-US" dirty="0"/>
              <a:t> 3 </a:t>
            </a:r>
            <a:r>
              <a:rPr lang="en-US" dirty="0" err="1"/>
              <a:t>lớp</a:t>
            </a:r>
            <a:endParaRPr lang="en-US" dirty="0"/>
          </a:p>
        </p:txBody>
      </p:sp>
      <p:sp>
        <p:nvSpPr>
          <p:cNvPr id="3" name="Content Placeholder 2">
            <a:extLst>
              <a:ext uri="{FF2B5EF4-FFF2-40B4-BE49-F238E27FC236}">
                <a16:creationId xmlns:a16="http://schemas.microsoft.com/office/drawing/2014/main" id="{3801D6E4-D36A-8BB4-E6F2-F2D6E343B8F4}"/>
              </a:ext>
            </a:extLst>
          </p:cNvPr>
          <p:cNvSpPr>
            <a:spLocks noGrp="1"/>
          </p:cNvSpPr>
          <p:nvPr>
            <p:ph idx="1"/>
          </p:nvPr>
        </p:nvSpPr>
        <p:spPr/>
        <p:txBody>
          <a:bodyPr/>
          <a:lstStyle/>
          <a:p>
            <a:pPr algn="l">
              <a:buFont typeface="Arial" panose="020B0604020202020204" pitchFamily="34" charset="0"/>
              <a:buChar char="•"/>
            </a:pPr>
            <a:r>
              <a:rPr lang="en-US" dirty="0" err="1">
                <a:solidFill>
                  <a:srgbClr val="1B1B1B"/>
                </a:solidFill>
                <a:highlight>
                  <a:srgbClr val="FFFFFF"/>
                </a:highlight>
                <a:latin typeface="+mj-lt"/>
              </a:rPr>
              <a:t>Ưu</a:t>
            </a:r>
            <a:r>
              <a:rPr lang="en-US" dirty="0">
                <a:solidFill>
                  <a:srgbClr val="1B1B1B"/>
                </a:solidFill>
                <a:highlight>
                  <a:srgbClr val="FFFFFF"/>
                </a:highlight>
                <a:latin typeface="+mj-lt"/>
              </a:rPr>
              <a:t> </a:t>
            </a:r>
            <a:r>
              <a:rPr lang="en-US" dirty="0" err="1">
                <a:solidFill>
                  <a:srgbClr val="1B1B1B"/>
                </a:solidFill>
                <a:highlight>
                  <a:srgbClr val="FFFFFF"/>
                </a:highlight>
                <a:latin typeface="+mj-lt"/>
              </a:rPr>
              <a:t>điểm</a:t>
            </a:r>
            <a:endParaRPr lang="en-US" dirty="0">
              <a:solidFill>
                <a:srgbClr val="1B1B1B"/>
              </a:solidFill>
              <a:highlight>
                <a:srgbClr val="FFFFFF"/>
              </a:highlight>
              <a:latin typeface="+mj-lt"/>
            </a:endParaRPr>
          </a:p>
          <a:p>
            <a:pPr lvl="1">
              <a:buFont typeface="Arial" panose="020B0604020202020204" pitchFamily="34" charset="0"/>
              <a:buChar char="•"/>
            </a:pPr>
            <a:r>
              <a:rPr lang="vi-VN" b="0" i="0" dirty="0">
                <a:solidFill>
                  <a:srgbClr val="222222"/>
                </a:solidFill>
                <a:effectLst/>
                <a:highlight>
                  <a:srgbClr val="FFFFFF"/>
                </a:highlight>
                <a:latin typeface="+mj-lt"/>
              </a:rPr>
              <a:t>Dễ phát triển, tái sử dụng: khi chúng ta muốn thêm một chức năng nào đó thì việc lập trình theo một mô hình sẽ dễ dàng hơn vì chúng ta đã có chuẩn để tuân theo. Và việc sử dụng lại  khi có sự thay đổi giữa hai môi trường ( Winform sang Webfrom ) thì chỉ việc thay đổi lại lớp GUI.</a:t>
            </a:r>
          </a:p>
          <a:p>
            <a:pPr lvl="1">
              <a:buFont typeface="Arial" panose="020B0604020202020204" pitchFamily="34" charset="0"/>
              <a:buChar char="•"/>
            </a:pPr>
            <a:r>
              <a:rPr lang="vi-VN" b="0" i="0" dirty="0">
                <a:solidFill>
                  <a:srgbClr val="222222"/>
                </a:solidFill>
                <a:effectLst/>
                <a:highlight>
                  <a:srgbClr val="FFFFFF"/>
                </a:highlight>
                <a:latin typeface="+mj-lt"/>
              </a:rPr>
              <a:t>Dễ phân phối khối lượng công việc. Mỗi một nhóm, một bộ phận sẽ nhận một nhiệm vụ trong mô hình 3 lớp. Việc phân chia rõ ràng như thế sẽ giúp các lập trình viên kiểm soát được khối lượng công việc của mình.</a:t>
            </a:r>
          </a:p>
          <a:p>
            <a:pPr algn="l">
              <a:buFont typeface="Arial" panose="020B0604020202020204" pitchFamily="34" charset="0"/>
              <a:buChar char="•"/>
            </a:pPr>
            <a:endParaRPr lang="vi-VN" b="0" i="0" dirty="0">
              <a:solidFill>
                <a:srgbClr val="1B1B1B"/>
              </a:solidFill>
              <a:effectLst/>
              <a:highlight>
                <a:srgbClr val="FFFFFF"/>
              </a:highlight>
              <a:latin typeface="Open Sans" panose="020B0606030504020204" pitchFamily="34" charset="0"/>
            </a:endParaRPr>
          </a:p>
        </p:txBody>
      </p:sp>
    </p:spTree>
    <p:extLst>
      <p:ext uri="{BB962C8B-B14F-4D97-AF65-F5344CB8AC3E}">
        <p14:creationId xmlns:p14="http://schemas.microsoft.com/office/powerpoint/2010/main" val="13078449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1C167-6A86-B3F2-0B0C-7841FD7EE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145F2-2282-92A7-EE8C-037DF25BFC23}"/>
              </a:ext>
            </a:extLst>
          </p:cNvPr>
          <p:cNvSpPr>
            <a:spLocks noGrp="1"/>
          </p:cNvSpPr>
          <p:nvPr>
            <p:ph type="title"/>
          </p:nvPr>
        </p:nvSpPr>
        <p:spPr/>
        <p:txBody>
          <a:bodyPr/>
          <a:lstStyle/>
          <a:p>
            <a:r>
              <a:rPr lang="en-US" dirty="0" err="1"/>
              <a:t>Mô</a:t>
            </a:r>
            <a:r>
              <a:rPr lang="en-US" dirty="0"/>
              <a:t> </a:t>
            </a:r>
            <a:r>
              <a:rPr lang="en-US" dirty="0" err="1"/>
              <a:t>hình</a:t>
            </a:r>
            <a:r>
              <a:rPr lang="en-US" dirty="0"/>
              <a:t> 3 </a:t>
            </a:r>
            <a:r>
              <a:rPr lang="en-US" dirty="0" err="1"/>
              <a:t>lớp</a:t>
            </a:r>
            <a:endParaRPr lang="en-US" dirty="0"/>
          </a:p>
        </p:txBody>
      </p:sp>
      <p:sp>
        <p:nvSpPr>
          <p:cNvPr id="3" name="Content Placeholder 2">
            <a:extLst>
              <a:ext uri="{FF2B5EF4-FFF2-40B4-BE49-F238E27FC236}">
                <a16:creationId xmlns:a16="http://schemas.microsoft.com/office/drawing/2014/main" id="{4B3BDB7B-0D10-BBCB-2E59-EAD62892B196}"/>
              </a:ext>
            </a:extLst>
          </p:cNvPr>
          <p:cNvSpPr>
            <a:spLocks noGrp="1"/>
          </p:cNvSpPr>
          <p:nvPr>
            <p:ph idx="1"/>
          </p:nvPr>
        </p:nvSpPr>
        <p:spPr>
          <a:xfrm>
            <a:off x="914401" y="1477962"/>
            <a:ext cx="10781730" cy="4649883"/>
          </a:xfrm>
        </p:spPr>
        <p:txBody>
          <a:bodyPr/>
          <a:lstStyle/>
          <a:p>
            <a:pPr algn="l">
              <a:buFont typeface="Arial" panose="020B0604020202020204" pitchFamily="34" charset="0"/>
              <a:buChar char="•"/>
            </a:pPr>
            <a:r>
              <a:rPr lang="en-US" dirty="0" err="1">
                <a:solidFill>
                  <a:srgbClr val="1B1B1B"/>
                </a:solidFill>
                <a:highlight>
                  <a:srgbClr val="FFFFFF"/>
                </a:highlight>
                <a:latin typeface="+mj-lt"/>
              </a:rPr>
              <a:t>Nhược</a:t>
            </a:r>
            <a:r>
              <a:rPr lang="en-US" dirty="0">
                <a:solidFill>
                  <a:srgbClr val="1B1B1B"/>
                </a:solidFill>
                <a:highlight>
                  <a:srgbClr val="FFFFFF"/>
                </a:highlight>
                <a:latin typeface="+mj-lt"/>
              </a:rPr>
              <a:t> </a:t>
            </a:r>
            <a:r>
              <a:rPr lang="en-US" dirty="0" err="1">
                <a:solidFill>
                  <a:srgbClr val="1B1B1B"/>
                </a:solidFill>
                <a:highlight>
                  <a:srgbClr val="FFFFFF"/>
                </a:highlight>
                <a:latin typeface="+mj-lt"/>
              </a:rPr>
              <a:t>điểm</a:t>
            </a:r>
            <a:endParaRPr lang="en-US" dirty="0">
              <a:solidFill>
                <a:srgbClr val="1B1B1B"/>
              </a:solidFill>
              <a:highlight>
                <a:srgbClr val="FFFFFF"/>
              </a:highlight>
              <a:latin typeface="+mj-lt"/>
            </a:endParaRPr>
          </a:p>
          <a:p>
            <a:pPr lvl="1"/>
            <a:r>
              <a:rPr lang="en-US" sz="2000" dirty="0" err="1">
                <a:highlight>
                  <a:srgbClr val="FFFFFF"/>
                </a:highlight>
              </a:rPr>
              <a:t>Phức</a:t>
            </a:r>
            <a:r>
              <a:rPr lang="en-US" sz="2000" dirty="0">
                <a:highlight>
                  <a:srgbClr val="FFFFFF"/>
                </a:highlight>
              </a:rPr>
              <a:t> </a:t>
            </a:r>
            <a:r>
              <a:rPr lang="en-US" sz="2000" dirty="0" err="1">
                <a:highlight>
                  <a:srgbClr val="FFFFFF"/>
                </a:highlight>
              </a:rPr>
              <a:t>tạp</a:t>
            </a:r>
            <a:r>
              <a:rPr lang="en-US" sz="2000" dirty="0">
                <a:highlight>
                  <a:srgbClr val="FFFFFF"/>
                </a:highlight>
              </a:rPr>
              <a:t> </a:t>
            </a:r>
            <a:r>
              <a:rPr lang="en-US" sz="2000" dirty="0" err="1">
                <a:highlight>
                  <a:srgbClr val="FFFFFF"/>
                </a:highlight>
              </a:rPr>
              <a:t>hơn</a:t>
            </a:r>
            <a:r>
              <a:rPr lang="en-US" sz="2000" dirty="0">
                <a:highlight>
                  <a:srgbClr val="FFFFFF"/>
                </a:highlight>
              </a:rPr>
              <a:t> </a:t>
            </a:r>
            <a:r>
              <a:rPr lang="en-US" sz="2000" dirty="0" err="1">
                <a:highlight>
                  <a:srgbClr val="FFFFFF"/>
                </a:highlight>
              </a:rPr>
              <a:t>mô</a:t>
            </a:r>
            <a:r>
              <a:rPr lang="en-US" sz="2000" dirty="0">
                <a:highlight>
                  <a:srgbClr val="FFFFFF"/>
                </a:highlight>
              </a:rPr>
              <a:t> </a:t>
            </a:r>
            <a:r>
              <a:rPr lang="en-US" sz="2000" dirty="0" err="1">
                <a:highlight>
                  <a:srgbClr val="FFFFFF"/>
                </a:highlight>
              </a:rPr>
              <a:t>hình</a:t>
            </a:r>
            <a:r>
              <a:rPr lang="en-US" sz="2000" dirty="0">
                <a:highlight>
                  <a:srgbClr val="FFFFFF"/>
                </a:highlight>
              </a:rPr>
              <a:t> </a:t>
            </a:r>
            <a:r>
              <a:rPr lang="en-US" sz="2000" dirty="0" err="1">
                <a:highlight>
                  <a:srgbClr val="FFFFFF"/>
                </a:highlight>
              </a:rPr>
              <a:t>đơn</a:t>
            </a:r>
            <a:r>
              <a:rPr lang="en-US" sz="2000" dirty="0">
                <a:highlight>
                  <a:srgbClr val="FFFFFF"/>
                </a:highlight>
              </a:rPr>
              <a:t> </a:t>
            </a:r>
            <a:r>
              <a:rPr lang="en-US" sz="2000" dirty="0" err="1">
                <a:highlight>
                  <a:srgbClr val="FFFFFF"/>
                </a:highlight>
              </a:rPr>
              <a:t>giản</a:t>
            </a:r>
            <a:r>
              <a:rPr lang="en-US" sz="2000" dirty="0">
                <a:highlight>
                  <a:srgbClr val="FFFFFF"/>
                </a:highlight>
              </a:rPr>
              <a:t>: do </a:t>
            </a:r>
            <a:r>
              <a:rPr lang="en-US" sz="2000" dirty="0" err="1">
                <a:highlight>
                  <a:srgbClr val="FFFFFF"/>
                </a:highlight>
              </a:rPr>
              <a:t>phải</a:t>
            </a:r>
            <a:r>
              <a:rPr lang="en-US" sz="2000" dirty="0">
                <a:highlight>
                  <a:srgbClr val="FFFFFF"/>
                </a:highlight>
              </a:rPr>
              <a:t> </a:t>
            </a:r>
            <a:r>
              <a:rPr lang="en-US" sz="2000" dirty="0" err="1">
                <a:highlight>
                  <a:srgbClr val="FFFFFF"/>
                </a:highlight>
              </a:rPr>
              <a:t>tổ</a:t>
            </a:r>
            <a:r>
              <a:rPr lang="en-US" sz="2000" dirty="0">
                <a:highlight>
                  <a:srgbClr val="FFFFFF"/>
                </a:highlight>
              </a:rPr>
              <a:t> </a:t>
            </a:r>
            <a:r>
              <a:rPr lang="en-US" sz="2000" dirty="0" err="1">
                <a:highlight>
                  <a:srgbClr val="FFFFFF"/>
                </a:highlight>
              </a:rPr>
              <a:t>chức</a:t>
            </a:r>
            <a:r>
              <a:rPr lang="en-US" sz="2000" dirty="0">
                <a:highlight>
                  <a:srgbClr val="FFFFFF"/>
                </a:highlight>
              </a:rPr>
              <a:t> </a:t>
            </a:r>
            <a:r>
              <a:rPr lang="en-US" sz="2000" dirty="0" err="1">
                <a:highlight>
                  <a:srgbClr val="FFFFFF"/>
                </a:highlight>
              </a:rPr>
              <a:t>chương</a:t>
            </a:r>
            <a:r>
              <a:rPr lang="en-US" sz="2000" dirty="0">
                <a:highlight>
                  <a:srgbClr val="FFFFFF"/>
                </a:highlight>
              </a:rPr>
              <a:t> </a:t>
            </a:r>
            <a:r>
              <a:rPr lang="en-US" sz="2000" dirty="0" err="1">
                <a:highlight>
                  <a:srgbClr val="FFFFFF"/>
                </a:highlight>
              </a:rPr>
              <a:t>trình</a:t>
            </a:r>
            <a:r>
              <a:rPr lang="en-US" sz="2000" dirty="0">
                <a:highlight>
                  <a:srgbClr val="FFFFFF"/>
                </a:highlight>
              </a:rPr>
              <a:t> </a:t>
            </a:r>
            <a:r>
              <a:rPr lang="en-US" sz="2000" dirty="0" err="1">
                <a:highlight>
                  <a:srgbClr val="FFFFFF"/>
                </a:highlight>
              </a:rPr>
              <a:t>thành</a:t>
            </a:r>
            <a:r>
              <a:rPr lang="en-US" sz="2000" dirty="0">
                <a:highlight>
                  <a:srgbClr val="FFFFFF"/>
                </a:highlight>
              </a:rPr>
              <a:t> </a:t>
            </a:r>
            <a:r>
              <a:rPr lang="en-US" sz="2000" dirty="0" err="1">
                <a:highlight>
                  <a:srgbClr val="FFFFFF"/>
                </a:highlight>
              </a:rPr>
              <a:t>nhiều</a:t>
            </a:r>
            <a:r>
              <a:rPr lang="en-US" sz="2000" dirty="0">
                <a:highlight>
                  <a:srgbClr val="FFFFFF"/>
                </a:highlight>
              </a:rPr>
              <a:t> </a:t>
            </a:r>
            <a:r>
              <a:rPr lang="en-US" sz="2000" dirty="0" err="1">
                <a:highlight>
                  <a:srgbClr val="FFFFFF"/>
                </a:highlight>
              </a:rPr>
              <a:t>lớp</a:t>
            </a:r>
            <a:r>
              <a:rPr lang="en-US" sz="2000" dirty="0">
                <a:highlight>
                  <a:srgbClr val="FFFFFF"/>
                </a:highlight>
              </a:rPr>
              <a:t>. </a:t>
            </a:r>
            <a:r>
              <a:rPr lang="en-US" sz="2000" dirty="0" err="1">
                <a:highlight>
                  <a:srgbClr val="FFFFFF"/>
                </a:highlight>
              </a:rPr>
              <a:t>Với</a:t>
            </a:r>
            <a:r>
              <a:rPr lang="en-US" sz="2000" dirty="0">
                <a:highlight>
                  <a:srgbClr val="FFFFFF"/>
                </a:highlight>
              </a:rPr>
              <a:t> </a:t>
            </a:r>
            <a:r>
              <a:rPr lang="en-US" sz="2000" dirty="0" err="1">
                <a:highlight>
                  <a:srgbClr val="FFFFFF"/>
                </a:highlight>
              </a:rPr>
              <a:t>các</a:t>
            </a:r>
            <a:r>
              <a:rPr lang="en-US" sz="2000" dirty="0">
                <a:highlight>
                  <a:srgbClr val="FFFFFF"/>
                </a:highlight>
              </a:rPr>
              <a:t> </a:t>
            </a:r>
            <a:r>
              <a:rPr lang="en-US" sz="2000" dirty="0" err="1">
                <a:highlight>
                  <a:srgbClr val="FFFFFF"/>
                </a:highlight>
              </a:rPr>
              <a:t>ứng</a:t>
            </a:r>
            <a:r>
              <a:rPr lang="en-US" sz="2000" dirty="0">
                <a:highlight>
                  <a:srgbClr val="FFFFFF"/>
                </a:highlight>
              </a:rPr>
              <a:t> </a:t>
            </a:r>
            <a:r>
              <a:rPr lang="en-US" sz="2000" dirty="0" err="1">
                <a:highlight>
                  <a:srgbClr val="FFFFFF"/>
                </a:highlight>
              </a:rPr>
              <a:t>dụng</a:t>
            </a:r>
            <a:r>
              <a:rPr lang="en-US" sz="2000" dirty="0">
                <a:highlight>
                  <a:srgbClr val="FFFFFF"/>
                </a:highlight>
              </a:rPr>
              <a:t> </a:t>
            </a:r>
            <a:r>
              <a:rPr lang="en-US" sz="2000" dirty="0" err="1">
                <a:highlight>
                  <a:srgbClr val="FFFFFF"/>
                </a:highlight>
              </a:rPr>
              <a:t>nhỏ</a:t>
            </a:r>
            <a:r>
              <a:rPr lang="en-US" sz="2000" dirty="0">
                <a:highlight>
                  <a:srgbClr val="FFFFFF"/>
                </a:highlight>
              </a:rPr>
              <a:t>, </a:t>
            </a:r>
            <a:r>
              <a:rPr lang="en-US" sz="2000" dirty="0" err="1">
                <a:highlight>
                  <a:srgbClr val="FFFFFF"/>
                </a:highlight>
              </a:rPr>
              <a:t>việc</a:t>
            </a:r>
            <a:r>
              <a:rPr lang="en-US" sz="2000" dirty="0">
                <a:highlight>
                  <a:srgbClr val="FFFFFF"/>
                </a:highlight>
              </a:rPr>
              <a:t> chia </a:t>
            </a:r>
            <a:r>
              <a:rPr lang="en-US" sz="2000" dirty="0" err="1">
                <a:highlight>
                  <a:srgbClr val="FFFFFF"/>
                </a:highlight>
              </a:rPr>
              <a:t>thành</a:t>
            </a:r>
            <a:r>
              <a:rPr lang="en-US" sz="2000" dirty="0">
                <a:highlight>
                  <a:srgbClr val="FFFFFF"/>
                </a:highlight>
              </a:rPr>
              <a:t> 3 </a:t>
            </a:r>
            <a:r>
              <a:rPr lang="en-US" sz="2000" dirty="0" err="1">
                <a:highlight>
                  <a:srgbClr val="FFFFFF"/>
                </a:highlight>
              </a:rPr>
              <a:t>lớp</a:t>
            </a:r>
            <a:r>
              <a:rPr lang="en-US" sz="2000" dirty="0">
                <a:highlight>
                  <a:srgbClr val="FFFFFF"/>
                </a:highlight>
              </a:rPr>
              <a:t> </a:t>
            </a:r>
            <a:r>
              <a:rPr lang="en-US" sz="2000" dirty="0" err="1">
                <a:highlight>
                  <a:srgbClr val="FFFFFF"/>
                </a:highlight>
              </a:rPr>
              <a:t>có</a:t>
            </a:r>
            <a:r>
              <a:rPr lang="en-US" sz="2000" dirty="0">
                <a:highlight>
                  <a:srgbClr val="FFFFFF"/>
                </a:highlight>
              </a:rPr>
              <a:t> </a:t>
            </a:r>
            <a:r>
              <a:rPr lang="en-US" sz="2000" dirty="0" err="1">
                <a:highlight>
                  <a:srgbClr val="FFFFFF"/>
                </a:highlight>
              </a:rPr>
              <a:t>thể</a:t>
            </a:r>
            <a:r>
              <a:rPr lang="en-US" sz="2000" dirty="0">
                <a:highlight>
                  <a:srgbClr val="FFFFFF"/>
                </a:highlight>
              </a:rPr>
              <a:t> </a:t>
            </a:r>
            <a:r>
              <a:rPr lang="en-US" sz="2000" dirty="0" err="1">
                <a:highlight>
                  <a:srgbClr val="FFFFFF"/>
                </a:highlight>
              </a:rPr>
              <a:t>làm</a:t>
            </a:r>
            <a:r>
              <a:rPr lang="en-US" sz="2000" dirty="0">
                <a:highlight>
                  <a:srgbClr val="FFFFFF"/>
                </a:highlight>
              </a:rPr>
              <a:t> </a:t>
            </a:r>
            <a:r>
              <a:rPr lang="en-US" sz="2000" dirty="0" err="1">
                <a:highlight>
                  <a:srgbClr val="FFFFFF"/>
                </a:highlight>
              </a:rPr>
              <a:t>tăng</a:t>
            </a:r>
            <a:r>
              <a:rPr lang="en-US" sz="2000" dirty="0">
                <a:highlight>
                  <a:srgbClr val="FFFFFF"/>
                </a:highlight>
              </a:rPr>
              <a:t> </a:t>
            </a:r>
            <a:r>
              <a:rPr lang="en-US" sz="2000" dirty="0" err="1">
                <a:highlight>
                  <a:srgbClr val="FFFFFF"/>
                </a:highlight>
              </a:rPr>
              <a:t>số</a:t>
            </a:r>
            <a:r>
              <a:rPr lang="en-US" sz="2000" dirty="0">
                <a:highlight>
                  <a:srgbClr val="FFFFFF"/>
                </a:highlight>
              </a:rPr>
              <a:t> </a:t>
            </a:r>
            <a:r>
              <a:rPr lang="en-US" sz="2000" dirty="0" err="1">
                <a:highlight>
                  <a:srgbClr val="FFFFFF"/>
                </a:highlight>
              </a:rPr>
              <a:t>lượng</a:t>
            </a:r>
            <a:r>
              <a:rPr lang="en-US" sz="2000" dirty="0">
                <a:highlight>
                  <a:srgbClr val="FFFFFF"/>
                </a:highlight>
              </a:rPr>
              <a:t> file, class </a:t>
            </a:r>
            <a:r>
              <a:rPr lang="en-US" sz="2000" dirty="0" err="1">
                <a:highlight>
                  <a:srgbClr val="FFFFFF"/>
                </a:highlight>
              </a:rPr>
              <a:t>và</a:t>
            </a:r>
            <a:r>
              <a:rPr lang="en-US" sz="2000" dirty="0">
                <a:highlight>
                  <a:srgbClr val="FFFFFF"/>
                </a:highlight>
              </a:rPr>
              <a:t> code. </a:t>
            </a:r>
          </a:p>
          <a:p>
            <a:pPr lvl="1"/>
            <a:r>
              <a:rPr lang="en-US" sz="2000" dirty="0" err="1">
                <a:highlight>
                  <a:srgbClr val="FFFFFF"/>
                </a:highlight>
              </a:rPr>
              <a:t>Tăng</a:t>
            </a:r>
            <a:r>
              <a:rPr lang="en-US" sz="2000" dirty="0">
                <a:highlight>
                  <a:srgbClr val="FFFFFF"/>
                </a:highlight>
              </a:rPr>
              <a:t> chi </a:t>
            </a:r>
            <a:r>
              <a:rPr lang="en-US" sz="2000" dirty="0" err="1">
                <a:highlight>
                  <a:srgbClr val="FFFFFF"/>
                </a:highlight>
              </a:rPr>
              <a:t>phí</a:t>
            </a:r>
            <a:r>
              <a:rPr lang="en-US" sz="2000" dirty="0">
                <a:highlight>
                  <a:srgbClr val="FFFFFF"/>
                </a:highlight>
              </a:rPr>
              <a:t> </a:t>
            </a:r>
            <a:r>
              <a:rPr lang="en-US" sz="2000" dirty="0" err="1">
                <a:highlight>
                  <a:srgbClr val="FFFFFF"/>
                </a:highlight>
              </a:rPr>
              <a:t>phát</a:t>
            </a:r>
            <a:r>
              <a:rPr lang="en-US" sz="2000" dirty="0">
                <a:highlight>
                  <a:srgbClr val="FFFFFF"/>
                </a:highlight>
              </a:rPr>
              <a:t> </a:t>
            </a:r>
            <a:r>
              <a:rPr lang="en-US" sz="2000" dirty="0" err="1">
                <a:highlight>
                  <a:srgbClr val="FFFFFF"/>
                </a:highlight>
              </a:rPr>
              <a:t>triển</a:t>
            </a:r>
            <a:r>
              <a:rPr lang="en-US" sz="2000" dirty="0">
                <a:highlight>
                  <a:srgbClr val="FFFFFF"/>
                </a:highlight>
              </a:rPr>
              <a:t> ban </a:t>
            </a:r>
            <a:r>
              <a:rPr lang="en-US" sz="2000" dirty="0" err="1">
                <a:highlight>
                  <a:srgbClr val="FFFFFF"/>
                </a:highlight>
              </a:rPr>
              <a:t>đầu</a:t>
            </a:r>
            <a:r>
              <a:rPr lang="en-US" sz="2000" dirty="0">
                <a:highlight>
                  <a:srgbClr val="FFFFFF"/>
                </a:highlight>
              </a:rPr>
              <a:t>: </a:t>
            </a:r>
            <a:r>
              <a:rPr lang="en-US" sz="2000" dirty="0" err="1">
                <a:highlight>
                  <a:srgbClr val="FFFFFF"/>
                </a:highlight>
              </a:rPr>
              <a:t>Cần</a:t>
            </a:r>
            <a:r>
              <a:rPr lang="en-US" sz="2000" dirty="0">
                <a:highlight>
                  <a:srgbClr val="FFFFFF"/>
                </a:highlight>
              </a:rPr>
              <a:t> </a:t>
            </a:r>
            <a:r>
              <a:rPr lang="en-US" sz="2000" dirty="0" err="1">
                <a:highlight>
                  <a:srgbClr val="FFFFFF"/>
                </a:highlight>
              </a:rPr>
              <a:t>thiết</a:t>
            </a:r>
            <a:r>
              <a:rPr lang="en-US" sz="2000" dirty="0">
                <a:highlight>
                  <a:srgbClr val="FFFFFF"/>
                </a:highlight>
              </a:rPr>
              <a:t> </a:t>
            </a:r>
            <a:r>
              <a:rPr lang="en-US" sz="2000" dirty="0" err="1">
                <a:highlight>
                  <a:srgbClr val="FFFFFF"/>
                </a:highlight>
              </a:rPr>
              <a:t>kế</a:t>
            </a:r>
            <a:r>
              <a:rPr lang="en-US" sz="2000" dirty="0">
                <a:highlight>
                  <a:srgbClr val="FFFFFF"/>
                </a:highlight>
              </a:rPr>
              <a:t> </a:t>
            </a:r>
            <a:r>
              <a:rPr lang="en-US" sz="2000" dirty="0" err="1">
                <a:highlight>
                  <a:srgbClr val="FFFFFF"/>
                </a:highlight>
              </a:rPr>
              <a:t>rõ</a:t>
            </a:r>
            <a:r>
              <a:rPr lang="en-US" sz="2000" dirty="0">
                <a:highlight>
                  <a:srgbClr val="FFFFFF"/>
                </a:highlight>
              </a:rPr>
              <a:t> </a:t>
            </a:r>
            <a:r>
              <a:rPr lang="en-US" sz="2000" dirty="0" err="1">
                <a:highlight>
                  <a:srgbClr val="FFFFFF"/>
                </a:highlight>
              </a:rPr>
              <a:t>trách</a:t>
            </a:r>
            <a:r>
              <a:rPr lang="en-US" sz="2000" dirty="0">
                <a:highlight>
                  <a:srgbClr val="FFFFFF"/>
                </a:highlight>
              </a:rPr>
              <a:t> </a:t>
            </a:r>
            <a:r>
              <a:rPr lang="en-US" sz="2000" dirty="0" err="1">
                <a:highlight>
                  <a:srgbClr val="FFFFFF"/>
                </a:highlight>
              </a:rPr>
              <a:t>nhiệm</a:t>
            </a:r>
            <a:r>
              <a:rPr lang="en-US" sz="2000" dirty="0">
                <a:highlight>
                  <a:srgbClr val="FFFFFF"/>
                </a:highlight>
              </a:rPr>
              <a:t> </a:t>
            </a:r>
            <a:r>
              <a:rPr lang="en-US" sz="2000" dirty="0" err="1">
                <a:highlight>
                  <a:srgbClr val="FFFFFF"/>
                </a:highlight>
              </a:rPr>
              <a:t>của</a:t>
            </a:r>
            <a:r>
              <a:rPr lang="en-US" sz="2000" dirty="0">
                <a:highlight>
                  <a:srgbClr val="FFFFFF"/>
                </a:highlight>
              </a:rPr>
              <a:t> </a:t>
            </a:r>
            <a:r>
              <a:rPr lang="en-US" sz="2000" dirty="0" err="1">
                <a:highlight>
                  <a:srgbClr val="FFFFFF"/>
                </a:highlight>
              </a:rPr>
              <a:t>từng</a:t>
            </a:r>
            <a:r>
              <a:rPr lang="en-US" sz="2000" dirty="0">
                <a:highlight>
                  <a:srgbClr val="FFFFFF"/>
                </a:highlight>
              </a:rPr>
              <a:t> </a:t>
            </a:r>
            <a:r>
              <a:rPr lang="en-US" sz="2000" dirty="0" err="1">
                <a:highlight>
                  <a:srgbClr val="FFFFFF"/>
                </a:highlight>
              </a:rPr>
              <a:t>lớp</a:t>
            </a:r>
            <a:r>
              <a:rPr lang="en-US" sz="2000" dirty="0">
                <a:highlight>
                  <a:srgbClr val="FFFFFF"/>
                </a:highlight>
              </a:rPr>
              <a:t>. </a:t>
            </a:r>
            <a:r>
              <a:rPr lang="en-US" sz="2000" dirty="0" err="1">
                <a:highlight>
                  <a:srgbClr val="FFFFFF"/>
                </a:highlight>
              </a:rPr>
              <a:t>Lập</a:t>
            </a:r>
            <a:r>
              <a:rPr lang="en-US" sz="2000" dirty="0">
                <a:highlight>
                  <a:srgbClr val="FFFFFF"/>
                </a:highlight>
              </a:rPr>
              <a:t> </a:t>
            </a:r>
            <a:r>
              <a:rPr lang="en-US" sz="2000" dirty="0" err="1">
                <a:highlight>
                  <a:srgbClr val="FFFFFF"/>
                </a:highlight>
              </a:rPr>
              <a:t>trình</a:t>
            </a:r>
            <a:r>
              <a:rPr lang="en-US" sz="2000" dirty="0">
                <a:highlight>
                  <a:srgbClr val="FFFFFF"/>
                </a:highlight>
              </a:rPr>
              <a:t> </a:t>
            </a:r>
            <a:r>
              <a:rPr lang="en-US" sz="2000" dirty="0" err="1">
                <a:highlight>
                  <a:srgbClr val="FFFFFF"/>
                </a:highlight>
              </a:rPr>
              <a:t>viên</a:t>
            </a:r>
            <a:r>
              <a:rPr lang="en-US" sz="2000" dirty="0">
                <a:highlight>
                  <a:srgbClr val="FFFFFF"/>
                </a:highlight>
              </a:rPr>
              <a:t> </a:t>
            </a:r>
            <a:r>
              <a:rPr lang="en-US" sz="2000" dirty="0" err="1">
                <a:highlight>
                  <a:srgbClr val="FFFFFF"/>
                </a:highlight>
              </a:rPr>
              <a:t>phải</a:t>
            </a:r>
            <a:r>
              <a:rPr lang="en-US" sz="2000" dirty="0">
                <a:highlight>
                  <a:srgbClr val="FFFFFF"/>
                </a:highlight>
              </a:rPr>
              <a:t> </a:t>
            </a:r>
            <a:r>
              <a:rPr lang="en-US" sz="2000" dirty="0" err="1">
                <a:highlight>
                  <a:srgbClr val="FFFFFF"/>
                </a:highlight>
              </a:rPr>
              <a:t>xây</a:t>
            </a:r>
            <a:r>
              <a:rPr lang="en-US" sz="2000" dirty="0">
                <a:highlight>
                  <a:srgbClr val="FFFFFF"/>
                </a:highlight>
              </a:rPr>
              <a:t> </a:t>
            </a:r>
            <a:r>
              <a:rPr lang="en-US" sz="2000" dirty="0" err="1">
                <a:highlight>
                  <a:srgbClr val="FFFFFF"/>
                </a:highlight>
              </a:rPr>
              <a:t>dựng</a:t>
            </a:r>
            <a:r>
              <a:rPr lang="en-US" sz="2000" dirty="0">
                <a:highlight>
                  <a:srgbClr val="FFFFFF"/>
                </a:highlight>
              </a:rPr>
              <a:t> </a:t>
            </a:r>
            <a:r>
              <a:rPr lang="en-US" sz="2000" dirty="0" err="1">
                <a:highlight>
                  <a:srgbClr val="FFFFFF"/>
                </a:highlight>
              </a:rPr>
              <a:t>các</a:t>
            </a:r>
            <a:r>
              <a:rPr lang="en-US" sz="2000" dirty="0">
                <a:highlight>
                  <a:srgbClr val="FFFFFF"/>
                </a:highlight>
              </a:rPr>
              <a:t> </a:t>
            </a:r>
            <a:r>
              <a:rPr lang="en-US" sz="2000" dirty="0" err="1">
                <a:highlight>
                  <a:srgbClr val="FFFFFF"/>
                </a:highlight>
              </a:rPr>
              <a:t>thành</a:t>
            </a:r>
            <a:r>
              <a:rPr lang="en-US" sz="2000" dirty="0">
                <a:highlight>
                  <a:srgbClr val="FFFFFF"/>
                </a:highlight>
              </a:rPr>
              <a:t> </a:t>
            </a:r>
            <a:r>
              <a:rPr lang="en-US" sz="2000" dirty="0" err="1">
                <a:highlight>
                  <a:srgbClr val="FFFFFF"/>
                </a:highlight>
              </a:rPr>
              <a:t>phần</a:t>
            </a:r>
            <a:r>
              <a:rPr lang="en-US" sz="2000" dirty="0">
                <a:highlight>
                  <a:srgbClr val="FFFFFF"/>
                </a:highlight>
              </a:rPr>
              <a:t> </a:t>
            </a:r>
            <a:r>
              <a:rPr lang="en-US" sz="2000" dirty="0" err="1">
                <a:highlight>
                  <a:srgbClr val="FFFFFF"/>
                </a:highlight>
              </a:rPr>
              <a:t>trung</a:t>
            </a:r>
            <a:r>
              <a:rPr lang="en-US" sz="2000" dirty="0">
                <a:highlight>
                  <a:srgbClr val="FFFFFF"/>
                </a:highlight>
              </a:rPr>
              <a:t> </a:t>
            </a:r>
            <a:r>
              <a:rPr lang="en-US" sz="2000" dirty="0" err="1">
                <a:highlight>
                  <a:srgbClr val="FFFFFF"/>
                </a:highlight>
              </a:rPr>
              <a:t>gian</a:t>
            </a:r>
            <a:r>
              <a:rPr lang="en-US" sz="2000" dirty="0">
                <a:highlight>
                  <a:srgbClr val="FFFFFF"/>
                </a:highlight>
              </a:rPr>
              <a:t> </a:t>
            </a:r>
            <a:r>
              <a:rPr lang="en-US" sz="2000" dirty="0" err="1">
                <a:highlight>
                  <a:srgbClr val="FFFFFF"/>
                </a:highlight>
              </a:rPr>
              <a:t>như</a:t>
            </a:r>
            <a:r>
              <a:rPr lang="en-US" sz="2000" dirty="0">
                <a:highlight>
                  <a:srgbClr val="FFFFFF"/>
                </a:highlight>
              </a:rPr>
              <a:t> Controller, Service, Repository/DAO... </a:t>
            </a:r>
          </a:p>
          <a:p>
            <a:pPr lvl="1"/>
            <a:r>
              <a:rPr lang="en-US" sz="2000" dirty="0" err="1">
                <a:highlight>
                  <a:srgbClr val="FFFFFF"/>
                </a:highlight>
              </a:rPr>
              <a:t>Có</a:t>
            </a:r>
            <a:r>
              <a:rPr lang="en-US" sz="2000" dirty="0">
                <a:highlight>
                  <a:srgbClr val="FFFFFF"/>
                </a:highlight>
              </a:rPr>
              <a:t> </a:t>
            </a:r>
            <a:r>
              <a:rPr lang="en-US" sz="2000" dirty="0" err="1">
                <a:highlight>
                  <a:srgbClr val="FFFFFF"/>
                </a:highlight>
              </a:rPr>
              <a:t>thể</a:t>
            </a:r>
            <a:r>
              <a:rPr lang="en-US" sz="2000" dirty="0">
                <a:highlight>
                  <a:srgbClr val="FFFFFF"/>
                </a:highlight>
              </a:rPr>
              <a:t> </a:t>
            </a:r>
            <a:r>
              <a:rPr lang="en-US" sz="2000" dirty="0" err="1">
                <a:highlight>
                  <a:srgbClr val="FFFFFF"/>
                </a:highlight>
              </a:rPr>
              <a:t>làm</a:t>
            </a:r>
            <a:r>
              <a:rPr lang="en-US" sz="2000" dirty="0">
                <a:highlight>
                  <a:srgbClr val="FFFFFF"/>
                </a:highlight>
              </a:rPr>
              <a:t> </a:t>
            </a:r>
            <a:r>
              <a:rPr lang="en-US" sz="2000" dirty="0" err="1">
                <a:highlight>
                  <a:srgbClr val="FFFFFF"/>
                </a:highlight>
              </a:rPr>
              <a:t>tăng</a:t>
            </a:r>
            <a:r>
              <a:rPr lang="en-US" sz="2000" dirty="0">
                <a:highlight>
                  <a:srgbClr val="FFFFFF"/>
                </a:highlight>
              </a:rPr>
              <a:t> </a:t>
            </a:r>
            <a:r>
              <a:rPr lang="en-US" sz="2000" dirty="0" err="1">
                <a:highlight>
                  <a:srgbClr val="FFFFFF"/>
                </a:highlight>
              </a:rPr>
              <a:t>thời</a:t>
            </a:r>
            <a:r>
              <a:rPr lang="en-US" sz="2000" dirty="0">
                <a:highlight>
                  <a:srgbClr val="FFFFFF"/>
                </a:highlight>
              </a:rPr>
              <a:t> </a:t>
            </a:r>
            <a:r>
              <a:rPr lang="en-US" sz="2000" dirty="0" err="1">
                <a:highlight>
                  <a:srgbClr val="FFFFFF"/>
                </a:highlight>
              </a:rPr>
              <a:t>gian</a:t>
            </a:r>
            <a:r>
              <a:rPr lang="en-US" sz="2000" dirty="0">
                <a:highlight>
                  <a:srgbClr val="FFFFFF"/>
                </a:highlight>
              </a:rPr>
              <a:t> </a:t>
            </a:r>
            <a:r>
              <a:rPr lang="en-US" sz="2000" dirty="0" err="1">
                <a:highlight>
                  <a:srgbClr val="FFFFFF"/>
                </a:highlight>
              </a:rPr>
              <a:t>xử</a:t>
            </a:r>
            <a:r>
              <a:rPr lang="en-US" sz="2000" dirty="0">
                <a:highlight>
                  <a:srgbClr val="FFFFFF"/>
                </a:highlight>
              </a:rPr>
              <a:t> </a:t>
            </a:r>
            <a:r>
              <a:rPr lang="en-US" sz="2000" dirty="0" err="1">
                <a:highlight>
                  <a:srgbClr val="FFFFFF"/>
                </a:highlight>
              </a:rPr>
              <a:t>lý</a:t>
            </a:r>
            <a:r>
              <a:rPr lang="en-US" sz="2000" dirty="0">
                <a:highlight>
                  <a:srgbClr val="FFFFFF"/>
                </a:highlight>
              </a:rPr>
              <a:t>: </a:t>
            </a:r>
            <a:r>
              <a:rPr lang="en-US" sz="2000" dirty="0" err="1">
                <a:highlight>
                  <a:srgbClr val="FFFFFF"/>
                </a:highlight>
              </a:rPr>
              <a:t>Một</a:t>
            </a:r>
            <a:r>
              <a:rPr lang="en-US" sz="2000" dirty="0">
                <a:highlight>
                  <a:srgbClr val="FFFFFF"/>
                </a:highlight>
              </a:rPr>
              <a:t> </a:t>
            </a:r>
            <a:r>
              <a:rPr lang="en-US" sz="2000" dirty="0" err="1">
                <a:highlight>
                  <a:srgbClr val="FFFFFF"/>
                </a:highlight>
              </a:rPr>
              <a:t>yêu</a:t>
            </a:r>
            <a:r>
              <a:rPr lang="en-US" sz="2000" dirty="0">
                <a:highlight>
                  <a:srgbClr val="FFFFFF"/>
                </a:highlight>
              </a:rPr>
              <a:t> </a:t>
            </a:r>
            <a:r>
              <a:rPr lang="en-US" sz="2000" dirty="0" err="1">
                <a:highlight>
                  <a:srgbClr val="FFFFFF"/>
                </a:highlight>
              </a:rPr>
              <a:t>cầu</a:t>
            </a:r>
            <a:r>
              <a:rPr lang="en-US" sz="2000" dirty="0">
                <a:highlight>
                  <a:srgbClr val="FFFFFF"/>
                </a:highlight>
              </a:rPr>
              <a:t> </a:t>
            </a:r>
            <a:r>
              <a:rPr lang="en-US" sz="2000" dirty="0" err="1">
                <a:highlight>
                  <a:srgbClr val="FFFFFF"/>
                </a:highlight>
              </a:rPr>
              <a:t>thường</a:t>
            </a:r>
            <a:r>
              <a:rPr lang="en-US" sz="2000" dirty="0">
                <a:highlight>
                  <a:srgbClr val="FFFFFF"/>
                </a:highlight>
              </a:rPr>
              <a:t> </a:t>
            </a:r>
            <a:r>
              <a:rPr lang="en-US" sz="2000" dirty="0" err="1">
                <a:highlight>
                  <a:srgbClr val="FFFFFF"/>
                </a:highlight>
              </a:rPr>
              <a:t>phải</a:t>
            </a:r>
            <a:r>
              <a:rPr lang="en-US" sz="2000" dirty="0">
                <a:highlight>
                  <a:srgbClr val="FFFFFF"/>
                </a:highlight>
              </a:rPr>
              <a:t> </a:t>
            </a:r>
            <a:r>
              <a:rPr lang="en-US" sz="2000" dirty="0" err="1">
                <a:highlight>
                  <a:srgbClr val="FFFFFF"/>
                </a:highlight>
              </a:rPr>
              <a:t>đi</a:t>
            </a:r>
            <a:r>
              <a:rPr lang="en-US" sz="2000" dirty="0">
                <a:highlight>
                  <a:srgbClr val="FFFFFF"/>
                </a:highlight>
              </a:rPr>
              <a:t> qua </a:t>
            </a:r>
            <a:r>
              <a:rPr lang="en-US" sz="2000" dirty="0" err="1">
                <a:highlight>
                  <a:srgbClr val="FFFFFF"/>
                </a:highlight>
              </a:rPr>
              <a:t>nhiều</a:t>
            </a:r>
            <a:r>
              <a:rPr lang="en-US" sz="2000" dirty="0">
                <a:highlight>
                  <a:srgbClr val="FFFFFF"/>
                </a:highlight>
              </a:rPr>
              <a:t> </a:t>
            </a:r>
            <a:r>
              <a:rPr lang="en-US" sz="2000" dirty="0" err="1">
                <a:highlight>
                  <a:srgbClr val="FFFFFF"/>
                </a:highlight>
              </a:rPr>
              <a:t>lớp</a:t>
            </a:r>
            <a:endParaRPr lang="en-US" sz="2000" dirty="0">
              <a:highlight>
                <a:srgbClr val="FFFFFF"/>
              </a:highlight>
            </a:endParaRPr>
          </a:p>
          <a:p>
            <a:pPr lvl="1"/>
            <a:r>
              <a:rPr lang="en-US" sz="2000" dirty="0" err="1"/>
              <a:t>Khó</a:t>
            </a:r>
            <a:r>
              <a:rPr lang="en-US" sz="2000" dirty="0"/>
              <a:t> </a:t>
            </a:r>
            <a:r>
              <a:rPr lang="en-US" sz="2000" dirty="0" err="1"/>
              <a:t>thiết</a:t>
            </a:r>
            <a:r>
              <a:rPr lang="en-US" sz="2000" dirty="0"/>
              <a:t> </a:t>
            </a:r>
            <a:r>
              <a:rPr lang="en-US" sz="2000" dirty="0" err="1"/>
              <a:t>kế</a:t>
            </a:r>
            <a:r>
              <a:rPr lang="en-US" sz="2000" dirty="0"/>
              <a:t> </a:t>
            </a:r>
            <a:r>
              <a:rPr lang="en-US" sz="2000" dirty="0" err="1"/>
              <a:t>nếu</a:t>
            </a:r>
            <a:r>
              <a:rPr lang="en-US" sz="2000" dirty="0"/>
              <a:t> </a:t>
            </a:r>
            <a:r>
              <a:rPr lang="en-US" sz="2000" dirty="0" err="1"/>
              <a:t>phân</a:t>
            </a:r>
            <a:r>
              <a:rPr lang="en-US" sz="2000" dirty="0"/>
              <a:t> chia </a:t>
            </a:r>
            <a:r>
              <a:rPr lang="en-US" sz="2000" dirty="0" err="1"/>
              <a:t>trách</a:t>
            </a:r>
            <a:r>
              <a:rPr lang="en-US" sz="2000" dirty="0"/>
              <a:t> </a:t>
            </a:r>
            <a:r>
              <a:rPr lang="en-US" sz="2000" dirty="0" err="1"/>
              <a:t>nhiệm</a:t>
            </a:r>
            <a:r>
              <a:rPr lang="en-US" sz="2000" dirty="0"/>
              <a:t> </a:t>
            </a:r>
            <a:r>
              <a:rPr lang="en-US" sz="2000" dirty="0" err="1"/>
              <a:t>không</a:t>
            </a:r>
            <a:r>
              <a:rPr lang="en-US" sz="2000" dirty="0"/>
              <a:t> </a:t>
            </a:r>
            <a:r>
              <a:rPr lang="en-US" sz="2000" dirty="0" err="1"/>
              <a:t>tốt</a:t>
            </a:r>
            <a:r>
              <a:rPr lang="en-US" sz="2000" dirty="0"/>
              <a:t>: </a:t>
            </a:r>
            <a:r>
              <a:rPr lang="en-US" sz="2000" dirty="0" err="1"/>
              <a:t>ví</a:t>
            </a:r>
            <a:r>
              <a:rPr lang="en-US" sz="2000" dirty="0"/>
              <a:t> </a:t>
            </a:r>
            <a:r>
              <a:rPr lang="en-US" sz="2000" dirty="0" err="1"/>
              <a:t>dụ</a:t>
            </a:r>
            <a:r>
              <a:rPr lang="en-US" sz="2000" dirty="0"/>
              <a:t> Business Logic </a:t>
            </a:r>
            <a:r>
              <a:rPr lang="en-US" sz="2000" dirty="0" err="1"/>
              <a:t>có</a:t>
            </a:r>
            <a:r>
              <a:rPr lang="en-US" sz="2000" dirty="0"/>
              <a:t> </a:t>
            </a:r>
            <a:r>
              <a:rPr lang="en-US" sz="2000" dirty="0" err="1"/>
              <a:t>thể</a:t>
            </a:r>
            <a:r>
              <a:rPr lang="en-US" sz="2000" dirty="0"/>
              <a:t> </a:t>
            </a:r>
            <a:r>
              <a:rPr lang="en-US" sz="2000" dirty="0" err="1"/>
              <a:t>bị</a:t>
            </a:r>
            <a:r>
              <a:rPr lang="en-US" sz="2000" dirty="0"/>
              <a:t> </a:t>
            </a:r>
            <a:r>
              <a:rPr lang="en-US" sz="2000" dirty="0" err="1"/>
              <a:t>đưa</a:t>
            </a:r>
            <a:r>
              <a:rPr lang="en-US" sz="2000" dirty="0"/>
              <a:t> </a:t>
            </a:r>
            <a:r>
              <a:rPr lang="en-US" sz="2000" dirty="0" err="1"/>
              <a:t>nhầm</a:t>
            </a:r>
            <a:r>
              <a:rPr lang="en-US" sz="2000" dirty="0"/>
              <a:t> </a:t>
            </a:r>
            <a:r>
              <a:rPr lang="en-US" sz="2000" dirty="0" err="1"/>
              <a:t>vào</a:t>
            </a:r>
            <a:r>
              <a:rPr lang="en-US" sz="2000" dirty="0"/>
              <a:t> Presentation, SQL </a:t>
            </a:r>
            <a:r>
              <a:rPr lang="en-US" sz="2000" dirty="0" err="1"/>
              <a:t>có</a:t>
            </a:r>
            <a:r>
              <a:rPr lang="en-US" sz="2000" dirty="0"/>
              <a:t> </a:t>
            </a:r>
            <a:r>
              <a:rPr lang="en-US" sz="2000" dirty="0" err="1"/>
              <a:t>thể</a:t>
            </a:r>
            <a:r>
              <a:rPr lang="en-US" sz="2000" dirty="0"/>
              <a:t> </a:t>
            </a:r>
            <a:r>
              <a:rPr lang="en-US" sz="2000" dirty="0" err="1"/>
              <a:t>bị</a:t>
            </a:r>
            <a:r>
              <a:rPr lang="en-US" sz="2000" dirty="0"/>
              <a:t> </a:t>
            </a:r>
            <a:r>
              <a:rPr lang="en-US" sz="2000" dirty="0" err="1"/>
              <a:t>viết</a:t>
            </a:r>
            <a:r>
              <a:rPr lang="en-US" sz="2000" dirty="0"/>
              <a:t> </a:t>
            </a:r>
            <a:r>
              <a:rPr lang="en-US" sz="2000" dirty="0" err="1"/>
              <a:t>trực</a:t>
            </a:r>
            <a:r>
              <a:rPr lang="en-US" sz="2000" dirty="0"/>
              <a:t> </a:t>
            </a:r>
            <a:r>
              <a:rPr lang="en-US" sz="2000" dirty="0" err="1"/>
              <a:t>tiếp</a:t>
            </a:r>
            <a:r>
              <a:rPr lang="en-US" sz="2000" dirty="0"/>
              <a:t> </a:t>
            </a:r>
            <a:r>
              <a:rPr lang="en-US" sz="2000" dirty="0" err="1"/>
              <a:t>trong</a:t>
            </a:r>
            <a:r>
              <a:rPr lang="en-US" sz="2000" dirty="0"/>
              <a:t> Business Logic. Khi </a:t>
            </a:r>
            <a:r>
              <a:rPr lang="en-US" sz="2000" dirty="0" err="1"/>
              <a:t>đó</a:t>
            </a:r>
            <a:r>
              <a:rPr lang="en-US" sz="2000" dirty="0"/>
              <a:t> </a:t>
            </a:r>
            <a:r>
              <a:rPr lang="en-US" sz="2000" dirty="0" err="1"/>
              <a:t>kiến</a:t>
            </a:r>
            <a:r>
              <a:rPr lang="en-US" sz="2000" dirty="0"/>
              <a:t> </a:t>
            </a:r>
            <a:r>
              <a:rPr lang="en-US" sz="2000" dirty="0" err="1"/>
              <a:t>trúc</a:t>
            </a:r>
            <a:r>
              <a:rPr lang="en-US" sz="2000" dirty="0"/>
              <a:t> 3 </a:t>
            </a:r>
            <a:r>
              <a:rPr lang="en-US" sz="2000" dirty="0" err="1"/>
              <a:t>lớp</a:t>
            </a:r>
            <a:r>
              <a:rPr lang="en-US" sz="2000" dirty="0"/>
              <a:t> </a:t>
            </a:r>
            <a:r>
              <a:rPr lang="en-US" sz="2000" dirty="0" err="1"/>
              <a:t>mất</a:t>
            </a:r>
            <a:r>
              <a:rPr lang="en-US" sz="2000" dirty="0"/>
              <a:t> </a:t>
            </a:r>
            <a:r>
              <a:rPr lang="en-US" sz="2000" dirty="0" err="1"/>
              <a:t>đi</a:t>
            </a:r>
            <a:r>
              <a:rPr lang="en-US" sz="2000" dirty="0"/>
              <a:t> </a:t>
            </a:r>
            <a:r>
              <a:rPr lang="en-US" sz="2000" dirty="0" err="1"/>
              <a:t>lợi</a:t>
            </a:r>
            <a:r>
              <a:rPr lang="en-US" sz="2000" dirty="0"/>
              <a:t> </a:t>
            </a:r>
            <a:r>
              <a:rPr lang="en-US" sz="2000" dirty="0" err="1"/>
              <a:t>ích</a:t>
            </a:r>
            <a:r>
              <a:rPr lang="en-US" sz="2000" dirty="0"/>
              <a:t> </a:t>
            </a:r>
            <a:r>
              <a:rPr lang="en-US" sz="2000" dirty="0" err="1"/>
              <a:t>vốn</a:t>
            </a:r>
            <a:r>
              <a:rPr lang="en-US" sz="2000" dirty="0"/>
              <a:t> </a:t>
            </a:r>
            <a:r>
              <a:rPr lang="en-US" sz="2000" dirty="0" err="1"/>
              <a:t>có</a:t>
            </a:r>
            <a:r>
              <a:rPr lang="en-US" sz="2000" dirty="0"/>
              <a:t>.</a:t>
            </a:r>
          </a:p>
          <a:p>
            <a:pPr lvl="0"/>
            <a:endParaRPr lang="en-US" sz="2000" dirty="0">
              <a:highlight>
                <a:srgbClr val="FFFFFF"/>
              </a:highlight>
            </a:endParaRPr>
          </a:p>
          <a:p>
            <a:pPr lvl="1"/>
            <a:endParaRPr lang="en-US" sz="2000" dirty="0">
              <a:highlight>
                <a:srgbClr val="FFFFFF"/>
              </a:highlight>
            </a:endParaRPr>
          </a:p>
          <a:p>
            <a:pPr algn="l">
              <a:buFont typeface="Arial" panose="020B0604020202020204" pitchFamily="34" charset="0"/>
              <a:buChar char="•"/>
            </a:pPr>
            <a:endParaRPr lang="vi-VN" b="0" i="0" dirty="0">
              <a:solidFill>
                <a:srgbClr val="1B1B1B"/>
              </a:solidFill>
              <a:effectLst/>
              <a:highlight>
                <a:srgbClr val="FFFFFF"/>
              </a:highlight>
              <a:latin typeface="Open Sans" panose="020B0606030504020204" pitchFamily="34" charset="0"/>
            </a:endParaRPr>
          </a:p>
        </p:txBody>
      </p:sp>
    </p:spTree>
    <p:extLst>
      <p:ext uri="{BB962C8B-B14F-4D97-AF65-F5344CB8AC3E}">
        <p14:creationId xmlns:p14="http://schemas.microsoft.com/office/powerpoint/2010/main" val="734755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517B-0F75-22CF-45BF-813AB730C595}"/>
              </a:ext>
            </a:extLst>
          </p:cNvPr>
          <p:cNvSpPr>
            <a:spLocks noGrp="1"/>
          </p:cNvSpPr>
          <p:nvPr>
            <p:ph type="title"/>
          </p:nvPr>
        </p:nvSpPr>
        <p:spPr/>
        <p:txBody>
          <a:bodyPr/>
          <a:lstStyle/>
          <a:p>
            <a:r>
              <a:rPr lang="en-US" dirty="0" err="1"/>
              <a:t>Mô</a:t>
            </a:r>
            <a:r>
              <a:rPr lang="en-US" dirty="0"/>
              <a:t> </a:t>
            </a:r>
            <a:r>
              <a:rPr lang="en-US" dirty="0" err="1"/>
              <a:t>hình</a:t>
            </a:r>
            <a:r>
              <a:rPr lang="en-US" dirty="0"/>
              <a:t> MVC</a:t>
            </a:r>
          </a:p>
        </p:txBody>
      </p:sp>
      <p:sp>
        <p:nvSpPr>
          <p:cNvPr id="3" name="Content Placeholder 2">
            <a:extLst>
              <a:ext uri="{FF2B5EF4-FFF2-40B4-BE49-F238E27FC236}">
                <a16:creationId xmlns:a16="http://schemas.microsoft.com/office/drawing/2014/main" id="{3801D6E4-D36A-8BB4-E6F2-F2D6E343B8F4}"/>
              </a:ext>
            </a:extLst>
          </p:cNvPr>
          <p:cNvSpPr>
            <a:spLocks noGrp="1"/>
          </p:cNvSpPr>
          <p:nvPr>
            <p:ph idx="1"/>
          </p:nvPr>
        </p:nvSpPr>
        <p:spPr/>
        <p:txBody>
          <a:bodyPr/>
          <a:lstStyle/>
          <a:p>
            <a:pPr algn="l">
              <a:buFont typeface="Arial" panose="020B0604020202020204" pitchFamily="34" charset="0"/>
              <a:buChar char="•"/>
            </a:pPr>
            <a:r>
              <a:rPr lang="vi-VN" b="0" i="0" dirty="0">
                <a:solidFill>
                  <a:srgbClr val="1B1B1B"/>
                </a:solidFill>
                <a:effectLst/>
                <a:highlight>
                  <a:srgbClr val="FFFFFF"/>
                </a:highlight>
                <a:latin typeface="+mj-lt"/>
              </a:rPr>
              <a:t>Mô hình Model-View-Controller (MVC) là một mẫu kiến ​​trúc phân tách một ứng dụng thành ba thành phần logic chính Model, View và Controller. </a:t>
            </a:r>
            <a:endParaRPr lang="en-US" dirty="0">
              <a:solidFill>
                <a:srgbClr val="1B1B1B"/>
              </a:solidFill>
              <a:highlight>
                <a:srgbClr val="FFFFFF"/>
              </a:highlight>
              <a:latin typeface="+mj-lt"/>
            </a:endParaRPr>
          </a:p>
          <a:p>
            <a:pPr algn="l">
              <a:buFont typeface="Arial" panose="020B0604020202020204" pitchFamily="34" charset="0"/>
              <a:buChar char="•"/>
            </a:pPr>
            <a:r>
              <a:rPr lang="vi-VN" b="0" i="0" dirty="0">
                <a:solidFill>
                  <a:srgbClr val="1B1B1B"/>
                </a:solidFill>
                <a:effectLst/>
                <a:highlight>
                  <a:srgbClr val="FFFFFF"/>
                </a:highlight>
                <a:latin typeface="+mj-lt"/>
              </a:rPr>
              <a:t>Mỗi thành phần kiến ​​trúc được xây dựng để xử lý khía cạnh phát triển cụ thể của một ứng dụng. </a:t>
            </a:r>
            <a:endParaRPr lang="en-US" b="0" i="0" dirty="0">
              <a:solidFill>
                <a:srgbClr val="1B1B1B"/>
              </a:solidFill>
              <a:effectLst/>
              <a:highlight>
                <a:srgbClr val="FFFFFF"/>
              </a:highlight>
              <a:latin typeface="+mj-lt"/>
            </a:endParaRPr>
          </a:p>
          <a:p>
            <a:pPr algn="l">
              <a:buFont typeface="Arial" panose="020B0604020202020204" pitchFamily="34" charset="0"/>
              <a:buChar char="•"/>
            </a:pPr>
            <a:r>
              <a:rPr lang="vi-VN" b="0" i="0" dirty="0">
                <a:solidFill>
                  <a:srgbClr val="1B1B1B"/>
                </a:solidFill>
                <a:effectLst/>
                <a:highlight>
                  <a:srgbClr val="FFFFFF"/>
                </a:highlight>
                <a:latin typeface="+mj-lt"/>
              </a:rPr>
              <a:t>MVC tách lớp logic nghiệp vụ và lớp hiển thị ra riêng biệt. Ngày nay, kiến ​​trúc MVC đã trở nên phổ biến để thiết kế các ứng dụng web cũng như ứng dụng di động.</a:t>
            </a:r>
          </a:p>
        </p:txBody>
      </p:sp>
    </p:spTree>
    <p:extLst>
      <p:ext uri="{BB962C8B-B14F-4D97-AF65-F5344CB8AC3E}">
        <p14:creationId xmlns:p14="http://schemas.microsoft.com/office/powerpoint/2010/main" val="33227917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517B-0F75-22CF-45BF-813AB730C595}"/>
              </a:ext>
            </a:extLst>
          </p:cNvPr>
          <p:cNvSpPr>
            <a:spLocks noGrp="1"/>
          </p:cNvSpPr>
          <p:nvPr>
            <p:ph type="title"/>
          </p:nvPr>
        </p:nvSpPr>
        <p:spPr/>
        <p:txBody>
          <a:bodyPr/>
          <a:lstStyle/>
          <a:p>
            <a:r>
              <a:rPr lang="en-US" dirty="0" err="1"/>
              <a:t>Mô</a:t>
            </a:r>
            <a:r>
              <a:rPr lang="en-US" dirty="0"/>
              <a:t> </a:t>
            </a:r>
            <a:r>
              <a:rPr lang="en-US" dirty="0" err="1"/>
              <a:t>hình</a:t>
            </a:r>
            <a:r>
              <a:rPr lang="en-US" dirty="0"/>
              <a:t> MVC</a:t>
            </a:r>
          </a:p>
        </p:txBody>
      </p:sp>
      <p:sp>
        <p:nvSpPr>
          <p:cNvPr id="3" name="Content Placeholder 2">
            <a:extLst>
              <a:ext uri="{FF2B5EF4-FFF2-40B4-BE49-F238E27FC236}">
                <a16:creationId xmlns:a16="http://schemas.microsoft.com/office/drawing/2014/main" id="{3801D6E4-D36A-8BB4-E6F2-F2D6E343B8F4}"/>
              </a:ext>
            </a:extLst>
          </p:cNvPr>
          <p:cNvSpPr>
            <a:spLocks noGrp="1"/>
          </p:cNvSpPr>
          <p:nvPr>
            <p:ph idx="1"/>
          </p:nvPr>
        </p:nvSpPr>
        <p:spPr/>
        <p:txBody>
          <a:bodyPr/>
          <a:lstStyle/>
          <a:p>
            <a:pPr algn="l"/>
            <a:r>
              <a:rPr lang="vi-VN" b="0" i="0" dirty="0">
                <a:solidFill>
                  <a:srgbClr val="1B1B1B"/>
                </a:solidFill>
                <a:effectLst/>
                <a:highlight>
                  <a:srgbClr val="FFFFFF"/>
                </a:highlight>
                <a:latin typeface="+mj-lt"/>
              </a:rPr>
              <a:t>Luồng xử lý trong MVC gồm các bước như sau:</a:t>
            </a:r>
          </a:p>
          <a:p>
            <a:pPr lvl="1">
              <a:buFont typeface="Arial" panose="020B0604020202020204" pitchFamily="34" charset="0"/>
              <a:buChar char="•"/>
            </a:pPr>
            <a:r>
              <a:rPr lang="vi-VN" b="0" i="0" dirty="0">
                <a:solidFill>
                  <a:srgbClr val="1B1B1B"/>
                </a:solidFill>
                <a:effectLst/>
                <a:highlight>
                  <a:srgbClr val="FFFFFF"/>
                </a:highlight>
                <a:latin typeface="+mj-lt"/>
              </a:rPr>
              <a:t>Đầu tiên là </a:t>
            </a:r>
            <a:r>
              <a:rPr lang="vi-VN" b="1" i="0" dirty="0">
                <a:solidFill>
                  <a:srgbClr val="1B1B1B"/>
                </a:solidFill>
                <a:effectLst/>
                <a:highlight>
                  <a:srgbClr val="FFFFFF"/>
                </a:highlight>
                <a:latin typeface="+mj-lt"/>
              </a:rPr>
              <a:t>Request</a:t>
            </a:r>
            <a:r>
              <a:rPr lang="vi-VN" b="0" i="0" dirty="0">
                <a:solidFill>
                  <a:srgbClr val="1B1B1B"/>
                </a:solidFill>
                <a:effectLst/>
                <a:highlight>
                  <a:srgbClr val="FFFFFF"/>
                </a:highlight>
                <a:latin typeface="+mj-lt"/>
              </a:rPr>
              <a:t> từ người dùng được </a:t>
            </a:r>
            <a:r>
              <a:rPr lang="vi-VN" b="1" i="0" dirty="0">
                <a:solidFill>
                  <a:srgbClr val="1B1B1B"/>
                </a:solidFill>
                <a:effectLst/>
                <a:highlight>
                  <a:srgbClr val="FFFFFF"/>
                </a:highlight>
                <a:latin typeface="+mj-lt"/>
              </a:rPr>
              <a:t>gửi từ client đến server</a:t>
            </a:r>
            <a:endParaRPr lang="vi-VN" b="0" i="0" dirty="0">
              <a:solidFill>
                <a:srgbClr val="1B1B1B"/>
              </a:solidFill>
              <a:effectLst/>
              <a:highlight>
                <a:srgbClr val="FFFFFF"/>
              </a:highlight>
              <a:latin typeface="+mj-lt"/>
            </a:endParaRPr>
          </a:p>
          <a:p>
            <a:pPr lvl="1">
              <a:buFont typeface="Arial" panose="020B0604020202020204" pitchFamily="34" charset="0"/>
              <a:buChar char="•"/>
            </a:pPr>
            <a:r>
              <a:rPr lang="vi-VN" b="0" i="0" dirty="0">
                <a:solidFill>
                  <a:srgbClr val="1B1B1B"/>
                </a:solidFill>
                <a:effectLst/>
                <a:highlight>
                  <a:srgbClr val="FFFFFF"/>
                </a:highlight>
                <a:latin typeface="+mj-lt"/>
              </a:rPr>
              <a:t>Sau đó </a:t>
            </a:r>
            <a:r>
              <a:rPr lang="vi-VN" b="1" i="0" dirty="0">
                <a:solidFill>
                  <a:srgbClr val="1B1B1B"/>
                </a:solidFill>
                <a:effectLst/>
                <a:highlight>
                  <a:srgbClr val="FFFFFF"/>
                </a:highlight>
                <a:latin typeface="+mj-lt"/>
              </a:rPr>
              <a:t>Controller</a:t>
            </a:r>
            <a:r>
              <a:rPr lang="vi-VN" b="0" i="0" dirty="0">
                <a:solidFill>
                  <a:srgbClr val="1B1B1B"/>
                </a:solidFill>
                <a:effectLst/>
                <a:highlight>
                  <a:srgbClr val="FFFFFF"/>
                </a:highlight>
                <a:latin typeface="+mj-lt"/>
              </a:rPr>
              <a:t> dựa vào yêu cầu của người dùng tiến hành </a:t>
            </a:r>
            <a:r>
              <a:rPr lang="vi-VN" b="1" i="0" dirty="0">
                <a:solidFill>
                  <a:srgbClr val="1B1B1B"/>
                </a:solidFill>
                <a:effectLst/>
                <a:highlight>
                  <a:srgbClr val="FFFFFF"/>
                </a:highlight>
                <a:latin typeface="+mj-lt"/>
              </a:rPr>
              <a:t>giao tiếp với Model</a:t>
            </a:r>
            <a:r>
              <a:rPr lang="vi-VN" b="0" i="0" dirty="0">
                <a:solidFill>
                  <a:srgbClr val="1B1B1B"/>
                </a:solidFill>
                <a:effectLst/>
                <a:highlight>
                  <a:srgbClr val="FFFFFF"/>
                </a:highlight>
                <a:latin typeface="+mj-lt"/>
              </a:rPr>
              <a:t> để lấy data từ database</a:t>
            </a:r>
          </a:p>
          <a:p>
            <a:pPr lvl="1">
              <a:buFont typeface="Arial" panose="020B0604020202020204" pitchFamily="34" charset="0"/>
              <a:buChar char="•"/>
            </a:pPr>
            <a:r>
              <a:rPr lang="vi-VN" b="0" i="0" dirty="0">
                <a:solidFill>
                  <a:srgbClr val="1B1B1B"/>
                </a:solidFill>
                <a:effectLst/>
                <a:highlight>
                  <a:srgbClr val="FFFFFF"/>
                </a:highlight>
                <a:latin typeface="+mj-lt"/>
              </a:rPr>
              <a:t>Cuối cùng </a:t>
            </a:r>
            <a:r>
              <a:rPr lang="vi-VN" b="1" i="0" dirty="0">
                <a:solidFill>
                  <a:srgbClr val="1B1B1B"/>
                </a:solidFill>
                <a:effectLst/>
                <a:highlight>
                  <a:srgbClr val="FFFFFF"/>
                </a:highlight>
                <a:latin typeface="+mj-lt"/>
              </a:rPr>
              <a:t>Controller</a:t>
            </a:r>
            <a:r>
              <a:rPr lang="vi-VN" b="0" i="0" dirty="0">
                <a:solidFill>
                  <a:srgbClr val="1B1B1B"/>
                </a:solidFill>
                <a:effectLst/>
                <a:highlight>
                  <a:srgbClr val="FFFFFF"/>
                </a:highlight>
                <a:latin typeface="+mj-lt"/>
              </a:rPr>
              <a:t> gửi dữ liệu vừa lấy được về </a:t>
            </a:r>
            <a:r>
              <a:rPr lang="vi-VN" b="1" i="0" dirty="0">
                <a:solidFill>
                  <a:srgbClr val="1B1B1B"/>
                </a:solidFill>
                <a:effectLst/>
                <a:highlight>
                  <a:srgbClr val="FFFFFF"/>
                </a:highlight>
                <a:latin typeface="+mj-lt"/>
              </a:rPr>
              <a:t>View</a:t>
            </a:r>
            <a:r>
              <a:rPr lang="vi-VN" b="0" i="0" dirty="0">
                <a:solidFill>
                  <a:srgbClr val="1B1B1B"/>
                </a:solidFill>
                <a:effectLst/>
                <a:highlight>
                  <a:srgbClr val="FFFFFF"/>
                </a:highlight>
                <a:latin typeface="+mj-lt"/>
              </a:rPr>
              <a:t> và hiển thị ra cho người dùng trên trình duyệt</a:t>
            </a:r>
          </a:p>
        </p:txBody>
      </p:sp>
    </p:spTree>
    <p:extLst>
      <p:ext uri="{BB962C8B-B14F-4D97-AF65-F5344CB8AC3E}">
        <p14:creationId xmlns:p14="http://schemas.microsoft.com/office/powerpoint/2010/main" val="35658020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517B-0F75-22CF-45BF-813AB730C595}"/>
              </a:ext>
            </a:extLst>
          </p:cNvPr>
          <p:cNvSpPr>
            <a:spLocks noGrp="1"/>
          </p:cNvSpPr>
          <p:nvPr>
            <p:ph type="title"/>
          </p:nvPr>
        </p:nvSpPr>
        <p:spPr/>
        <p:txBody>
          <a:bodyPr/>
          <a:lstStyle/>
          <a:p>
            <a:r>
              <a:rPr lang="en-US" dirty="0" err="1"/>
              <a:t>Mô</a:t>
            </a:r>
            <a:r>
              <a:rPr lang="en-US" dirty="0"/>
              <a:t> </a:t>
            </a:r>
            <a:r>
              <a:rPr lang="en-US" dirty="0" err="1"/>
              <a:t>hình</a:t>
            </a:r>
            <a:r>
              <a:rPr lang="en-US" dirty="0"/>
              <a:t> MVC</a:t>
            </a:r>
          </a:p>
        </p:txBody>
      </p:sp>
      <p:pic>
        <p:nvPicPr>
          <p:cNvPr id="7" name="Content Placeholder 6">
            <a:extLst>
              <a:ext uri="{FF2B5EF4-FFF2-40B4-BE49-F238E27FC236}">
                <a16:creationId xmlns:a16="http://schemas.microsoft.com/office/drawing/2014/main" id="{575D05ED-9C0C-6DA9-624F-7764499E1041}"/>
              </a:ext>
            </a:extLst>
          </p:cNvPr>
          <p:cNvPicPr>
            <a:picLocks noGrp="1" noChangeAspect="1"/>
          </p:cNvPicPr>
          <p:nvPr>
            <p:ph idx="1"/>
          </p:nvPr>
        </p:nvPicPr>
        <p:blipFill>
          <a:blip r:embed="rId2"/>
          <a:stretch>
            <a:fillRect/>
          </a:stretch>
        </p:blipFill>
        <p:spPr>
          <a:xfrm>
            <a:off x="2953743" y="1120776"/>
            <a:ext cx="7170918" cy="5068510"/>
          </a:xfrm>
        </p:spPr>
      </p:pic>
    </p:spTree>
    <p:extLst>
      <p:ext uri="{BB962C8B-B14F-4D97-AF65-F5344CB8AC3E}">
        <p14:creationId xmlns:p14="http://schemas.microsoft.com/office/powerpoint/2010/main" val="4021863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517B-0F75-22CF-45BF-813AB730C595}"/>
              </a:ext>
            </a:extLst>
          </p:cNvPr>
          <p:cNvSpPr>
            <a:spLocks noGrp="1"/>
          </p:cNvSpPr>
          <p:nvPr>
            <p:ph type="title"/>
          </p:nvPr>
        </p:nvSpPr>
        <p:spPr>
          <a:xfrm>
            <a:off x="285749" y="571288"/>
            <a:ext cx="10993967" cy="498475"/>
          </a:xfrm>
        </p:spPr>
        <p:txBody>
          <a:bodyPr/>
          <a:lstStyle/>
          <a:p>
            <a:r>
              <a:rPr lang="en-US" dirty="0" err="1"/>
              <a:t>Mô</a:t>
            </a:r>
            <a:r>
              <a:rPr lang="en-US" dirty="0"/>
              <a:t> </a:t>
            </a:r>
            <a:r>
              <a:rPr lang="en-US" dirty="0" err="1"/>
              <a:t>hình</a:t>
            </a:r>
            <a:r>
              <a:rPr lang="en-US" dirty="0"/>
              <a:t> MVC</a:t>
            </a:r>
          </a:p>
        </p:txBody>
      </p:sp>
      <p:sp>
        <p:nvSpPr>
          <p:cNvPr id="3" name="Content Placeholder 2">
            <a:extLst>
              <a:ext uri="{FF2B5EF4-FFF2-40B4-BE49-F238E27FC236}">
                <a16:creationId xmlns:a16="http://schemas.microsoft.com/office/drawing/2014/main" id="{3801D6E4-D36A-8BB4-E6F2-F2D6E343B8F4}"/>
              </a:ext>
            </a:extLst>
          </p:cNvPr>
          <p:cNvSpPr>
            <a:spLocks noGrp="1"/>
          </p:cNvSpPr>
          <p:nvPr>
            <p:ph idx="1"/>
          </p:nvPr>
        </p:nvSpPr>
        <p:spPr>
          <a:xfrm>
            <a:off x="912283" y="1245950"/>
            <a:ext cx="10367433" cy="3902075"/>
          </a:xfrm>
        </p:spPr>
        <p:txBody>
          <a:bodyPr/>
          <a:lstStyle/>
          <a:p>
            <a:pPr algn="l" fontAlgn="base"/>
            <a:r>
              <a:rPr lang="vi-VN" b="0" i="0" dirty="0">
                <a:effectLst/>
                <a:highlight>
                  <a:srgbClr val="FFFFFF"/>
                </a:highlight>
                <a:latin typeface="+mj-lt"/>
              </a:rPr>
              <a:t>Ví dụ về cách hoạt động và trách nhiệm của MVC</a:t>
            </a:r>
          </a:p>
          <a:p>
            <a:pPr lvl="1"/>
            <a:r>
              <a:rPr lang="vi-VN" b="0" i="0" dirty="0">
                <a:effectLst/>
                <a:highlight>
                  <a:srgbClr val="FFFFFF"/>
                </a:highlight>
                <a:latin typeface="+mj-lt"/>
              </a:rPr>
              <a:t>Giả sử bạn</a:t>
            </a:r>
            <a:r>
              <a:rPr lang="en-US" b="0" i="0" dirty="0">
                <a:effectLst/>
                <a:highlight>
                  <a:srgbClr val="FFFFFF"/>
                </a:highlight>
                <a:latin typeface="+mj-lt"/>
              </a:rPr>
              <a:t> (view)</a:t>
            </a:r>
            <a:r>
              <a:rPr lang="vi-VN" b="0" i="0" dirty="0">
                <a:effectLst/>
                <a:highlight>
                  <a:srgbClr val="FFFFFF"/>
                </a:highlight>
                <a:latin typeface="+mj-lt"/>
              </a:rPr>
              <a:t> đến một nhà hàng, bạn sẽ không vào bếp và chuẩn bị đồ ăn mà thay vào đó, bạn lại bàn ngồi và đợi người phục vụ tới.</a:t>
            </a:r>
          </a:p>
          <a:p>
            <a:pPr lvl="1"/>
            <a:r>
              <a:rPr lang="vi-VN" b="0" i="0" dirty="0">
                <a:effectLst/>
                <a:highlight>
                  <a:srgbClr val="FFFFFF"/>
                </a:highlight>
                <a:latin typeface="+mj-lt"/>
              </a:rPr>
              <a:t>Bây giờ người phục vụ </a:t>
            </a:r>
            <a:r>
              <a:rPr lang="en-US" b="0" i="0" dirty="0">
                <a:effectLst/>
                <a:highlight>
                  <a:srgbClr val="FFFFFF"/>
                </a:highlight>
                <a:latin typeface="+mj-lt"/>
              </a:rPr>
              <a:t>(controller)</a:t>
            </a:r>
            <a:r>
              <a:rPr lang="vi-VN" b="0" i="0" dirty="0">
                <a:effectLst/>
                <a:highlight>
                  <a:srgbClr val="FFFFFF"/>
                </a:highlight>
                <a:latin typeface="+mj-lt"/>
              </a:rPr>
              <a:t>đến chỗ bạn và bạn gọi đồ ăn. Người phục vụ không biết bạn là ai và bạn muốn gì, anh ta chỉ viết ra chi tiết món ăn của bạn. Sau đó, người phục vụ di chuyển vào bếp.</a:t>
            </a:r>
          </a:p>
          <a:p>
            <a:pPr lvl="1"/>
            <a:r>
              <a:rPr lang="vi-VN" b="0" i="0" dirty="0">
                <a:effectLst/>
                <a:highlight>
                  <a:srgbClr val="FFFFFF"/>
                </a:highlight>
                <a:latin typeface="+mj-lt"/>
              </a:rPr>
              <a:t>Trong bếp, người phục vụ không chuẩn bị thức ăn cho bạn. Đầu bếp</a:t>
            </a:r>
            <a:r>
              <a:rPr lang="en-US" b="0" i="0" dirty="0">
                <a:effectLst/>
                <a:highlight>
                  <a:srgbClr val="FFFFFF"/>
                </a:highlight>
                <a:latin typeface="+mj-lt"/>
              </a:rPr>
              <a:t> (Model)</a:t>
            </a:r>
            <a:r>
              <a:rPr lang="vi-VN" b="0" i="0" dirty="0">
                <a:effectLst/>
                <a:highlight>
                  <a:srgbClr val="FFFFFF"/>
                </a:highlight>
                <a:latin typeface="+mj-lt"/>
              </a:rPr>
              <a:t> chuẩn bị thức ăn cho bạn. Người phục vụ đưa đơn đặt hàng của bạn cho đầu bếp cùng với số bàn của bạn. Anh ấy sử dụng nguyên liệu </a:t>
            </a:r>
            <a:r>
              <a:rPr lang="en-US" dirty="0" err="1">
                <a:highlight>
                  <a:srgbClr val="FFFFFF"/>
                </a:highlight>
                <a:latin typeface="+mj-lt"/>
              </a:rPr>
              <a:t>được</a:t>
            </a:r>
            <a:r>
              <a:rPr lang="en-US" dirty="0">
                <a:highlight>
                  <a:srgbClr val="FFFFFF"/>
                </a:highlight>
                <a:latin typeface="+mj-lt"/>
              </a:rPr>
              <a:t> </a:t>
            </a:r>
            <a:r>
              <a:rPr lang="en-US" dirty="0" err="1">
                <a:highlight>
                  <a:srgbClr val="FFFFFF"/>
                </a:highlight>
                <a:latin typeface="+mj-lt"/>
              </a:rPr>
              <a:t>cất</a:t>
            </a:r>
            <a:r>
              <a:rPr lang="en-US" dirty="0">
                <a:highlight>
                  <a:srgbClr val="FFFFFF"/>
                </a:highlight>
                <a:latin typeface="+mj-lt"/>
              </a:rPr>
              <a:t> ở </a:t>
            </a:r>
            <a:r>
              <a:rPr lang="en-US" dirty="0" err="1">
                <a:highlight>
                  <a:srgbClr val="FFFFFF"/>
                </a:highlight>
                <a:latin typeface="+mj-lt"/>
              </a:rPr>
              <a:t>tủ</a:t>
            </a:r>
            <a:r>
              <a:rPr lang="en-US" dirty="0">
                <a:highlight>
                  <a:srgbClr val="FFFFFF"/>
                </a:highlight>
                <a:latin typeface="+mj-lt"/>
              </a:rPr>
              <a:t> </a:t>
            </a:r>
            <a:r>
              <a:rPr lang="en-US" dirty="0" err="1">
                <a:highlight>
                  <a:srgbClr val="FFFFFF"/>
                </a:highlight>
                <a:latin typeface="+mj-lt"/>
              </a:rPr>
              <a:t>lạnh</a:t>
            </a:r>
            <a:r>
              <a:rPr lang="en-US" dirty="0">
                <a:highlight>
                  <a:srgbClr val="FFFFFF"/>
                </a:highlight>
                <a:latin typeface="+mj-lt"/>
              </a:rPr>
              <a:t> (database) </a:t>
            </a:r>
            <a:r>
              <a:rPr lang="vi-VN" b="0" i="0" dirty="0">
                <a:effectLst/>
                <a:highlight>
                  <a:srgbClr val="FFFFFF"/>
                </a:highlight>
                <a:latin typeface="+mj-lt"/>
              </a:rPr>
              <a:t>để nấu thức ăn.</a:t>
            </a:r>
          </a:p>
          <a:p>
            <a:pPr lvl="1"/>
            <a:r>
              <a:rPr lang="vi-VN" b="0" i="0" dirty="0">
                <a:effectLst/>
                <a:highlight>
                  <a:srgbClr val="FFFFFF"/>
                </a:highlight>
                <a:latin typeface="+mj-lt"/>
              </a:rPr>
              <a:t>Đầu bếp sau đó bàn giao thức ăn cho người phục vụ. Bây giờ công việc của người phục vụ là di chuyển thức ăn này từ bếp ra đến bàn. Bây giờ người phục vụ biết bạn đã gọi món nào và chúng được phục vụ như thế nào.</a:t>
            </a:r>
          </a:p>
        </p:txBody>
      </p:sp>
    </p:spTree>
    <p:extLst>
      <p:ext uri="{BB962C8B-B14F-4D97-AF65-F5344CB8AC3E}">
        <p14:creationId xmlns:p14="http://schemas.microsoft.com/office/powerpoint/2010/main" val="15722843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517B-0F75-22CF-45BF-813AB730C595}"/>
              </a:ext>
            </a:extLst>
          </p:cNvPr>
          <p:cNvSpPr>
            <a:spLocks noGrp="1"/>
          </p:cNvSpPr>
          <p:nvPr>
            <p:ph type="title"/>
          </p:nvPr>
        </p:nvSpPr>
        <p:spPr/>
        <p:txBody>
          <a:bodyPr/>
          <a:lstStyle/>
          <a:p>
            <a:r>
              <a:rPr lang="en-US" dirty="0" err="1"/>
              <a:t>Mô</a:t>
            </a:r>
            <a:r>
              <a:rPr lang="en-US" dirty="0"/>
              <a:t> </a:t>
            </a:r>
            <a:r>
              <a:rPr lang="en-US" dirty="0" err="1"/>
              <a:t>hình</a:t>
            </a:r>
            <a:r>
              <a:rPr lang="en-US" dirty="0"/>
              <a:t> MVC</a:t>
            </a:r>
          </a:p>
        </p:txBody>
      </p:sp>
      <p:sp>
        <p:nvSpPr>
          <p:cNvPr id="3" name="Content Placeholder 2">
            <a:extLst>
              <a:ext uri="{FF2B5EF4-FFF2-40B4-BE49-F238E27FC236}">
                <a16:creationId xmlns:a16="http://schemas.microsoft.com/office/drawing/2014/main" id="{3801D6E4-D36A-8BB4-E6F2-F2D6E343B8F4}"/>
              </a:ext>
            </a:extLst>
          </p:cNvPr>
          <p:cNvSpPr>
            <a:spLocks noGrp="1"/>
          </p:cNvSpPr>
          <p:nvPr>
            <p:ph idx="1"/>
          </p:nvPr>
        </p:nvSpPr>
        <p:spPr>
          <a:xfrm>
            <a:off x="912283" y="1477962"/>
            <a:ext cx="10367433" cy="3902075"/>
          </a:xfrm>
        </p:spPr>
        <p:txBody>
          <a:bodyPr/>
          <a:lstStyle/>
          <a:p>
            <a:pPr algn="l" fontAlgn="base"/>
            <a:r>
              <a:rPr lang="en-US" dirty="0" err="1">
                <a:highlight>
                  <a:srgbClr val="FFFFFF"/>
                </a:highlight>
                <a:latin typeface="+mj-lt"/>
              </a:rPr>
              <a:t>Ưu</a:t>
            </a:r>
            <a:r>
              <a:rPr lang="en-US" dirty="0">
                <a:highlight>
                  <a:srgbClr val="FFFFFF"/>
                </a:highlight>
                <a:latin typeface="+mj-lt"/>
              </a:rPr>
              <a:t> </a:t>
            </a:r>
            <a:r>
              <a:rPr lang="en-US" dirty="0" err="1">
                <a:highlight>
                  <a:srgbClr val="FFFFFF"/>
                </a:highlight>
                <a:latin typeface="+mj-lt"/>
              </a:rPr>
              <a:t>điểm</a:t>
            </a:r>
            <a:endParaRPr lang="en-US" dirty="0">
              <a:highlight>
                <a:srgbClr val="FFFFFF"/>
              </a:highlight>
              <a:latin typeface="+mj-lt"/>
            </a:endParaRPr>
          </a:p>
          <a:p>
            <a:pPr algn="just" fontAlgn="base">
              <a:buFont typeface="Arial" panose="020B0604020202020204" pitchFamily="34" charset="0"/>
              <a:buChar char="•"/>
            </a:pPr>
            <a:r>
              <a:rPr lang="vi-VN" b="0" i="0" dirty="0">
                <a:effectLst/>
                <a:highlight>
                  <a:srgbClr val="FFFFFF"/>
                </a:highlight>
                <a:latin typeface="+mj-lt"/>
              </a:rPr>
              <a:t>Các thành phần trong ứng dụng được phân tách rõ ràng và độc lập khiến cho việc sử dụng, thao tác các lệnh trở nên đơn giản, thuận tiện hơn. Việc nâng cấp, bảo trì từng thành tố cũng dễ dàng.</a:t>
            </a:r>
          </a:p>
          <a:p>
            <a:pPr algn="just" fontAlgn="base">
              <a:buFont typeface="Arial" panose="020B0604020202020204" pitchFamily="34" charset="0"/>
              <a:buChar char="•"/>
            </a:pPr>
            <a:r>
              <a:rPr lang="vi-VN" b="0" i="0" dirty="0">
                <a:effectLst/>
                <a:highlight>
                  <a:srgbClr val="FFFFFF"/>
                </a:highlight>
                <a:latin typeface="+mj-lt"/>
              </a:rPr>
              <a:t>Model – View – Controller dù độc lập nhưng lại có mối quan hệ tương tác với nhau. Nó tạo nên một thể nhất quán trong quá trình lập trình.</a:t>
            </a:r>
          </a:p>
          <a:p>
            <a:r>
              <a:rPr lang="vi-VN" b="0" i="0" dirty="0">
                <a:effectLst/>
                <a:highlight>
                  <a:srgbClr val="FFFFFF"/>
                </a:highlight>
                <a:latin typeface="+mj-lt"/>
              </a:rPr>
              <a:t>Có thể chia nhiều developer làm việc cùng một lúc. Công việc của các developer sẽ không ảnh hưởng đến nhau.</a:t>
            </a:r>
          </a:p>
          <a:p>
            <a:pPr algn="l" fontAlgn="base"/>
            <a:endParaRPr lang="vi-VN" b="0" i="0" dirty="0">
              <a:effectLst/>
              <a:highlight>
                <a:srgbClr val="FFFFFF"/>
              </a:highlight>
              <a:latin typeface="Roboto" panose="02000000000000000000" pitchFamily="2" charset="0"/>
            </a:endParaRPr>
          </a:p>
        </p:txBody>
      </p:sp>
    </p:spTree>
    <p:extLst>
      <p:ext uri="{BB962C8B-B14F-4D97-AF65-F5344CB8AC3E}">
        <p14:creationId xmlns:p14="http://schemas.microsoft.com/office/powerpoint/2010/main" val="2839114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517B-0F75-22CF-45BF-813AB730C595}"/>
              </a:ext>
            </a:extLst>
          </p:cNvPr>
          <p:cNvSpPr>
            <a:spLocks noGrp="1"/>
          </p:cNvSpPr>
          <p:nvPr>
            <p:ph type="title"/>
          </p:nvPr>
        </p:nvSpPr>
        <p:spPr/>
        <p:txBody>
          <a:bodyPr/>
          <a:lstStyle/>
          <a:p>
            <a:r>
              <a:rPr lang="en-US" dirty="0" err="1"/>
              <a:t>Mô</a:t>
            </a:r>
            <a:r>
              <a:rPr lang="en-US" dirty="0"/>
              <a:t> </a:t>
            </a:r>
            <a:r>
              <a:rPr lang="en-US" dirty="0" err="1"/>
              <a:t>hình</a:t>
            </a:r>
            <a:r>
              <a:rPr lang="en-US" dirty="0"/>
              <a:t> MVC</a:t>
            </a:r>
          </a:p>
        </p:txBody>
      </p:sp>
      <p:sp>
        <p:nvSpPr>
          <p:cNvPr id="3" name="Content Placeholder 2">
            <a:extLst>
              <a:ext uri="{FF2B5EF4-FFF2-40B4-BE49-F238E27FC236}">
                <a16:creationId xmlns:a16="http://schemas.microsoft.com/office/drawing/2014/main" id="{3801D6E4-D36A-8BB4-E6F2-F2D6E343B8F4}"/>
              </a:ext>
            </a:extLst>
          </p:cNvPr>
          <p:cNvSpPr>
            <a:spLocks noGrp="1"/>
          </p:cNvSpPr>
          <p:nvPr>
            <p:ph idx="1"/>
          </p:nvPr>
        </p:nvSpPr>
        <p:spPr>
          <a:xfrm>
            <a:off x="912283" y="1477962"/>
            <a:ext cx="10367433" cy="3902075"/>
          </a:xfrm>
        </p:spPr>
        <p:txBody>
          <a:bodyPr/>
          <a:lstStyle/>
          <a:p>
            <a:pPr algn="l" fontAlgn="base"/>
            <a:r>
              <a:rPr lang="en-US" dirty="0" err="1">
                <a:highlight>
                  <a:srgbClr val="FFFFFF"/>
                </a:highlight>
                <a:latin typeface="+mj-lt"/>
              </a:rPr>
              <a:t>Nhược</a:t>
            </a:r>
            <a:r>
              <a:rPr lang="en-US" dirty="0">
                <a:highlight>
                  <a:srgbClr val="FFFFFF"/>
                </a:highlight>
                <a:latin typeface="+mj-lt"/>
              </a:rPr>
              <a:t> </a:t>
            </a:r>
            <a:r>
              <a:rPr lang="en-US" dirty="0" err="1">
                <a:highlight>
                  <a:srgbClr val="FFFFFF"/>
                </a:highlight>
                <a:latin typeface="+mj-lt"/>
              </a:rPr>
              <a:t>điểm</a:t>
            </a:r>
            <a:endParaRPr lang="en-US" dirty="0">
              <a:highlight>
                <a:srgbClr val="FFFFFF"/>
              </a:highlight>
              <a:latin typeface="+mj-lt"/>
            </a:endParaRPr>
          </a:p>
          <a:p>
            <a:pPr algn="just" fontAlgn="base">
              <a:buFont typeface="Arial" panose="020B0604020202020204" pitchFamily="34" charset="0"/>
              <a:buChar char="•"/>
            </a:pPr>
            <a:r>
              <a:rPr lang="vi-VN" b="0" i="0" dirty="0">
                <a:effectLst/>
                <a:highlight>
                  <a:srgbClr val="FFFFFF"/>
                </a:highlight>
                <a:latin typeface="+mj-lt"/>
              </a:rPr>
              <a:t>MVC chưa thực sự thích hợp với các ứng dụng nhỏ.</a:t>
            </a:r>
          </a:p>
          <a:p>
            <a:pPr algn="just" fontAlgn="base">
              <a:buFont typeface="Arial" panose="020B0604020202020204" pitchFamily="34" charset="0"/>
              <a:buChar char="•"/>
            </a:pPr>
            <a:r>
              <a:rPr lang="vi-VN" b="0" i="0" dirty="0">
                <a:effectLst/>
                <a:highlight>
                  <a:srgbClr val="FFFFFF"/>
                </a:highlight>
                <a:latin typeface="+mj-lt"/>
              </a:rPr>
              <a:t>Sử dụng mô hình MVC tốn rất nhiều thời gian, dễ gây ra áp lực trong khi lập trình.</a:t>
            </a:r>
          </a:p>
          <a:p>
            <a:pPr algn="just" fontAlgn="base">
              <a:buFont typeface="Arial" panose="020B0604020202020204" pitchFamily="34" charset="0"/>
              <a:buChar char="•"/>
            </a:pPr>
            <a:r>
              <a:rPr lang="vi-VN" b="0" i="0" dirty="0">
                <a:effectLst/>
                <a:highlight>
                  <a:srgbClr val="FFFFFF"/>
                </a:highlight>
                <a:latin typeface="+mj-lt"/>
              </a:rPr>
              <a:t>Đòi hỏi người dùng phải có kiến thức để vận dụng.</a:t>
            </a:r>
          </a:p>
          <a:p>
            <a:pPr algn="l" fontAlgn="base"/>
            <a:endParaRPr lang="vi-VN" b="0" i="0" dirty="0">
              <a:effectLst/>
              <a:highlight>
                <a:srgbClr val="FFFFFF"/>
              </a:highlight>
              <a:latin typeface="Roboto" panose="02000000000000000000" pitchFamily="2" charset="0"/>
            </a:endParaRPr>
          </a:p>
        </p:txBody>
      </p:sp>
    </p:spTree>
    <p:extLst>
      <p:ext uri="{BB962C8B-B14F-4D97-AF65-F5344CB8AC3E}">
        <p14:creationId xmlns:p14="http://schemas.microsoft.com/office/powerpoint/2010/main" val="1214142033"/>
      </p:ext>
    </p:extLst>
  </p:cSld>
  <p:clrMapOvr>
    <a:masterClrMapping/>
  </p:clrMapOvr>
</p:sld>
</file>

<file path=ppt/theme/theme1.xml><?xml version="1.0" encoding="utf-8"?>
<a:theme xmlns:a="http://schemas.openxmlformats.org/drawingml/2006/main" name="theme_baigiang">
  <a:themeElements>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fontScheme name="System i5 simplify pear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lnDef>
  </a:objectDefaults>
  <a:extraClrSchemeLst>
    <a:extraClrScheme>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clrMap bg1="lt1" tx1="dk1" bg2="lt2" tx2="dk2" accent1="accent1" accent2="accent2" accent3="accent3" accent4="accent4" accent5="accent5" accent6="accent6" hlink="hlink" folHlink="folHlink"/>
    </a:extraClrScheme>
    <a:extraClrScheme>
      <a:clrScheme name="System i5 simplify pearl 2">
        <a:dk1>
          <a:srgbClr val="808080"/>
        </a:dk1>
        <a:lt1>
          <a:srgbClr val="FFFFFF"/>
        </a:lt1>
        <a:dk2>
          <a:srgbClr val="000000"/>
        </a:dk2>
        <a:lt2>
          <a:srgbClr val="CCCCFF"/>
        </a:lt2>
        <a:accent1>
          <a:srgbClr val="7889FB"/>
        </a:accent1>
        <a:accent2>
          <a:srgbClr val="DFFF66"/>
        </a:accent2>
        <a:accent3>
          <a:srgbClr val="AAAAAA"/>
        </a:accent3>
        <a:accent4>
          <a:srgbClr val="DADADA"/>
        </a:accent4>
        <a:accent5>
          <a:srgbClr val="BEC4FD"/>
        </a:accent5>
        <a:accent6>
          <a:srgbClr val="CAE75C"/>
        </a:accent6>
        <a:hlink>
          <a:srgbClr val="C0C0C0"/>
        </a:hlink>
        <a:folHlink>
          <a:srgbClr val="D1821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_baigiang" id="{3BBCB59F-46B3-4750-81BA-6C4F98FE1C04}" vid="{0636B514-BCA1-4FE9-A26C-FDE946C1D7AC}"/>
    </a:ext>
  </a:extLst>
</a:theme>
</file>

<file path=docProps/app.xml><?xml version="1.0" encoding="utf-8"?>
<Properties xmlns="http://schemas.openxmlformats.org/officeDocument/2006/extended-properties" xmlns:vt="http://schemas.openxmlformats.org/officeDocument/2006/docPropsVTypes">
  <Template>theme_baigiang</Template>
  <TotalTime>749</TotalTime>
  <Words>3540</Words>
  <Application>Microsoft Office PowerPoint</Application>
  <PresentationFormat>Widescreen</PresentationFormat>
  <Paragraphs>233</Paragraphs>
  <Slides>45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MS PGothic</vt:lpstr>
      <vt:lpstr>Arial</vt:lpstr>
      <vt:lpstr>Arial (body)</vt:lpstr>
      <vt:lpstr>Calibri</vt:lpstr>
      <vt:lpstr>Open Sans</vt:lpstr>
      <vt:lpstr>Roboto</vt:lpstr>
      <vt:lpstr>Wingdings</vt:lpstr>
      <vt:lpstr>theme_baigiang</vt:lpstr>
      <vt:lpstr>PHÁT TRIỂN ỨNG DỤNG WEB 2</vt:lpstr>
      <vt:lpstr>Tài liệu tham khảo</vt:lpstr>
      <vt:lpstr>Nội dung</vt:lpstr>
      <vt:lpstr>Chương trình học</vt:lpstr>
      <vt:lpstr>Đánh giá</vt:lpstr>
      <vt:lpstr>Chương 1: Tổng quan về phát triển ứng dụng Web phía Server</vt:lpstr>
      <vt:lpstr>1. Một số khái niệm</vt:lpstr>
      <vt:lpstr>1.1. Một số khái niệm</vt:lpstr>
      <vt:lpstr>1.1. Một số khái niệm</vt:lpstr>
      <vt:lpstr>1.1. Một số khái niệm</vt:lpstr>
      <vt:lpstr>1.1. Một số khái niệm</vt:lpstr>
      <vt:lpstr>1.1. Một số khái niệm</vt:lpstr>
      <vt:lpstr>1.1. Một số khái niệm</vt:lpstr>
      <vt:lpstr>1.1. Một số khái niệm</vt:lpstr>
      <vt:lpstr>1. Một số khái niệm</vt:lpstr>
      <vt:lpstr>1. Một số khái niệm</vt:lpstr>
      <vt:lpstr>1. Một số khái niệm</vt:lpstr>
      <vt:lpstr>1. Một số khái niệm</vt:lpstr>
      <vt:lpstr>1. Một số khái niệm</vt:lpstr>
      <vt:lpstr>1. Một số khái niệm</vt:lpstr>
      <vt:lpstr>2. Cơ bản về Web động</vt:lpstr>
      <vt:lpstr>2. Cơ bản về Web động</vt:lpstr>
      <vt:lpstr>2. Cơ bản về Web động</vt:lpstr>
      <vt:lpstr>2. Cơ bản về Web động</vt:lpstr>
      <vt:lpstr>2. Cơ bản về Web động</vt:lpstr>
      <vt:lpstr>2. Cơ bản về Web động</vt:lpstr>
      <vt:lpstr>3. Mô hình phát triển Web phía Server</vt:lpstr>
      <vt:lpstr>Mô hình mức cơ bản</vt:lpstr>
      <vt:lpstr>Mô hình mức cơ bản</vt:lpstr>
      <vt:lpstr>Mô hình mức cơ bản</vt:lpstr>
      <vt:lpstr>Mô hình mức cơ bản</vt:lpstr>
      <vt:lpstr>Mô hình 3 lớp</vt:lpstr>
      <vt:lpstr>Mô hình 3 lớp</vt:lpstr>
      <vt:lpstr>Mô hình 3 lớp</vt:lpstr>
      <vt:lpstr>Mô hình 3 lớp</vt:lpstr>
      <vt:lpstr>Mô hình 3 lớp</vt:lpstr>
      <vt:lpstr>Mô hình 3 lớp</vt:lpstr>
      <vt:lpstr>Mô hình 3 lớp</vt:lpstr>
      <vt:lpstr>Mô hình 3 lớp</vt:lpstr>
      <vt:lpstr>Mô hình MVC</vt:lpstr>
      <vt:lpstr>Mô hình MVC</vt:lpstr>
      <vt:lpstr>Mô hình MVC</vt:lpstr>
      <vt:lpstr>Mô hình MVC</vt:lpstr>
      <vt:lpstr>Mô hình MVC</vt:lpstr>
      <vt:lpstr>Mô hình MVC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PHÁT TRIỂN ỨNG DỤNG WEB 2</dc:title>
  <dc:creator>NHAM</dc:creator>
  <cp:lastModifiedBy>Đỗ Thị Nhâm</cp:lastModifiedBy>
  <cp:revision>44</cp:revision>
  <dcterms:created xsi:type="dcterms:W3CDTF">2019-01-02T21:52:52Z</dcterms:created>
  <dcterms:modified xsi:type="dcterms:W3CDTF">2026-08-09T15:28:41Z</dcterms:modified>
</cp:coreProperties>
</file>