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handoutMasterIdLst>
    <p:handoutMasterId r:id="rId16"/>
  </p:handoutMasterIdLst>
  <p:sldIdLst>
    <p:sldId id="256" r:id="rId2"/>
    <p:sldId id="258" r:id="rId3"/>
    <p:sldId id="257" r:id="rId4"/>
    <p:sldId id="260" r:id="rId5"/>
    <p:sldId id="261" r:id="rId6"/>
    <p:sldId id="262" r:id="rId7"/>
    <p:sldId id="263" r:id="rId8"/>
    <p:sldId id="264" r:id="rId9"/>
    <p:sldId id="265" r:id="rId10"/>
    <p:sldId id="269" r:id="rId11"/>
    <p:sldId id="266" r:id="rId12"/>
    <p:sldId id="267" r:id="rId13"/>
    <p:sldId id="268" r:id="rId14"/>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000" autoAdjust="0"/>
    <p:restoredTop sz="94660"/>
  </p:normalViewPr>
  <p:slideViewPr>
    <p:cSldViewPr snapToGrid="0">
      <p:cViewPr varScale="1">
        <p:scale>
          <a:sx n="70" d="100"/>
          <a:sy n="70" d="100"/>
        </p:scale>
        <p:origin x="73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DFC5016C-2A1F-4B73-B5BF-3038F070445F}" type="datetimeFigureOut">
              <a:rPr lang="en-US" smtClean="0"/>
              <a:t>8/9/2026</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0B597E81-BEE7-419B-BF8D-A4DC1A68FB22}" type="slidenum">
              <a:rPr lang="en-US" smtClean="0"/>
              <a:t>‹#›</a:t>
            </a:fld>
            <a:endParaRPr lang="en-US"/>
          </a:p>
        </p:txBody>
      </p:sp>
    </p:spTree>
    <p:extLst>
      <p:ext uri="{BB962C8B-B14F-4D97-AF65-F5344CB8AC3E}">
        <p14:creationId xmlns:p14="http://schemas.microsoft.com/office/powerpoint/2010/main" val="36499878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0B5FEAA5-B423-414A-B96B-522986E9E7F4}" type="datetimeFigureOut">
              <a:rPr lang="en-US" smtClean="0"/>
              <a:t>8/9/2026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E2C02DD7-88BB-473D-A91C-3B9EBC15ADBA}" type="slidenum">
              <a:rPr lang="en-US" smtClean="0"/>
              <a:t>‹#›</a:t>
            </a:fld>
            <a:endParaRPr lang="en-US"/>
          </a:p>
        </p:txBody>
      </p:sp>
    </p:spTree>
    <p:extLst>
      <p:ext uri="{BB962C8B-B14F-4D97-AF65-F5344CB8AC3E}">
        <p14:creationId xmlns:p14="http://schemas.microsoft.com/office/powerpoint/2010/main" val="861523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TEXTUR~21"/>
          <p:cNvPicPr>
            <a:picLocks noChangeAspect="1" noChangeArrowheads="1"/>
          </p:cNvPicPr>
          <p:nvPr/>
        </p:nvPicPr>
        <p:blipFill>
          <a:blip r:embed="rId2" cstate="print"/>
          <a:srcRect/>
          <a:stretch>
            <a:fillRect/>
          </a:stretch>
        </p:blipFill>
        <p:spPr bwMode="auto">
          <a:xfrm>
            <a:off x="0" y="1690689"/>
            <a:ext cx="12192000" cy="3475037"/>
          </a:xfrm>
          <a:prstGeom prst="rect">
            <a:avLst/>
          </a:prstGeom>
          <a:noFill/>
          <a:ln w="9525">
            <a:noFill/>
            <a:miter lim="800000"/>
            <a:headEnd/>
            <a:tailEnd/>
          </a:ln>
        </p:spPr>
      </p:pic>
      <p:sp>
        <p:nvSpPr>
          <p:cNvPr id="5" name="Rectangle 3"/>
          <p:cNvSpPr>
            <a:spLocks noChangeArrowheads="1"/>
          </p:cNvSpPr>
          <p:nvPr/>
        </p:nvSpPr>
        <p:spPr bwMode="blackWhite">
          <a:xfrm>
            <a:off x="1" y="1"/>
            <a:ext cx="12187767" cy="1692275"/>
          </a:xfrm>
          <a:prstGeom prst="rect">
            <a:avLst/>
          </a:prstGeom>
          <a:solidFill>
            <a:schemeClr val="accent1"/>
          </a:solidFill>
          <a:ln w="3175">
            <a:solidFill>
              <a:schemeClr val="accent1"/>
            </a:solidFill>
            <a:miter lim="800000"/>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6" name="Rectangle 4"/>
          <p:cNvSpPr>
            <a:spLocks noChangeArrowheads="1"/>
          </p:cNvSpPr>
          <p:nvPr/>
        </p:nvSpPr>
        <p:spPr bwMode="blackWhite">
          <a:xfrm>
            <a:off x="1" y="5164139"/>
            <a:ext cx="12187767" cy="1692275"/>
          </a:xfrm>
          <a:prstGeom prst="rect">
            <a:avLst/>
          </a:prstGeom>
          <a:solidFill>
            <a:schemeClr val="accent1"/>
          </a:solidFill>
          <a:ln w="3175">
            <a:solidFill>
              <a:schemeClr val="accent1"/>
            </a:solidFill>
            <a:miter lim="800000"/>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7" name="Rectangle 8"/>
          <p:cNvSpPr>
            <a:spLocks noChangeArrowheads="1"/>
          </p:cNvSpPr>
          <p:nvPr/>
        </p:nvSpPr>
        <p:spPr bwMode="black">
          <a:xfrm>
            <a:off x="2675467" y="1287464"/>
            <a:ext cx="5471584" cy="306387"/>
          </a:xfrm>
          <a:prstGeom prst="rect">
            <a:avLst/>
          </a:prstGeom>
          <a:noFill/>
          <a:ln w="9525" algn="ctr">
            <a:noFill/>
            <a:miter lim="800000"/>
            <a:headEnd/>
            <a:tailEnd/>
          </a:ln>
          <a:effectLst/>
        </p:spPr>
        <p:txBody>
          <a:bodyPr lIns="18284" tIns="18284" rIns="18284" bIns="18284" anchor="ctr"/>
          <a:lstStyle/>
          <a:p>
            <a:pPr marL="342900" indent="-342900">
              <a:lnSpc>
                <a:spcPct val="98000"/>
              </a:lnSpc>
              <a:spcBef>
                <a:spcPct val="20000"/>
              </a:spcBef>
              <a:defRPr/>
            </a:pPr>
            <a:r>
              <a:rPr lang="en-US" sz="1800" dirty="0" err="1">
                <a:solidFill>
                  <a:srgbClr val="FFFFFF"/>
                </a:solidFill>
                <a:ea typeface="MS PGothic" pitchFamily="34" charset="-128"/>
                <a:cs typeface="+mn-cs"/>
              </a:rPr>
              <a:t>Phát</a:t>
            </a:r>
            <a:r>
              <a:rPr lang="en-US" sz="1800" baseline="0" dirty="0">
                <a:solidFill>
                  <a:srgbClr val="FFFFFF"/>
                </a:solidFill>
                <a:ea typeface="MS PGothic" pitchFamily="34" charset="-128"/>
                <a:cs typeface="+mn-cs"/>
              </a:rPr>
              <a:t> </a:t>
            </a:r>
            <a:r>
              <a:rPr lang="en-US" sz="1800" baseline="0" dirty="0" err="1">
                <a:solidFill>
                  <a:srgbClr val="FFFFFF"/>
                </a:solidFill>
                <a:ea typeface="MS PGothic" pitchFamily="34" charset="-128"/>
                <a:cs typeface="+mn-cs"/>
              </a:rPr>
              <a:t>triển</a:t>
            </a:r>
            <a:r>
              <a:rPr lang="en-US" sz="1800" baseline="0">
                <a:solidFill>
                  <a:srgbClr val="FFFFFF"/>
                </a:solidFill>
                <a:ea typeface="MS PGothic" pitchFamily="34" charset="-128"/>
                <a:cs typeface="+mn-cs"/>
              </a:rPr>
              <a:t> Web Back-End</a:t>
            </a:r>
            <a:endParaRPr lang="en-US" sz="1800" dirty="0">
              <a:solidFill>
                <a:srgbClr val="FFFFFF"/>
              </a:solidFill>
              <a:ea typeface="MS PGothic" pitchFamily="34" charset="-128"/>
              <a:cs typeface="+mn-cs"/>
            </a:endParaRPr>
          </a:p>
        </p:txBody>
      </p:sp>
      <p:sp>
        <p:nvSpPr>
          <p:cNvPr id="8" name="Line 11"/>
          <p:cNvSpPr>
            <a:spLocks noChangeShapeType="1"/>
          </p:cNvSpPr>
          <p:nvPr/>
        </p:nvSpPr>
        <p:spPr bwMode="black">
          <a:xfrm flipV="1">
            <a:off x="2484967" y="4217988"/>
            <a:ext cx="0" cy="933450"/>
          </a:xfrm>
          <a:prstGeom prst="line">
            <a:avLst/>
          </a:prstGeom>
          <a:noFill/>
          <a:ln w="12700">
            <a:solidFill>
              <a:schemeClr val="bg2"/>
            </a:solidFill>
            <a:round/>
            <a:headEnd/>
            <a:tailEnd/>
          </a:ln>
          <a:effectLst/>
        </p:spPr>
        <p:txBody>
          <a:bodyP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9" name="Line 12"/>
          <p:cNvSpPr>
            <a:spLocks noChangeShapeType="1"/>
          </p:cNvSpPr>
          <p:nvPr/>
        </p:nvSpPr>
        <p:spPr bwMode="black">
          <a:xfrm flipV="1">
            <a:off x="2482851" y="1362076"/>
            <a:ext cx="0" cy="328613"/>
          </a:xfrm>
          <a:prstGeom prst="line">
            <a:avLst/>
          </a:prstGeom>
          <a:noFill/>
          <a:ln w="12700">
            <a:solidFill>
              <a:srgbClr val="FFFFFF"/>
            </a:solidFill>
            <a:round/>
            <a:headEnd/>
            <a:tailEnd/>
          </a:ln>
          <a:effectLst/>
        </p:spPr>
        <p:txBody>
          <a:bodyP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11" name="TextBox 10"/>
          <p:cNvSpPr txBox="1"/>
          <p:nvPr/>
        </p:nvSpPr>
        <p:spPr>
          <a:xfrm>
            <a:off x="3556000" y="5410201"/>
            <a:ext cx="7620000" cy="436563"/>
          </a:xfrm>
          <a:prstGeom prst="rect">
            <a:avLst/>
          </a:prstGeom>
          <a:noFill/>
        </p:spPr>
        <p:txBody>
          <a:bodyPr>
            <a:spAutoFit/>
          </a:bodyPr>
          <a:lstStyle/>
          <a:p>
            <a:pPr algn="r">
              <a:lnSpc>
                <a:spcPct val="80000"/>
              </a:lnSpc>
              <a:spcBef>
                <a:spcPct val="25000"/>
              </a:spcBef>
              <a:spcAft>
                <a:spcPct val="15000"/>
              </a:spcAft>
              <a:buClr>
                <a:srgbClr val="6CA6B8"/>
              </a:buClr>
              <a:buFont typeface="Arial" charset="0"/>
              <a:buNone/>
              <a:defRPr/>
            </a:pPr>
            <a:r>
              <a:rPr lang="en-US" sz="2800" b="1" i="1" dirty="0" err="1">
                <a:solidFill>
                  <a:schemeClr val="bg1"/>
                </a:solidFill>
                <a:effectLst>
                  <a:outerShdw blurRad="38100" dist="38100" dir="2700000" algn="tl">
                    <a:srgbClr val="000000">
                      <a:alpha val="43137"/>
                    </a:srgbClr>
                  </a:outerShdw>
                </a:effectLst>
                <a:ea typeface="MS PGothic" pitchFamily="34" charset="-128"/>
                <a:cs typeface="+mn-cs"/>
              </a:rPr>
              <a:t>Khoa</a:t>
            </a:r>
            <a:r>
              <a:rPr lang="en-US" sz="2800" b="1" i="1" dirty="0">
                <a:solidFill>
                  <a:schemeClr val="bg1"/>
                </a:solidFill>
                <a:effectLst>
                  <a:outerShdw blurRad="38100" dist="38100" dir="2700000" algn="tl">
                    <a:srgbClr val="000000">
                      <a:alpha val="43137"/>
                    </a:srgbClr>
                  </a:outerShdw>
                </a:effectLst>
                <a:ea typeface="MS PGothic" pitchFamily="34" charset="-128"/>
                <a:cs typeface="+mn-cs"/>
              </a:rPr>
              <a:t> CNTT – HVNNVN</a:t>
            </a:r>
          </a:p>
        </p:txBody>
      </p:sp>
      <p:sp>
        <p:nvSpPr>
          <p:cNvPr id="8197" name="Rectangle 5"/>
          <p:cNvSpPr>
            <a:spLocks noGrp="1" noChangeArrowheads="1"/>
          </p:cNvSpPr>
          <p:nvPr>
            <p:ph type="ctrTitle"/>
          </p:nvPr>
        </p:nvSpPr>
        <p:spPr bwMode="black">
          <a:xfrm>
            <a:off x="520701" y="2291645"/>
            <a:ext cx="10606617" cy="1672344"/>
          </a:xfrm>
        </p:spPr>
        <p:txBody>
          <a:bodyPr anchor="t"/>
          <a:lstStyle>
            <a:lvl1pPr>
              <a:lnSpc>
                <a:spcPct val="150000"/>
              </a:lnSpc>
              <a:defRPr>
                <a:solidFill>
                  <a:schemeClr val="tx1"/>
                </a:solidFill>
              </a:defRPr>
            </a:lvl1pPr>
          </a:lstStyle>
          <a:p>
            <a:r>
              <a:rPr lang="en-US"/>
              <a:t>Click to edit Master title style</a:t>
            </a:r>
          </a:p>
        </p:txBody>
      </p:sp>
      <p:sp>
        <p:nvSpPr>
          <p:cNvPr id="8198" name="Rectangle 6"/>
          <p:cNvSpPr>
            <a:spLocks noGrp="1" noChangeArrowheads="1"/>
          </p:cNvSpPr>
          <p:nvPr>
            <p:ph type="subTitle" idx="1"/>
          </p:nvPr>
        </p:nvSpPr>
        <p:spPr bwMode="black">
          <a:xfrm>
            <a:off x="2599267" y="4106864"/>
            <a:ext cx="8534400" cy="998537"/>
          </a:xfrm>
        </p:spPr>
        <p:txBody>
          <a:bodyPr/>
          <a:lstStyle>
            <a:lvl1pPr marL="0" indent="0">
              <a:lnSpc>
                <a:spcPct val="90000"/>
              </a:lnSpc>
              <a:spcBef>
                <a:spcPct val="0"/>
              </a:spcBef>
              <a:spcAft>
                <a:spcPct val="0"/>
              </a:spcAft>
              <a:buFont typeface="Wingdings" pitchFamily="2" charset="2"/>
              <a:buNone/>
              <a:defRPr b="0">
                <a:solidFill>
                  <a:srgbClr val="6CA6B8"/>
                </a:solidFill>
              </a:defRPr>
            </a:lvl1pPr>
          </a:lstStyle>
          <a:p>
            <a:r>
              <a:rPr lang="en-US"/>
              <a:t>Click to edit Master subtitle style</a:t>
            </a:r>
          </a:p>
        </p:txBody>
      </p:sp>
      <p:sp>
        <p:nvSpPr>
          <p:cNvPr id="12" name="Rectangle 9"/>
          <p:cNvSpPr>
            <a:spLocks noGrp="1" noChangeArrowheads="1"/>
          </p:cNvSpPr>
          <p:nvPr>
            <p:ph type="ftr" sz="quarter" idx="10"/>
          </p:nvPr>
        </p:nvSpPr>
        <p:spPr>
          <a:xfrm>
            <a:off x="2698751" y="6221413"/>
            <a:ext cx="3862916" cy="311150"/>
          </a:xfrm>
        </p:spPr>
        <p:txBody>
          <a:bodyPr/>
          <a:lstStyle>
            <a:lvl1pPr>
              <a:defRPr sz="1300"/>
            </a:lvl1pPr>
          </a:lstStyle>
          <a:p>
            <a:endParaRPr lang="en-US"/>
          </a:p>
        </p:txBody>
      </p:sp>
    </p:spTree>
    <p:extLst>
      <p:ext uri="{BB962C8B-B14F-4D97-AF65-F5344CB8AC3E}">
        <p14:creationId xmlns:p14="http://schemas.microsoft.com/office/powerpoint/2010/main" val="1874850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ffectLst>
                  <a:outerShdw blurRad="50800" dist="38100" dir="2700000" algn="tl" rotWithShape="0">
                    <a:schemeClr val="bg1">
                      <a:lumMod val="65000"/>
                      <a:alpha val="40000"/>
                    </a:schemeClr>
                  </a:outerShdw>
                </a:effectLst>
              </a:defRPr>
            </a:lvl1p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316894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4255105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776414"/>
            <a:ext cx="5082117"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9718" y="1776414"/>
            <a:ext cx="5082116"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1370019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8"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656427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4"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017727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3"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398264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660167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453164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845181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13233" y="871538"/>
            <a:ext cx="2768600" cy="48069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5318" y="871538"/>
            <a:ext cx="8104716" cy="48069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793857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318" y="871539"/>
            <a:ext cx="10993967" cy="498475"/>
          </a:xfrm>
        </p:spPr>
        <p:txBody>
          <a:bodyPr/>
          <a:lstStyle/>
          <a:p>
            <a:r>
              <a:rPr lang="en-US"/>
              <a:t>Click to edit Master title style</a:t>
            </a:r>
          </a:p>
        </p:txBody>
      </p:sp>
      <p:sp>
        <p:nvSpPr>
          <p:cNvPr id="3" name="Text Placeholder 2"/>
          <p:cNvSpPr>
            <a:spLocks noGrp="1"/>
          </p:cNvSpPr>
          <p:nvPr>
            <p:ph type="body" sz="half" idx="1"/>
          </p:nvPr>
        </p:nvSpPr>
        <p:spPr>
          <a:xfrm>
            <a:off x="914400" y="1776414"/>
            <a:ext cx="5082117" cy="3902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9718" y="1776414"/>
            <a:ext cx="5082116" cy="3902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315587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21"/>
          <p:cNvPicPr>
            <a:picLocks noChangeArrowheads="1"/>
          </p:cNvPicPr>
          <p:nvPr/>
        </p:nvPicPr>
        <p:blipFill>
          <a:blip r:embed="rId14" cstate="print"/>
          <a:srcRect b="467"/>
          <a:stretch>
            <a:fillRect/>
          </a:stretch>
        </p:blipFill>
        <p:spPr bwMode="auto">
          <a:xfrm>
            <a:off x="0" y="6470651"/>
            <a:ext cx="12192000" cy="385763"/>
          </a:xfrm>
          <a:prstGeom prst="rect">
            <a:avLst/>
          </a:prstGeom>
          <a:noFill/>
          <a:ln w="9525">
            <a:noFill/>
            <a:miter lim="800000"/>
            <a:headEnd/>
            <a:tailEnd/>
          </a:ln>
        </p:spPr>
      </p:pic>
      <p:pic>
        <p:nvPicPr>
          <p:cNvPr id="1027" name="Picture 3" descr="21"/>
          <p:cNvPicPr>
            <a:picLocks noChangeAspect="1" noChangeArrowheads="1"/>
          </p:cNvPicPr>
          <p:nvPr/>
        </p:nvPicPr>
        <p:blipFill>
          <a:blip r:embed="rId15" cstate="print"/>
          <a:srcRect/>
          <a:stretch>
            <a:fillRect/>
          </a:stretch>
        </p:blipFill>
        <p:spPr bwMode="auto">
          <a:xfrm>
            <a:off x="0" y="1"/>
            <a:ext cx="12192000" cy="384175"/>
          </a:xfrm>
          <a:prstGeom prst="rect">
            <a:avLst/>
          </a:prstGeom>
          <a:noFill/>
          <a:ln w="9525">
            <a:noFill/>
            <a:miter lim="800000"/>
            <a:headEnd/>
            <a:tailEnd/>
          </a:ln>
        </p:spPr>
      </p:pic>
      <p:sp>
        <p:nvSpPr>
          <p:cNvPr id="1028" name="Rectangle 4"/>
          <p:cNvSpPr>
            <a:spLocks noGrp="1" noChangeArrowheads="1"/>
          </p:cNvSpPr>
          <p:nvPr>
            <p:ph type="title"/>
          </p:nvPr>
        </p:nvSpPr>
        <p:spPr bwMode="auto">
          <a:xfrm>
            <a:off x="205318" y="871539"/>
            <a:ext cx="10993967" cy="498475"/>
          </a:xfrm>
          <a:prstGeom prst="rect">
            <a:avLst/>
          </a:prstGeom>
          <a:noFill/>
          <a:ln w="9525" algn="ctr">
            <a:noFill/>
            <a:miter lim="800000"/>
            <a:headEnd/>
            <a:tailEnd/>
          </a:ln>
        </p:spPr>
        <p:txBody>
          <a:bodyPr vert="horz" wrap="square" lIns="91424" tIns="45712" rIns="91424" bIns="45712" numCol="1" anchor="b" anchorCtr="0" compatLnSpc="1">
            <a:prstTxWarp prst="textNoShape">
              <a:avLst/>
            </a:prstTxWarp>
          </a:bodyPr>
          <a:lstStyle/>
          <a:p>
            <a:pPr lvl="0"/>
            <a:r>
              <a:rPr lang="en-US"/>
              <a:t>Click to edit Master title style</a:t>
            </a:r>
          </a:p>
        </p:txBody>
      </p:sp>
      <p:sp>
        <p:nvSpPr>
          <p:cNvPr id="1029" name="Rectangle 5"/>
          <p:cNvSpPr>
            <a:spLocks noGrp="1" noChangeArrowheads="1"/>
          </p:cNvSpPr>
          <p:nvPr>
            <p:ph type="body" idx="1"/>
          </p:nvPr>
        </p:nvSpPr>
        <p:spPr bwMode="auto">
          <a:xfrm>
            <a:off x="914401" y="1776414"/>
            <a:ext cx="10367433" cy="3902075"/>
          </a:xfrm>
          <a:prstGeom prst="rect">
            <a:avLst/>
          </a:prstGeom>
          <a:noFill/>
          <a:ln w="9525">
            <a:noFill/>
            <a:miter lim="800000"/>
            <a:headEnd/>
            <a:tailEnd/>
          </a:ln>
        </p:spPr>
        <p:txBody>
          <a:bodyPr vert="horz" wrap="square" lIns="91424" tIns="45712" rIns="91424" bIns="45712"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174" name="Text Box 6"/>
          <p:cNvSpPr txBox="1">
            <a:spLocks noChangeArrowheads="1"/>
          </p:cNvSpPr>
          <p:nvPr/>
        </p:nvSpPr>
        <p:spPr bwMode="black">
          <a:xfrm>
            <a:off x="1320801" y="52389"/>
            <a:ext cx="9912351" cy="307975"/>
          </a:xfrm>
          <a:prstGeom prst="rect">
            <a:avLst/>
          </a:prstGeom>
          <a:noFill/>
          <a:ln w="9525">
            <a:noFill/>
            <a:miter lim="800000"/>
            <a:headEnd/>
            <a:tailEnd/>
          </a:ln>
          <a:effectLst/>
        </p:spPr>
        <p:txBody>
          <a:bodyPr lIns="91424" tIns="45712" rIns="91424" bIns="45712">
            <a:spAutoFit/>
          </a:bodyPr>
          <a:lstStyle/>
          <a:p>
            <a:pPr eaLnBrk="0" hangingPunct="0">
              <a:defRPr/>
            </a:pPr>
            <a:r>
              <a:rPr lang="en-US" sz="1400" dirty="0" err="1">
                <a:solidFill>
                  <a:srgbClr val="FFFFFF"/>
                </a:solidFill>
                <a:ea typeface="MS PGothic" pitchFamily="34" charset="-128"/>
                <a:cs typeface="+mn-cs"/>
              </a:rPr>
              <a:t>Phát</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triển</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ứng</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dụng</a:t>
            </a:r>
            <a:r>
              <a:rPr lang="en-US" sz="1400" baseline="0" dirty="0">
                <a:solidFill>
                  <a:srgbClr val="FFFFFF"/>
                </a:solidFill>
                <a:ea typeface="MS PGothic" pitchFamily="34" charset="-128"/>
                <a:cs typeface="+mn-cs"/>
              </a:rPr>
              <a:t> Web 2</a:t>
            </a:r>
            <a:endParaRPr lang="en-US" sz="1400" dirty="0">
              <a:solidFill>
                <a:srgbClr val="FFFFFF"/>
              </a:solidFill>
              <a:ea typeface="MS PGothic" pitchFamily="34" charset="-128"/>
              <a:cs typeface="+mn-cs"/>
            </a:endParaRPr>
          </a:p>
        </p:txBody>
      </p:sp>
      <p:sp>
        <p:nvSpPr>
          <p:cNvPr id="7175" name="Rectangle 7"/>
          <p:cNvSpPr>
            <a:spLocks noChangeArrowheads="1"/>
          </p:cNvSpPr>
          <p:nvPr/>
        </p:nvSpPr>
        <p:spPr bwMode="black">
          <a:xfrm>
            <a:off x="4991101" y="6546851"/>
            <a:ext cx="3136900" cy="246063"/>
          </a:xfrm>
          <a:prstGeom prst="rect">
            <a:avLst/>
          </a:prstGeom>
          <a:noFill/>
          <a:ln w="9525">
            <a:noFill/>
            <a:miter lim="800000"/>
            <a:headEnd/>
            <a:tailEnd/>
          </a:ln>
          <a:effectLst/>
        </p:spPr>
        <p:txBody>
          <a:bodyPr lIns="91424" tIns="45712" rIns="91424" bIns="45712">
            <a:spAutoFit/>
          </a:bodyPr>
          <a:lstStyle/>
          <a:p>
            <a:pPr algn="ctr" eaLnBrk="0" hangingPunct="0">
              <a:defRPr/>
            </a:pPr>
            <a:r>
              <a:rPr lang="en-US" sz="1000" dirty="0" err="1">
                <a:solidFill>
                  <a:srgbClr val="FFFFFF"/>
                </a:solidFill>
                <a:ea typeface="MS PGothic" pitchFamily="34" charset="-128"/>
                <a:cs typeface="+mn-cs"/>
              </a:rPr>
              <a:t>Khoa</a:t>
            </a:r>
            <a:r>
              <a:rPr lang="en-US" sz="1000" dirty="0">
                <a:solidFill>
                  <a:srgbClr val="FFFFFF"/>
                </a:solidFill>
                <a:ea typeface="MS PGothic" pitchFamily="34" charset="-128"/>
                <a:cs typeface="+mn-cs"/>
              </a:rPr>
              <a:t> CNTT - HVNNVN</a:t>
            </a:r>
          </a:p>
        </p:txBody>
      </p:sp>
      <p:sp>
        <p:nvSpPr>
          <p:cNvPr id="7177" name="Rectangle 9"/>
          <p:cNvSpPr>
            <a:spLocks noGrp="1" noChangeArrowheads="1"/>
          </p:cNvSpPr>
          <p:nvPr>
            <p:ph type="sldNum" sz="quarter" idx="4"/>
          </p:nvPr>
        </p:nvSpPr>
        <p:spPr bwMode="black">
          <a:xfrm>
            <a:off x="205318" y="6500814"/>
            <a:ext cx="1341967" cy="320675"/>
          </a:xfrm>
          <a:prstGeom prst="rect">
            <a:avLst/>
          </a:prstGeom>
          <a:noFill/>
          <a:ln w="9525" algn="ctr">
            <a:noFill/>
            <a:miter lim="800000"/>
            <a:headEnd/>
            <a:tailEnd/>
          </a:ln>
          <a:effectLst/>
        </p:spPr>
        <p:txBody>
          <a:bodyPr vert="horz" wrap="square" lIns="91424" tIns="45712" rIns="91424" bIns="45712" numCol="1" anchor="t" anchorCtr="0" compatLnSpc="1">
            <a:prstTxWarp prst="textNoShape">
              <a:avLst/>
            </a:prstTxWarp>
          </a:bodyPr>
          <a:lstStyle>
            <a:lvl1pPr algn="l">
              <a:lnSpc>
                <a:spcPct val="100000"/>
              </a:lnSpc>
              <a:spcBef>
                <a:spcPct val="50000"/>
              </a:spcBef>
              <a:spcAft>
                <a:spcPct val="0"/>
              </a:spcAft>
              <a:buClrTx/>
              <a:buFontTx/>
              <a:buNone/>
              <a:defRPr sz="1000" b="1">
                <a:solidFill>
                  <a:srgbClr val="FFFFFF"/>
                </a:solidFill>
                <a:ea typeface="MS PGothic" pitchFamily="34" charset="-128"/>
                <a:cs typeface="+mn-cs"/>
              </a:defRPr>
            </a:lvl1pPr>
          </a:lstStyle>
          <a:p>
            <a:fld id="{FD4BB625-6399-40EF-8D3C-B968FF32E6CB}" type="slidenum">
              <a:rPr lang="en-US" smtClean="0"/>
              <a:t>‹#›</a:t>
            </a:fld>
            <a:endParaRPr lang="en-US"/>
          </a:p>
        </p:txBody>
      </p:sp>
      <p:sp>
        <p:nvSpPr>
          <p:cNvPr id="7178" name="Rectangle 10"/>
          <p:cNvSpPr>
            <a:spLocks noGrp="1" noChangeArrowheads="1"/>
          </p:cNvSpPr>
          <p:nvPr>
            <p:ph type="ftr" sz="quarter" idx="3"/>
          </p:nvPr>
        </p:nvSpPr>
        <p:spPr bwMode="auto">
          <a:xfrm>
            <a:off x="1725085" y="6510338"/>
            <a:ext cx="2542116" cy="304800"/>
          </a:xfrm>
          <a:prstGeom prst="rect">
            <a:avLst/>
          </a:prstGeom>
          <a:noFill/>
          <a:ln w="9525">
            <a:noFill/>
            <a:miter lim="800000"/>
            <a:headEnd/>
            <a:tailEnd/>
          </a:ln>
          <a:effectLst/>
        </p:spPr>
        <p:txBody>
          <a:bodyPr vert="horz" wrap="square" lIns="91424" tIns="45712" rIns="91424" bIns="45712" numCol="1" anchor="t" anchorCtr="0" compatLnSpc="1">
            <a:prstTxWarp prst="textNoShape">
              <a:avLst/>
            </a:prstTxWarp>
          </a:bodyPr>
          <a:lstStyle>
            <a:lvl1pPr algn="l">
              <a:lnSpc>
                <a:spcPct val="100000"/>
              </a:lnSpc>
              <a:spcBef>
                <a:spcPct val="0"/>
              </a:spcBef>
              <a:spcAft>
                <a:spcPct val="0"/>
              </a:spcAft>
              <a:buClrTx/>
              <a:buFontTx/>
              <a:buNone/>
              <a:defRPr sz="1000">
                <a:solidFill>
                  <a:srgbClr val="FFFFFF"/>
                </a:solidFill>
                <a:ea typeface="MS PGothic" pitchFamily="34" charset="-128"/>
                <a:cs typeface="+mn-cs"/>
              </a:defRPr>
            </a:lvl1pPr>
          </a:lstStyle>
          <a:p>
            <a:endParaRPr lang="en-US"/>
          </a:p>
        </p:txBody>
      </p:sp>
      <p:sp>
        <p:nvSpPr>
          <p:cNvPr id="7179" name="Line 11"/>
          <p:cNvSpPr>
            <a:spLocks noChangeShapeType="1"/>
          </p:cNvSpPr>
          <p:nvPr/>
        </p:nvSpPr>
        <p:spPr bwMode="black">
          <a:xfrm>
            <a:off x="1320800" y="147638"/>
            <a:ext cx="0" cy="234950"/>
          </a:xfrm>
          <a:prstGeom prst="line">
            <a:avLst/>
          </a:prstGeom>
          <a:noFill/>
          <a:ln w="9525">
            <a:solidFill>
              <a:srgbClr val="FFFFFF"/>
            </a:solidFill>
            <a:round/>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7180" name="Line 12"/>
          <p:cNvSpPr>
            <a:spLocks noChangeShapeType="1"/>
          </p:cNvSpPr>
          <p:nvPr/>
        </p:nvSpPr>
        <p:spPr bwMode="black">
          <a:xfrm>
            <a:off x="1320800" y="6470650"/>
            <a:ext cx="0" cy="192088"/>
          </a:xfrm>
          <a:prstGeom prst="line">
            <a:avLst/>
          </a:prstGeom>
          <a:noFill/>
          <a:ln w="9525">
            <a:solidFill>
              <a:srgbClr val="FFFFFF"/>
            </a:solidFill>
            <a:round/>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Tree>
    <p:extLst>
      <p:ext uri="{BB962C8B-B14F-4D97-AF65-F5344CB8AC3E}">
        <p14:creationId xmlns:p14="http://schemas.microsoft.com/office/powerpoint/2010/main" val="12536324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lnSpc>
          <a:spcPct val="90000"/>
        </a:lnSpc>
        <a:spcBef>
          <a:spcPct val="0"/>
        </a:spcBef>
        <a:spcAft>
          <a:spcPct val="0"/>
        </a:spcAft>
        <a:defRPr sz="2800">
          <a:solidFill>
            <a:srgbClr val="6CA6B8"/>
          </a:solidFill>
          <a:latin typeface="+mj-lt"/>
          <a:ea typeface="+mj-ea"/>
          <a:cs typeface="+mj-cs"/>
        </a:defRPr>
      </a:lvl1pPr>
      <a:lvl2pPr algn="l" rtl="0" eaLnBrk="1" fontAlgn="base" hangingPunct="1">
        <a:lnSpc>
          <a:spcPct val="90000"/>
        </a:lnSpc>
        <a:spcBef>
          <a:spcPct val="0"/>
        </a:spcBef>
        <a:spcAft>
          <a:spcPct val="0"/>
        </a:spcAft>
        <a:defRPr sz="2800">
          <a:solidFill>
            <a:srgbClr val="6CA6B8"/>
          </a:solidFill>
          <a:latin typeface="Arial" charset="0"/>
          <a:cs typeface="Arial" charset="0"/>
        </a:defRPr>
      </a:lvl2pPr>
      <a:lvl3pPr algn="l" rtl="0" eaLnBrk="1" fontAlgn="base" hangingPunct="1">
        <a:lnSpc>
          <a:spcPct val="90000"/>
        </a:lnSpc>
        <a:spcBef>
          <a:spcPct val="0"/>
        </a:spcBef>
        <a:spcAft>
          <a:spcPct val="0"/>
        </a:spcAft>
        <a:defRPr sz="2800">
          <a:solidFill>
            <a:srgbClr val="6CA6B8"/>
          </a:solidFill>
          <a:latin typeface="Arial" charset="0"/>
          <a:cs typeface="Arial" charset="0"/>
        </a:defRPr>
      </a:lvl3pPr>
      <a:lvl4pPr algn="l" rtl="0" eaLnBrk="1" fontAlgn="base" hangingPunct="1">
        <a:lnSpc>
          <a:spcPct val="90000"/>
        </a:lnSpc>
        <a:spcBef>
          <a:spcPct val="0"/>
        </a:spcBef>
        <a:spcAft>
          <a:spcPct val="0"/>
        </a:spcAft>
        <a:defRPr sz="2800">
          <a:solidFill>
            <a:srgbClr val="6CA6B8"/>
          </a:solidFill>
          <a:latin typeface="Arial" charset="0"/>
          <a:cs typeface="Arial" charset="0"/>
        </a:defRPr>
      </a:lvl4pPr>
      <a:lvl5pPr algn="l" rtl="0" eaLnBrk="1" fontAlgn="base" hangingPunct="1">
        <a:lnSpc>
          <a:spcPct val="90000"/>
        </a:lnSpc>
        <a:spcBef>
          <a:spcPct val="0"/>
        </a:spcBef>
        <a:spcAft>
          <a:spcPct val="0"/>
        </a:spcAft>
        <a:defRPr sz="2800">
          <a:solidFill>
            <a:srgbClr val="6CA6B8"/>
          </a:solidFill>
          <a:latin typeface="Arial" charset="0"/>
          <a:cs typeface="Arial" charset="0"/>
        </a:defRPr>
      </a:lvl5pPr>
      <a:lvl6pPr marL="457200" algn="l" rtl="0" eaLnBrk="1" fontAlgn="base" hangingPunct="1">
        <a:lnSpc>
          <a:spcPct val="90000"/>
        </a:lnSpc>
        <a:spcBef>
          <a:spcPct val="0"/>
        </a:spcBef>
        <a:spcAft>
          <a:spcPct val="0"/>
        </a:spcAft>
        <a:defRPr sz="2800">
          <a:solidFill>
            <a:srgbClr val="6CA6B8"/>
          </a:solidFill>
          <a:latin typeface="Arial" charset="0"/>
          <a:cs typeface="Arial" charset="0"/>
        </a:defRPr>
      </a:lvl6pPr>
      <a:lvl7pPr marL="914400" algn="l" rtl="0" eaLnBrk="1" fontAlgn="base" hangingPunct="1">
        <a:lnSpc>
          <a:spcPct val="90000"/>
        </a:lnSpc>
        <a:spcBef>
          <a:spcPct val="0"/>
        </a:spcBef>
        <a:spcAft>
          <a:spcPct val="0"/>
        </a:spcAft>
        <a:defRPr sz="2800">
          <a:solidFill>
            <a:srgbClr val="6CA6B8"/>
          </a:solidFill>
          <a:latin typeface="Arial" charset="0"/>
          <a:cs typeface="Arial" charset="0"/>
        </a:defRPr>
      </a:lvl7pPr>
      <a:lvl8pPr marL="1371600" algn="l" rtl="0" eaLnBrk="1" fontAlgn="base" hangingPunct="1">
        <a:lnSpc>
          <a:spcPct val="90000"/>
        </a:lnSpc>
        <a:spcBef>
          <a:spcPct val="0"/>
        </a:spcBef>
        <a:spcAft>
          <a:spcPct val="0"/>
        </a:spcAft>
        <a:defRPr sz="2800">
          <a:solidFill>
            <a:srgbClr val="6CA6B8"/>
          </a:solidFill>
          <a:latin typeface="Arial" charset="0"/>
          <a:cs typeface="Arial" charset="0"/>
        </a:defRPr>
      </a:lvl8pPr>
      <a:lvl9pPr marL="1828800" algn="l" rtl="0" eaLnBrk="1" fontAlgn="base" hangingPunct="1">
        <a:lnSpc>
          <a:spcPct val="90000"/>
        </a:lnSpc>
        <a:spcBef>
          <a:spcPct val="0"/>
        </a:spcBef>
        <a:spcAft>
          <a:spcPct val="0"/>
        </a:spcAft>
        <a:defRPr sz="2800">
          <a:solidFill>
            <a:srgbClr val="6CA6B8"/>
          </a:solidFill>
          <a:latin typeface="Arial" charset="0"/>
          <a:cs typeface="Arial" charset="0"/>
        </a:defRPr>
      </a:lvl9pPr>
    </p:titleStyle>
    <p:bodyStyle>
      <a:lvl1pPr marL="228600" indent="-228600" algn="l" rtl="0" eaLnBrk="1" fontAlgn="base" hangingPunct="1">
        <a:spcBef>
          <a:spcPct val="35000"/>
        </a:spcBef>
        <a:spcAft>
          <a:spcPct val="15000"/>
        </a:spcAft>
        <a:buClr>
          <a:srgbClr val="6CA6B8"/>
        </a:buClr>
        <a:buFont typeface="Wingdings" pitchFamily="2" charset="2"/>
        <a:buChar char="§"/>
        <a:defRPr sz="2400">
          <a:solidFill>
            <a:schemeClr val="tx1"/>
          </a:solidFill>
          <a:latin typeface="+mn-lt"/>
          <a:ea typeface="+mn-ea"/>
          <a:cs typeface="+mn-cs"/>
        </a:defRPr>
      </a:lvl1pPr>
      <a:lvl2pPr marL="457200" indent="-227013" algn="l" rtl="0" eaLnBrk="1" fontAlgn="base" hangingPunct="1">
        <a:spcBef>
          <a:spcPct val="25000"/>
        </a:spcBef>
        <a:spcAft>
          <a:spcPct val="15000"/>
        </a:spcAft>
        <a:buClr>
          <a:srgbClr val="6CA6B8"/>
        </a:buClr>
        <a:buFont typeface="Arial" charset="0"/>
        <a:buChar char="–"/>
        <a:defRPr sz="2200">
          <a:solidFill>
            <a:schemeClr val="tx1"/>
          </a:solidFill>
          <a:latin typeface="+mn-lt"/>
          <a:cs typeface="+mn-cs"/>
        </a:defRPr>
      </a:lvl2pPr>
      <a:lvl3pPr marL="682625" indent="-223838" algn="l" rtl="0" eaLnBrk="1" fontAlgn="base" hangingPunct="1">
        <a:spcBef>
          <a:spcPct val="20000"/>
        </a:spcBef>
        <a:spcAft>
          <a:spcPct val="0"/>
        </a:spcAft>
        <a:buClr>
          <a:srgbClr val="6CA6B8"/>
        </a:buClr>
        <a:buChar char="•"/>
        <a:defRPr sz="2000">
          <a:solidFill>
            <a:schemeClr val="tx1"/>
          </a:solidFill>
          <a:latin typeface="+mn-lt"/>
          <a:cs typeface="+mn-cs"/>
        </a:defRPr>
      </a:lvl3pPr>
      <a:lvl4pPr marL="912813" indent="-228600" algn="l" rtl="0" eaLnBrk="1" fontAlgn="base" hangingPunct="1">
        <a:spcBef>
          <a:spcPct val="20000"/>
        </a:spcBef>
        <a:spcAft>
          <a:spcPct val="0"/>
        </a:spcAft>
        <a:buClr>
          <a:srgbClr val="6CA6B8"/>
        </a:buClr>
        <a:buFont typeface="Arial" charset="0"/>
        <a:buChar char="–"/>
        <a:defRPr sz="2000">
          <a:solidFill>
            <a:schemeClr val="tx1"/>
          </a:solidFill>
          <a:latin typeface="+mn-lt"/>
          <a:cs typeface="+mn-cs"/>
        </a:defRPr>
      </a:lvl4pPr>
      <a:lvl5pPr marL="1143000" indent="-228600" algn="l" rtl="0" eaLnBrk="1" fontAlgn="base" hangingPunct="1">
        <a:spcBef>
          <a:spcPct val="20000"/>
        </a:spcBef>
        <a:spcAft>
          <a:spcPct val="0"/>
        </a:spcAft>
        <a:buClr>
          <a:srgbClr val="6CA6B8"/>
        </a:buClr>
        <a:buFont typeface="Arial" charset="0"/>
        <a:buChar char="&gt;"/>
        <a:defRPr sz="2000">
          <a:solidFill>
            <a:schemeClr val="tx1"/>
          </a:solidFill>
          <a:latin typeface="+mn-lt"/>
          <a:cs typeface="+mn-cs"/>
        </a:defRPr>
      </a:lvl5pPr>
      <a:lvl6pPr marL="16002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6pPr>
      <a:lvl7pPr marL="20574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7pPr>
      <a:lvl8pPr marL="25146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8pPr>
      <a:lvl9pPr marL="29718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Chương</a:t>
            </a:r>
            <a:r>
              <a:rPr lang="en-US" dirty="0"/>
              <a:t> 4: </a:t>
            </a:r>
            <a:r>
              <a:rPr lang="en-US" dirty="0" err="1"/>
              <a:t>Quản</a:t>
            </a:r>
            <a:r>
              <a:rPr lang="en-US" dirty="0"/>
              <a:t> </a:t>
            </a:r>
            <a:r>
              <a:rPr lang="en-US" dirty="0" err="1"/>
              <a:t>lý</a:t>
            </a:r>
            <a:r>
              <a:rPr lang="en-US" dirty="0"/>
              <a:t> </a:t>
            </a:r>
            <a:r>
              <a:rPr lang="en-US" dirty="0" err="1"/>
              <a:t>trạng</a:t>
            </a:r>
            <a:r>
              <a:rPr lang="en-US" dirty="0"/>
              <a:t> </a:t>
            </a:r>
            <a:r>
              <a:rPr lang="en-US" dirty="0" err="1"/>
              <a:t>thái</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69800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Nội</a:t>
            </a:r>
            <a:r>
              <a:rPr lang="en-US" dirty="0"/>
              <a:t> dung</a:t>
            </a:r>
          </a:p>
        </p:txBody>
      </p:sp>
      <p:sp>
        <p:nvSpPr>
          <p:cNvPr id="3" name="Content Placeholder 2"/>
          <p:cNvSpPr>
            <a:spLocks noGrp="1"/>
          </p:cNvSpPr>
          <p:nvPr>
            <p:ph idx="1"/>
          </p:nvPr>
        </p:nvSpPr>
        <p:spPr/>
        <p:txBody>
          <a:bodyPr/>
          <a:lstStyle/>
          <a:p>
            <a:r>
              <a:rPr lang="en-US" dirty="0" err="1"/>
              <a:t>Đối</a:t>
            </a:r>
            <a:r>
              <a:rPr lang="en-US" dirty="0"/>
              <a:t> </a:t>
            </a:r>
            <a:r>
              <a:rPr lang="en-US" dirty="0" err="1"/>
              <a:t>tượng</a:t>
            </a:r>
            <a:r>
              <a:rPr lang="en-US" dirty="0"/>
              <a:t> Cookies</a:t>
            </a:r>
          </a:p>
          <a:p>
            <a:r>
              <a:rPr lang="en-US" dirty="0" err="1"/>
              <a:t>Đối</a:t>
            </a:r>
            <a:r>
              <a:rPr lang="en-US" dirty="0"/>
              <a:t> </a:t>
            </a:r>
            <a:r>
              <a:rPr lang="en-US" dirty="0" err="1"/>
              <a:t>tượng</a:t>
            </a:r>
            <a:r>
              <a:rPr lang="en-US" dirty="0"/>
              <a:t> Session</a:t>
            </a:r>
          </a:p>
          <a:p>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2</a:t>
            </a:fld>
            <a:endParaRPr lang="en-US"/>
          </a:p>
        </p:txBody>
      </p:sp>
    </p:spTree>
    <p:extLst>
      <p:ext uri="{BB962C8B-B14F-4D97-AF65-F5344CB8AC3E}">
        <p14:creationId xmlns:p14="http://schemas.microsoft.com/office/powerpoint/2010/main" val="48020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Đối</a:t>
            </a:r>
            <a:r>
              <a:rPr lang="en-US" dirty="0"/>
              <a:t> </a:t>
            </a:r>
            <a:r>
              <a:rPr lang="en-US" dirty="0" err="1"/>
              <a:t>tượng</a:t>
            </a:r>
            <a:r>
              <a:rPr lang="en-US" dirty="0"/>
              <a:t> Cookies</a:t>
            </a:r>
          </a:p>
        </p:txBody>
      </p:sp>
      <p:sp>
        <p:nvSpPr>
          <p:cNvPr id="3" name="Content Placeholder 2"/>
          <p:cNvSpPr>
            <a:spLocks noGrp="1"/>
          </p:cNvSpPr>
          <p:nvPr>
            <p:ph idx="1"/>
          </p:nvPr>
        </p:nvSpPr>
        <p:spPr>
          <a:xfrm>
            <a:off x="838200" y="1459865"/>
            <a:ext cx="10515600" cy="4351338"/>
          </a:xfrm>
        </p:spPr>
        <p:txBody>
          <a:bodyPr/>
          <a:lstStyle/>
          <a:p>
            <a:r>
              <a:rPr lang="en-US" dirty="0"/>
              <a:t>Cookies </a:t>
            </a:r>
            <a:r>
              <a:rPr lang="en-US" dirty="0" err="1"/>
              <a:t>là</a:t>
            </a:r>
            <a:r>
              <a:rPr lang="vi-VN" dirty="0"/>
              <a:t> một tập tin (với kích thước khá nhỏ) được Web Server lưu tại máy của người dùng. Mỗi lần có yêu cầu đến Web Server, những thông tin của Cookies cũng sẽ được g</a:t>
            </a:r>
            <a:r>
              <a:rPr lang="en-US" dirty="0"/>
              <a:t>ử</a:t>
            </a:r>
            <a:r>
              <a:rPr lang="vi-VN" dirty="0"/>
              <a:t>i theo về Server</a:t>
            </a:r>
            <a:endParaRPr lang="en-US" dirty="0"/>
          </a:p>
        </p:txBody>
      </p:sp>
      <p:pic>
        <p:nvPicPr>
          <p:cNvPr id="4" name="Picture 3"/>
          <p:cNvPicPr>
            <a:picLocks noChangeAspect="1"/>
          </p:cNvPicPr>
          <p:nvPr/>
        </p:nvPicPr>
        <p:blipFill>
          <a:blip r:embed="rId2"/>
          <a:stretch>
            <a:fillRect/>
          </a:stretch>
        </p:blipFill>
        <p:spPr>
          <a:xfrm>
            <a:off x="2461561" y="3148149"/>
            <a:ext cx="8001788" cy="3035161"/>
          </a:xfrm>
          <a:prstGeom prst="rect">
            <a:avLst/>
          </a:prstGeom>
        </p:spPr>
      </p:pic>
      <p:sp>
        <p:nvSpPr>
          <p:cNvPr id="5" name="Slide Number Placeholder 4"/>
          <p:cNvSpPr>
            <a:spLocks noGrp="1"/>
          </p:cNvSpPr>
          <p:nvPr>
            <p:ph type="sldNum" sz="quarter" idx="10"/>
          </p:nvPr>
        </p:nvSpPr>
        <p:spPr/>
        <p:txBody>
          <a:bodyPr/>
          <a:lstStyle/>
          <a:p>
            <a:fld id="{FD4BB625-6399-40EF-8D3C-B968FF32E6CB}" type="slidenum">
              <a:rPr lang="en-US" smtClean="0"/>
              <a:t>3</a:t>
            </a:fld>
            <a:endParaRPr lang="en-US"/>
          </a:p>
        </p:txBody>
      </p:sp>
    </p:spTree>
    <p:extLst>
      <p:ext uri="{BB962C8B-B14F-4D97-AF65-F5344CB8AC3E}">
        <p14:creationId xmlns:p14="http://schemas.microsoft.com/office/powerpoint/2010/main" val="4047470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Đối</a:t>
            </a:r>
            <a:r>
              <a:rPr lang="en-US" dirty="0"/>
              <a:t> </a:t>
            </a:r>
            <a:r>
              <a:rPr lang="en-US" dirty="0" err="1"/>
              <a:t>tượng</a:t>
            </a:r>
            <a:r>
              <a:rPr lang="en-US" dirty="0"/>
              <a:t> Cookies</a:t>
            </a:r>
          </a:p>
        </p:txBody>
      </p:sp>
      <p:sp>
        <p:nvSpPr>
          <p:cNvPr id="3" name="Content Placeholder 2"/>
          <p:cNvSpPr>
            <a:spLocks noGrp="1"/>
          </p:cNvSpPr>
          <p:nvPr>
            <p:ph idx="1"/>
          </p:nvPr>
        </p:nvSpPr>
        <p:spPr>
          <a:xfrm>
            <a:off x="838200" y="1459865"/>
            <a:ext cx="10515600" cy="4351338"/>
          </a:xfrm>
        </p:spPr>
        <p:txBody>
          <a:bodyPr/>
          <a:lstStyle/>
          <a:p>
            <a:r>
              <a:rPr lang="vi-VN" dirty="0"/>
              <a:t>Cookie được </a:t>
            </a:r>
            <a:r>
              <a:rPr lang="en-US" dirty="0" err="1"/>
              <a:t>sử</a:t>
            </a:r>
            <a:r>
              <a:rPr lang="en-US" dirty="0"/>
              <a:t> </a:t>
            </a:r>
            <a:r>
              <a:rPr lang="en-US" dirty="0" err="1"/>
              <a:t>dụng</a:t>
            </a:r>
            <a:r>
              <a:rPr lang="en-US" dirty="0"/>
              <a:t> </a:t>
            </a:r>
            <a:r>
              <a:rPr lang="vi-VN" dirty="0"/>
              <a:t>vì chúng giải quyết một vấn đề lớn cho người thực thi website. </a:t>
            </a:r>
            <a:r>
              <a:rPr lang="en-US" dirty="0" err="1"/>
              <a:t>Một</a:t>
            </a:r>
            <a:r>
              <a:rPr lang="en-US" dirty="0"/>
              <a:t> </a:t>
            </a:r>
            <a:r>
              <a:rPr lang="vi-VN" dirty="0"/>
              <a:t>cookie cho phép một site có thể lưu các thông tin về trạng thái trên máy tính của bạn. </a:t>
            </a:r>
            <a:endParaRPr lang="en-US" dirty="0"/>
          </a:p>
          <a:p>
            <a:r>
              <a:rPr lang="vi-VN" dirty="0"/>
              <a:t>Thông tin này cho phép một website có thể nhớ trạng thái của trình duyệt của </a:t>
            </a:r>
            <a:r>
              <a:rPr lang="en-US" dirty="0" err="1"/>
              <a:t>người</a:t>
            </a:r>
            <a:r>
              <a:rPr lang="en-US" dirty="0"/>
              <a:t> </a:t>
            </a:r>
            <a:r>
              <a:rPr lang="en-US" dirty="0" err="1"/>
              <a:t>dùng</a:t>
            </a:r>
            <a:r>
              <a:rPr lang="vi-VN" dirty="0"/>
              <a:t> là gì. </a:t>
            </a:r>
            <a:endParaRPr lang="en-US" dirty="0"/>
          </a:p>
          <a:p>
            <a:r>
              <a:rPr lang="vi-VN" dirty="0"/>
              <a:t>ID là một mẩu thông tin trạng thái – nếu một ID tồn tại trên máy tính của </a:t>
            </a:r>
            <a:r>
              <a:rPr lang="en-US" dirty="0" err="1"/>
              <a:t>người</a:t>
            </a:r>
            <a:r>
              <a:rPr lang="en-US" dirty="0"/>
              <a:t> </a:t>
            </a:r>
            <a:r>
              <a:rPr lang="en-US" dirty="0" err="1"/>
              <a:t>dùng</a:t>
            </a:r>
            <a:r>
              <a:rPr lang="vi-VN" dirty="0"/>
              <a:t>, site biết rằng </a:t>
            </a:r>
            <a:r>
              <a:rPr lang="en-US" dirty="0" err="1"/>
              <a:t>người</a:t>
            </a:r>
            <a:r>
              <a:rPr lang="en-US" dirty="0"/>
              <a:t> </a:t>
            </a:r>
            <a:r>
              <a:rPr lang="en-US" dirty="0" err="1"/>
              <a:t>dùng</a:t>
            </a:r>
            <a:r>
              <a:rPr lang="vi-VN" dirty="0"/>
              <a:t> đã truy cập vào nó trước đó. Trạng thái là, “Trình duyệt của</a:t>
            </a:r>
            <a:r>
              <a:rPr lang="en-US" dirty="0"/>
              <a:t> </a:t>
            </a:r>
            <a:r>
              <a:rPr lang="en-US" dirty="0" err="1"/>
              <a:t>người</a:t>
            </a:r>
            <a:r>
              <a:rPr lang="en-US" dirty="0"/>
              <a:t> </a:t>
            </a:r>
            <a:r>
              <a:rPr lang="en-US" dirty="0" err="1"/>
              <a:t>dùng</a:t>
            </a:r>
            <a:r>
              <a:rPr lang="en-US" dirty="0"/>
              <a:t> </a:t>
            </a:r>
            <a:r>
              <a:rPr lang="vi-VN" dirty="0"/>
              <a:t>đã truy cập vào site ít nhất một lần” và site biết ID từ lần truy cập đó</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4</a:t>
            </a:fld>
            <a:endParaRPr lang="en-US"/>
          </a:p>
        </p:txBody>
      </p:sp>
    </p:spTree>
    <p:extLst>
      <p:ext uri="{BB962C8B-B14F-4D97-AF65-F5344CB8AC3E}">
        <p14:creationId xmlns:p14="http://schemas.microsoft.com/office/powerpoint/2010/main" val="3679208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Đối</a:t>
            </a:r>
            <a:r>
              <a:rPr lang="en-US" dirty="0"/>
              <a:t> </a:t>
            </a:r>
            <a:r>
              <a:rPr lang="en-US" dirty="0" err="1"/>
              <a:t>tượng</a:t>
            </a:r>
            <a:r>
              <a:rPr lang="en-US" dirty="0"/>
              <a:t> Cookies</a:t>
            </a:r>
          </a:p>
        </p:txBody>
      </p:sp>
      <p:sp>
        <p:nvSpPr>
          <p:cNvPr id="3" name="Content Placeholder 2"/>
          <p:cNvSpPr>
            <a:spLocks noGrp="1"/>
          </p:cNvSpPr>
          <p:nvPr>
            <p:ph idx="1"/>
          </p:nvPr>
        </p:nvSpPr>
        <p:spPr>
          <a:xfrm>
            <a:off x="838200" y="1459865"/>
            <a:ext cx="10515600" cy="4351338"/>
          </a:xfrm>
        </p:spPr>
        <p:txBody>
          <a:bodyPr/>
          <a:lstStyle/>
          <a:p>
            <a:r>
              <a:rPr lang="en-US" dirty="0" err="1"/>
              <a:t>Lợi</a:t>
            </a:r>
            <a:r>
              <a:rPr lang="en-US" dirty="0"/>
              <a:t> </a:t>
            </a:r>
            <a:r>
              <a:rPr lang="en-US" dirty="0" err="1"/>
              <a:t>ích</a:t>
            </a:r>
            <a:r>
              <a:rPr lang="en-US" dirty="0"/>
              <a:t> </a:t>
            </a:r>
            <a:r>
              <a:rPr lang="en-US" dirty="0" err="1"/>
              <a:t>của</a:t>
            </a:r>
            <a:r>
              <a:rPr lang="en-US" dirty="0"/>
              <a:t> Cookies</a:t>
            </a:r>
          </a:p>
          <a:p>
            <a:pPr lvl="1"/>
            <a:r>
              <a:rPr lang="vi-VN" dirty="0"/>
              <a:t>Giúp việc truy cập Website của người dùng nhanh hơn, tiện lợi hơn, không quá mất nhiều thời gian đăng nhập lại nhiều lần.</a:t>
            </a:r>
          </a:p>
          <a:p>
            <a:pPr lvl="1"/>
            <a:r>
              <a:rPr lang="vi-VN" dirty="0"/>
              <a:t>Đối với các doanh nghiệp, việc sử dụng Cookie sẽ giúp họ theo dõi được hành vi người dùng, từ đó biết được họ thường truy cập ít hay nhiều, thời gian là bao lâu hay các sở thích khác để có thể tối ưu hóa Website, dịch vụ của mình.</a:t>
            </a:r>
          </a:p>
          <a:p>
            <a:pPr lvl="1"/>
            <a:r>
              <a:rPr lang="vi-VN" dirty="0"/>
              <a:t>Ngoài ra, việc lưu trữ Cookie đối với các doanh nghiệp sẽ giúp khách hàng của họ thuận tiện hơn trong việc truy cập hay đơn giản là việc nhập liệu ở Website đó trở nên tiện lợi khi các thông tin đã được lưu trữ.</a:t>
            </a:r>
          </a:p>
          <a:p>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5</a:t>
            </a:fld>
            <a:endParaRPr lang="en-US"/>
          </a:p>
        </p:txBody>
      </p:sp>
    </p:spTree>
    <p:extLst>
      <p:ext uri="{BB962C8B-B14F-4D97-AF65-F5344CB8AC3E}">
        <p14:creationId xmlns:p14="http://schemas.microsoft.com/office/powerpoint/2010/main" val="705537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318" y="558030"/>
            <a:ext cx="10993967" cy="498475"/>
          </a:xfrm>
        </p:spPr>
        <p:txBody>
          <a:bodyPr/>
          <a:lstStyle/>
          <a:p>
            <a:r>
              <a:rPr lang="en-US" dirty="0"/>
              <a:t>1. </a:t>
            </a:r>
            <a:r>
              <a:rPr lang="en-US" dirty="0" err="1"/>
              <a:t>Đối</a:t>
            </a:r>
            <a:r>
              <a:rPr lang="en-US" dirty="0"/>
              <a:t> </a:t>
            </a:r>
            <a:r>
              <a:rPr lang="en-US" dirty="0" err="1"/>
              <a:t>tượng</a:t>
            </a:r>
            <a:r>
              <a:rPr lang="en-US" dirty="0"/>
              <a:t> Cookies</a:t>
            </a:r>
          </a:p>
        </p:txBody>
      </p:sp>
      <p:sp>
        <p:nvSpPr>
          <p:cNvPr id="3" name="Content Placeholder 2"/>
          <p:cNvSpPr>
            <a:spLocks noGrp="1"/>
          </p:cNvSpPr>
          <p:nvPr>
            <p:ph idx="1"/>
          </p:nvPr>
        </p:nvSpPr>
        <p:spPr>
          <a:xfrm>
            <a:off x="838200" y="1056505"/>
            <a:ext cx="10515600" cy="4351338"/>
          </a:xfrm>
        </p:spPr>
        <p:txBody>
          <a:bodyPr/>
          <a:lstStyle/>
          <a:p>
            <a:r>
              <a:rPr lang="vi-VN"/>
              <a:t>Nhược </a:t>
            </a:r>
            <a:r>
              <a:rPr lang="vi-VN" dirty="0"/>
              <a:t>điểm của Cookie</a:t>
            </a:r>
          </a:p>
          <a:p>
            <a:pPr lvl="1"/>
            <a:r>
              <a:rPr lang="vi-VN" dirty="0"/>
              <a:t>Vì Cookie là một file dùng để lưu trữ các thông tin, hoạt động sử dụng của người dùng mang tính cá nhân vì vậy sẽ dễ dàng bị các Hacker tìm cách đột nhập hệ thống Website, máy tính cá nhân để lấy cắp thông tin và sử dụng cho các mục đích xấu</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6</a:t>
            </a:fld>
            <a:endParaRPr lang="en-US"/>
          </a:p>
        </p:txBody>
      </p:sp>
    </p:spTree>
    <p:extLst>
      <p:ext uri="{BB962C8B-B14F-4D97-AF65-F5344CB8AC3E}">
        <p14:creationId xmlns:p14="http://schemas.microsoft.com/office/powerpoint/2010/main" val="1256846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err="1"/>
              <a:t>Thêm</a:t>
            </a:r>
            <a:r>
              <a:rPr lang="en-US" dirty="0"/>
              <a:t> </a:t>
            </a:r>
            <a:r>
              <a:rPr lang="en-US" dirty="0" err="1"/>
              <a:t>mới</a:t>
            </a:r>
            <a:r>
              <a:rPr lang="en-US" dirty="0"/>
              <a:t> </a:t>
            </a:r>
            <a:r>
              <a:rPr lang="en-US" dirty="0" err="1"/>
              <a:t>một</a:t>
            </a:r>
            <a:r>
              <a:rPr lang="en-US" dirty="0"/>
              <a:t> Cookies</a:t>
            </a:r>
          </a:p>
        </p:txBody>
      </p:sp>
      <p:sp>
        <p:nvSpPr>
          <p:cNvPr id="3" name="Content Placeholder 2"/>
          <p:cNvSpPr>
            <a:spLocks noGrp="1"/>
          </p:cNvSpPr>
          <p:nvPr>
            <p:ph idx="1"/>
          </p:nvPr>
        </p:nvSpPr>
        <p:spPr/>
        <p:txBody>
          <a:bodyPr/>
          <a:lstStyle/>
          <a:p>
            <a:r>
              <a:rPr lang="en-US" dirty="0" err="1"/>
              <a:t>Cú</a:t>
            </a:r>
            <a:r>
              <a:rPr lang="en-US" dirty="0"/>
              <a:t> </a:t>
            </a:r>
            <a:r>
              <a:rPr lang="en-US" dirty="0" err="1"/>
              <a:t>pháp</a:t>
            </a:r>
            <a:r>
              <a:rPr lang="en-US" dirty="0"/>
              <a:t>:</a:t>
            </a:r>
          </a:p>
          <a:p>
            <a:pPr lvl="1"/>
            <a:r>
              <a:rPr lang="en-US" dirty="0" err="1"/>
              <a:t>Response.Cookies.Add</a:t>
            </a:r>
            <a:r>
              <a:rPr lang="en-US" dirty="0"/>
              <a:t>(&lt;</a:t>
            </a:r>
            <a:r>
              <a:rPr lang="en-US" dirty="0" err="1"/>
              <a:t>HttpCookie</a:t>
            </a:r>
            <a:r>
              <a:rPr lang="en-US" dirty="0"/>
              <a:t>&gt;);</a:t>
            </a:r>
          </a:p>
          <a:p>
            <a:r>
              <a:rPr lang="en-US" dirty="0" err="1"/>
              <a:t>Các</a:t>
            </a:r>
            <a:r>
              <a:rPr lang="en-US" dirty="0"/>
              <a:t> </a:t>
            </a:r>
            <a:r>
              <a:rPr lang="en-US" dirty="0" err="1"/>
              <a:t>thuộc</a:t>
            </a:r>
            <a:r>
              <a:rPr lang="en-US" dirty="0"/>
              <a:t> </a:t>
            </a:r>
            <a:r>
              <a:rPr lang="en-US" dirty="0" err="1"/>
              <a:t>tính</a:t>
            </a:r>
            <a:r>
              <a:rPr lang="en-US" dirty="0"/>
              <a:t> </a:t>
            </a:r>
            <a:r>
              <a:rPr lang="en-US" dirty="0" err="1"/>
              <a:t>của</a:t>
            </a:r>
            <a:r>
              <a:rPr lang="en-US" dirty="0"/>
              <a:t> </a:t>
            </a:r>
            <a:r>
              <a:rPr lang="en-US" dirty="0" err="1"/>
              <a:t>đối</a:t>
            </a:r>
            <a:r>
              <a:rPr lang="en-US" dirty="0"/>
              <a:t> </a:t>
            </a:r>
            <a:r>
              <a:rPr lang="en-US" dirty="0" err="1"/>
              <a:t>tượng</a:t>
            </a:r>
            <a:r>
              <a:rPr lang="en-US" dirty="0"/>
              <a:t> Cookies</a:t>
            </a:r>
          </a:p>
          <a:p>
            <a:pPr lvl="1"/>
            <a:r>
              <a:rPr lang="vi-VN" dirty="0"/>
              <a:t>Name: Tên Cookie.</a:t>
            </a:r>
          </a:p>
          <a:p>
            <a:pPr lvl="1"/>
            <a:r>
              <a:rPr lang="vi-VN" dirty="0"/>
              <a:t>Domain: Tên miền của Cookie lưu trữ.</a:t>
            </a:r>
          </a:p>
          <a:p>
            <a:pPr lvl="1"/>
            <a:r>
              <a:rPr lang="vi-VN" dirty="0"/>
              <a:t>Expires: Xác định thời gian hiệu lực của Cookie.</a:t>
            </a:r>
          </a:p>
          <a:p>
            <a:pPr lvl="1"/>
            <a:r>
              <a:rPr lang="vi-VN" dirty="0"/>
              <a:t>Value: Giá trị của Cookie.</a:t>
            </a:r>
          </a:p>
          <a:p>
            <a:pPr lvl="1"/>
            <a:r>
              <a:rPr lang="vi-VN" dirty="0"/>
              <a:t>HasKeys: Cho biết Cookie có tập giá trị con hay không.</a:t>
            </a:r>
          </a:p>
          <a:p>
            <a:pPr lvl="1"/>
            <a:r>
              <a:rPr lang="vi-VN" dirty="0"/>
              <a:t>Values: Tập các giá trị của Cookie.</a:t>
            </a:r>
          </a:p>
          <a:p>
            <a:pPr marL="0" indent="0">
              <a:buNone/>
            </a:pP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7</a:t>
            </a:fld>
            <a:endParaRPr lang="en-US"/>
          </a:p>
        </p:txBody>
      </p:sp>
    </p:spTree>
    <p:extLst>
      <p:ext uri="{BB962C8B-B14F-4D97-AF65-F5344CB8AC3E}">
        <p14:creationId xmlns:p14="http://schemas.microsoft.com/office/powerpoint/2010/main" val="1019750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Content Placeholder 2"/>
          <p:cNvSpPr>
            <a:spLocks noGrp="1"/>
          </p:cNvSpPr>
          <p:nvPr>
            <p:ph idx="1"/>
          </p:nvPr>
        </p:nvSpPr>
        <p:spPr/>
        <p:txBody>
          <a:bodyPr/>
          <a:lstStyle/>
          <a:p>
            <a:r>
              <a:rPr lang="en-US" dirty="0" err="1"/>
              <a:t>Yêu</a:t>
            </a:r>
            <a:r>
              <a:rPr lang="en-US" dirty="0"/>
              <a:t> </a:t>
            </a:r>
            <a:r>
              <a:rPr lang="en-US" dirty="0" err="1"/>
              <a:t>cầu</a:t>
            </a:r>
            <a:r>
              <a:rPr lang="en-US" dirty="0"/>
              <a:t> </a:t>
            </a:r>
            <a:r>
              <a:rPr lang="vi-VN" dirty="0"/>
              <a:t>tạo ra Cookies có tên là TenDangNhap lưu trữ tên đăng nhập của người dùng. Thông tin này sẽ được lưu trữ trên Cookies 15 ngày kể từ ngày hiện hành trên Web Server</a:t>
            </a:r>
            <a:endParaRPr lang="en-US" dirty="0"/>
          </a:p>
          <a:p>
            <a:pPr marL="455612" lvl="2" indent="0">
              <a:buNone/>
            </a:pPr>
            <a:r>
              <a:rPr lang="en-US" dirty="0" err="1">
                <a:solidFill>
                  <a:schemeClr val="tx2">
                    <a:lumMod val="75000"/>
                  </a:schemeClr>
                </a:solidFill>
              </a:rPr>
              <a:t>HttpCookie</a:t>
            </a:r>
            <a:r>
              <a:rPr lang="en-US" dirty="0">
                <a:solidFill>
                  <a:schemeClr val="tx2">
                    <a:lumMod val="75000"/>
                  </a:schemeClr>
                </a:solidFill>
              </a:rPr>
              <a:t> </a:t>
            </a:r>
            <a:r>
              <a:rPr lang="en-US" dirty="0" err="1">
                <a:solidFill>
                  <a:schemeClr val="tx2">
                    <a:lumMod val="75000"/>
                  </a:schemeClr>
                </a:solidFill>
              </a:rPr>
              <a:t>ck</a:t>
            </a:r>
            <a:r>
              <a:rPr lang="en-US" dirty="0">
                <a:solidFill>
                  <a:schemeClr val="tx2">
                    <a:lumMod val="75000"/>
                  </a:schemeClr>
                </a:solidFill>
              </a:rPr>
              <a:t> = new </a:t>
            </a:r>
            <a:r>
              <a:rPr lang="en-US" dirty="0" err="1">
                <a:solidFill>
                  <a:schemeClr val="tx2">
                    <a:lumMod val="75000"/>
                  </a:schemeClr>
                </a:solidFill>
              </a:rPr>
              <a:t>HttpCookie</a:t>
            </a:r>
            <a:r>
              <a:rPr lang="en-US" dirty="0">
                <a:solidFill>
                  <a:schemeClr val="tx2">
                    <a:lumMod val="75000"/>
                  </a:schemeClr>
                </a:solidFill>
              </a:rPr>
              <a:t>("</a:t>
            </a:r>
            <a:r>
              <a:rPr lang="en-US" dirty="0" err="1">
                <a:solidFill>
                  <a:schemeClr val="tx2">
                    <a:lumMod val="75000"/>
                  </a:schemeClr>
                </a:solidFill>
              </a:rPr>
              <a:t>TenDangNhap</a:t>
            </a:r>
            <a:r>
              <a:rPr lang="en-US" dirty="0">
                <a:solidFill>
                  <a:schemeClr val="tx2">
                    <a:lumMod val="75000"/>
                  </a:schemeClr>
                </a:solidFill>
              </a:rPr>
              <a:t>");</a:t>
            </a:r>
          </a:p>
          <a:p>
            <a:pPr marL="455612" lvl="2" indent="0">
              <a:buNone/>
            </a:pPr>
            <a:r>
              <a:rPr lang="en-US" dirty="0" err="1">
                <a:solidFill>
                  <a:schemeClr val="tx2">
                    <a:lumMod val="75000"/>
                  </a:schemeClr>
                </a:solidFill>
              </a:rPr>
              <a:t>ck.Value</a:t>
            </a:r>
            <a:r>
              <a:rPr lang="en-US" dirty="0">
                <a:solidFill>
                  <a:schemeClr val="tx2">
                    <a:lumMod val="75000"/>
                  </a:schemeClr>
                </a:solidFill>
              </a:rPr>
              <a:t> = </a:t>
            </a:r>
            <a:r>
              <a:rPr lang="en-US" dirty="0" err="1">
                <a:solidFill>
                  <a:schemeClr val="tx2">
                    <a:lumMod val="75000"/>
                  </a:schemeClr>
                </a:solidFill>
              </a:rPr>
              <a:t>txtTenDangNhap.Text</a:t>
            </a:r>
            <a:r>
              <a:rPr lang="en-US" dirty="0">
                <a:solidFill>
                  <a:schemeClr val="tx2">
                    <a:lumMod val="75000"/>
                  </a:schemeClr>
                </a:solidFill>
              </a:rPr>
              <a:t>;</a:t>
            </a:r>
          </a:p>
          <a:p>
            <a:pPr marL="455612" lvl="2" indent="0">
              <a:buNone/>
            </a:pPr>
            <a:r>
              <a:rPr lang="en-US" dirty="0" err="1">
                <a:solidFill>
                  <a:schemeClr val="tx2">
                    <a:lumMod val="75000"/>
                  </a:schemeClr>
                </a:solidFill>
              </a:rPr>
              <a:t>ck.Expires</a:t>
            </a:r>
            <a:r>
              <a:rPr lang="en-US" dirty="0">
                <a:solidFill>
                  <a:schemeClr val="tx2">
                    <a:lumMod val="75000"/>
                  </a:schemeClr>
                </a:solidFill>
              </a:rPr>
              <a:t> = </a:t>
            </a:r>
            <a:r>
              <a:rPr lang="en-US" dirty="0" err="1">
                <a:solidFill>
                  <a:schemeClr val="tx2">
                    <a:lumMod val="75000"/>
                  </a:schemeClr>
                </a:solidFill>
              </a:rPr>
              <a:t>DateTime.Now.AddDays</a:t>
            </a:r>
            <a:r>
              <a:rPr lang="en-US" dirty="0">
                <a:solidFill>
                  <a:schemeClr val="tx2">
                    <a:lumMod val="75000"/>
                  </a:schemeClr>
                </a:solidFill>
              </a:rPr>
              <a:t>(15);</a:t>
            </a:r>
          </a:p>
          <a:p>
            <a:pPr marL="455612" lvl="2" indent="0">
              <a:buNone/>
            </a:pPr>
            <a:r>
              <a:rPr lang="en-US" dirty="0" err="1">
                <a:solidFill>
                  <a:schemeClr val="tx2">
                    <a:lumMod val="75000"/>
                  </a:schemeClr>
                </a:solidFill>
              </a:rPr>
              <a:t>Response.Cookies.Add</a:t>
            </a:r>
            <a:r>
              <a:rPr lang="en-US" dirty="0">
                <a:solidFill>
                  <a:schemeClr val="tx2">
                    <a:lumMod val="75000"/>
                  </a:schemeClr>
                </a:solidFill>
              </a:rPr>
              <a:t>(</a:t>
            </a:r>
            <a:r>
              <a:rPr lang="en-US" dirty="0" err="1">
                <a:solidFill>
                  <a:schemeClr val="tx2">
                    <a:lumMod val="75000"/>
                  </a:schemeClr>
                </a:solidFill>
              </a:rPr>
              <a:t>ck</a:t>
            </a:r>
            <a:r>
              <a:rPr lang="en-US" dirty="0">
                <a:solidFill>
                  <a:schemeClr val="tx2">
                    <a:lumMod val="75000"/>
                  </a:schemeClr>
                </a:solidFill>
              </a:rPr>
              <a:t>);</a:t>
            </a:r>
          </a:p>
        </p:txBody>
      </p:sp>
      <p:sp>
        <p:nvSpPr>
          <p:cNvPr id="4" name="Slide Number Placeholder 3"/>
          <p:cNvSpPr>
            <a:spLocks noGrp="1"/>
          </p:cNvSpPr>
          <p:nvPr>
            <p:ph type="sldNum" sz="quarter" idx="10"/>
          </p:nvPr>
        </p:nvSpPr>
        <p:spPr/>
        <p:txBody>
          <a:bodyPr/>
          <a:lstStyle/>
          <a:p>
            <a:fld id="{FD4BB625-6399-40EF-8D3C-B968FF32E6CB}" type="slidenum">
              <a:rPr lang="en-US" smtClean="0"/>
              <a:t>8</a:t>
            </a:fld>
            <a:endParaRPr lang="en-US"/>
          </a:p>
        </p:txBody>
      </p:sp>
    </p:spTree>
    <p:extLst>
      <p:ext uri="{BB962C8B-B14F-4D97-AF65-F5344CB8AC3E}">
        <p14:creationId xmlns:p14="http://schemas.microsoft.com/office/powerpoint/2010/main" val="2801377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1.2. </a:t>
            </a:r>
            <a:r>
              <a:rPr lang="en-US" dirty="0" err="1"/>
              <a:t>Lấy</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một</a:t>
            </a:r>
            <a:r>
              <a:rPr lang="en-US" dirty="0"/>
              <a:t> Cookies</a:t>
            </a:r>
          </a:p>
        </p:txBody>
      </p:sp>
      <p:sp>
        <p:nvSpPr>
          <p:cNvPr id="3" name="Content Placeholder 2"/>
          <p:cNvSpPr>
            <a:spLocks noGrp="1"/>
          </p:cNvSpPr>
          <p:nvPr>
            <p:ph idx="1"/>
          </p:nvPr>
        </p:nvSpPr>
        <p:spPr/>
        <p:txBody>
          <a:bodyPr/>
          <a:lstStyle/>
          <a:p>
            <a:r>
              <a:rPr lang="en-US" dirty="0"/>
              <a:t>value = </a:t>
            </a:r>
            <a:r>
              <a:rPr lang="en-US" dirty="0" err="1"/>
              <a:t>Request.Cookies</a:t>
            </a:r>
            <a:r>
              <a:rPr lang="en-US" dirty="0"/>
              <a:t>[cookie][(key)|.attribute];</a:t>
            </a:r>
          </a:p>
          <a:p>
            <a:r>
              <a:rPr lang="en-US" dirty="0" err="1"/>
              <a:t>Ví</a:t>
            </a:r>
            <a:r>
              <a:rPr lang="en-US" dirty="0"/>
              <a:t> </a:t>
            </a:r>
            <a:r>
              <a:rPr lang="en-US" dirty="0" err="1"/>
              <a:t>dụ</a:t>
            </a:r>
            <a:r>
              <a:rPr lang="en-US" dirty="0"/>
              <a:t>: </a:t>
            </a:r>
          </a:p>
          <a:p>
            <a:pPr lvl="1"/>
            <a:r>
              <a:rPr lang="en-US" dirty="0" err="1"/>
              <a:t>HttpCookie</a:t>
            </a:r>
            <a:r>
              <a:rPr lang="en-US" dirty="0"/>
              <a:t> </a:t>
            </a:r>
            <a:r>
              <a:rPr lang="en-US" dirty="0" err="1"/>
              <a:t>ck</a:t>
            </a:r>
            <a:r>
              <a:rPr lang="en-US" dirty="0"/>
              <a:t> = </a:t>
            </a:r>
            <a:r>
              <a:rPr lang="en-US" dirty="0" err="1"/>
              <a:t>Request.Cookies</a:t>
            </a:r>
            <a:r>
              <a:rPr lang="en-US" dirty="0"/>
              <a:t>["</a:t>
            </a:r>
            <a:r>
              <a:rPr lang="en-US" dirty="0" err="1"/>
              <a:t>TenDangNhap</a:t>
            </a:r>
            <a:r>
              <a:rPr lang="en-US" dirty="0"/>
              <a:t>"]; </a:t>
            </a:r>
          </a:p>
          <a:p>
            <a:pPr lvl="1"/>
            <a:r>
              <a:rPr lang="en-US" dirty="0"/>
              <a:t>string s = </a:t>
            </a:r>
            <a:r>
              <a:rPr lang="en-US" dirty="0" err="1"/>
              <a:t>ck.Value</a:t>
            </a:r>
            <a:r>
              <a:rPr lang="en-US" dirty="0"/>
              <a:t>;</a:t>
            </a:r>
          </a:p>
          <a:p>
            <a:r>
              <a:rPr lang="vi-VN" dirty="0"/>
              <a:t>Trong trường hợp Cookies chưa được lưu hoặc đã hết thời hạn duy trì tại Client</a:t>
            </a:r>
            <a:r>
              <a:rPr lang="en-US" dirty="0"/>
              <a:t> </a:t>
            </a:r>
            <a:r>
              <a:rPr lang="en-US" dirty="0" err="1"/>
              <a:t>thì</a:t>
            </a:r>
            <a:r>
              <a:rPr lang="en-US" dirty="0"/>
              <a:t> </a:t>
            </a:r>
            <a:r>
              <a:rPr lang="en-US" dirty="0" err="1"/>
              <a:t>ck</a:t>
            </a:r>
            <a:r>
              <a:rPr lang="en-US"/>
              <a:t>==null.</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9</a:t>
            </a:fld>
            <a:endParaRPr lang="en-US"/>
          </a:p>
        </p:txBody>
      </p:sp>
    </p:spTree>
    <p:extLst>
      <p:ext uri="{BB962C8B-B14F-4D97-AF65-F5344CB8AC3E}">
        <p14:creationId xmlns:p14="http://schemas.microsoft.com/office/powerpoint/2010/main" val="4271320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8F87D-633C-5FB4-0979-4DED664C5437}"/>
              </a:ext>
            </a:extLst>
          </p:cNvPr>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3" name="Content Placeholder 2">
            <a:extLst>
              <a:ext uri="{FF2B5EF4-FFF2-40B4-BE49-F238E27FC236}">
                <a16:creationId xmlns:a16="http://schemas.microsoft.com/office/drawing/2014/main" id="{30378243-002A-2772-32F6-4935B140CCF6}"/>
              </a:ext>
            </a:extLst>
          </p:cNvPr>
          <p:cNvSpPr>
            <a:spLocks noGrp="1"/>
          </p:cNvSpPr>
          <p:nvPr>
            <p:ph idx="1"/>
          </p:nvPr>
        </p:nvSpPr>
        <p:spPr>
          <a:xfrm>
            <a:off x="914401" y="1370014"/>
            <a:ext cx="10367433" cy="4853365"/>
          </a:xfrm>
        </p:spPr>
        <p:txBody>
          <a:bodyPr/>
          <a:lstStyle/>
          <a:p>
            <a:r>
              <a:rPr lang="en-US" dirty="0" err="1"/>
              <a:t>Hãy</a:t>
            </a:r>
            <a:r>
              <a:rPr lang="en-US" dirty="0"/>
              <a:t> </a:t>
            </a:r>
            <a:r>
              <a:rPr lang="en-US" dirty="0" err="1"/>
              <a:t>tạo</a:t>
            </a:r>
            <a:r>
              <a:rPr lang="en-US" dirty="0"/>
              <a:t> </a:t>
            </a:r>
            <a:r>
              <a:rPr lang="en-US" dirty="0" err="1"/>
              <a:t>một</a:t>
            </a:r>
            <a:r>
              <a:rPr lang="en-US" dirty="0"/>
              <a:t> </a:t>
            </a:r>
            <a:r>
              <a:rPr lang="en-US" dirty="0" err="1"/>
              <a:t>trang</a:t>
            </a:r>
            <a:r>
              <a:rPr lang="en-US" dirty="0"/>
              <a:t> Webform </a:t>
            </a:r>
            <a:r>
              <a:rPr lang="en-US" dirty="0" err="1"/>
              <a:t>có</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sau</a:t>
            </a:r>
            <a:r>
              <a:rPr lang="en-US" dirty="0"/>
              <a:t>: 1 </a:t>
            </a:r>
            <a:r>
              <a:rPr lang="en-US" dirty="0" err="1"/>
              <a:t>lable</a:t>
            </a:r>
            <a:r>
              <a:rPr lang="en-US" dirty="0"/>
              <a:t> </a:t>
            </a:r>
            <a:r>
              <a:rPr lang="en-US" dirty="0" err="1"/>
              <a:t>để</a:t>
            </a:r>
            <a:r>
              <a:rPr lang="en-US" dirty="0"/>
              <a:t> </a:t>
            </a:r>
            <a:r>
              <a:rPr lang="en-US" dirty="0" err="1"/>
              <a:t>hiển</a:t>
            </a:r>
            <a:r>
              <a:rPr lang="en-US" dirty="0"/>
              <a:t> </a:t>
            </a:r>
            <a:r>
              <a:rPr lang="en-US" dirty="0" err="1"/>
              <a:t>thị</a:t>
            </a:r>
            <a:r>
              <a:rPr lang="en-US" dirty="0"/>
              <a:t> </a:t>
            </a:r>
            <a:r>
              <a:rPr lang="en-US" dirty="0" err="1"/>
              <a:t>thông</a:t>
            </a:r>
            <a:r>
              <a:rPr lang="en-US" dirty="0"/>
              <a:t> </a:t>
            </a:r>
            <a:r>
              <a:rPr lang="en-US" dirty="0" err="1"/>
              <a:t>báo</a:t>
            </a:r>
            <a:r>
              <a:rPr lang="en-US" dirty="0"/>
              <a:t>, 1 ô textbox </a:t>
            </a:r>
            <a:r>
              <a:rPr lang="en-US" dirty="0" err="1"/>
              <a:t>cho</a:t>
            </a:r>
            <a:r>
              <a:rPr lang="en-US" dirty="0"/>
              <a:t> </a:t>
            </a:r>
            <a:r>
              <a:rPr lang="en-US" dirty="0" err="1"/>
              <a:t>phép</a:t>
            </a:r>
            <a:r>
              <a:rPr lang="en-US" dirty="0"/>
              <a:t> </a:t>
            </a:r>
            <a:r>
              <a:rPr lang="en-US" dirty="0" err="1"/>
              <a:t>người</a:t>
            </a:r>
            <a:r>
              <a:rPr lang="en-US" dirty="0"/>
              <a:t> </a:t>
            </a:r>
            <a:r>
              <a:rPr lang="en-US" dirty="0" err="1"/>
              <a:t>dùng</a:t>
            </a:r>
            <a:r>
              <a:rPr lang="en-US" dirty="0"/>
              <a:t> </a:t>
            </a:r>
            <a:r>
              <a:rPr lang="en-US" dirty="0" err="1"/>
              <a:t>điền</a:t>
            </a:r>
            <a:r>
              <a:rPr lang="en-US" dirty="0"/>
              <a:t> </a:t>
            </a:r>
            <a:r>
              <a:rPr lang="en-US" dirty="0" err="1"/>
              <a:t>tên</a:t>
            </a:r>
            <a:r>
              <a:rPr lang="en-US" dirty="0"/>
              <a:t> </a:t>
            </a:r>
            <a:r>
              <a:rPr lang="en-US" dirty="0" err="1"/>
              <a:t>đăng</a:t>
            </a:r>
            <a:r>
              <a:rPr lang="en-US" dirty="0"/>
              <a:t> </a:t>
            </a:r>
            <a:r>
              <a:rPr lang="en-US" dirty="0" err="1"/>
              <a:t>nhập</a:t>
            </a:r>
            <a:r>
              <a:rPr lang="en-US" dirty="0"/>
              <a:t>, 1 </a:t>
            </a:r>
            <a:r>
              <a:rPr lang="en-US" dirty="0" err="1"/>
              <a:t>nút</a:t>
            </a:r>
            <a:r>
              <a:rPr lang="en-US" dirty="0"/>
              <a:t> button </a:t>
            </a:r>
            <a:r>
              <a:rPr lang="en-US" dirty="0" err="1"/>
              <a:t>để</a:t>
            </a:r>
            <a:r>
              <a:rPr lang="en-US" dirty="0"/>
              <a:t> </a:t>
            </a:r>
            <a:r>
              <a:rPr lang="en-US" dirty="0" err="1"/>
              <a:t>lưu</a:t>
            </a:r>
            <a:r>
              <a:rPr lang="en-US" dirty="0"/>
              <a:t> </a:t>
            </a:r>
            <a:r>
              <a:rPr lang="en-US" dirty="0" err="1"/>
              <a:t>lại</a:t>
            </a:r>
            <a:r>
              <a:rPr lang="en-US" dirty="0"/>
              <a:t> cookie. Trang </a:t>
            </a:r>
            <a:r>
              <a:rPr lang="en-US" dirty="0" err="1"/>
              <a:t>này</a:t>
            </a:r>
            <a:r>
              <a:rPr lang="en-US" dirty="0"/>
              <a:t> </a:t>
            </a:r>
            <a:r>
              <a:rPr lang="en-US" dirty="0" err="1"/>
              <a:t>hoạt</a:t>
            </a:r>
            <a:r>
              <a:rPr lang="en-US" dirty="0"/>
              <a:t> </a:t>
            </a:r>
            <a:r>
              <a:rPr lang="en-US" dirty="0" err="1"/>
              <a:t>động</a:t>
            </a:r>
            <a:r>
              <a:rPr lang="en-US" dirty="0"/>
              <a:t> </a:t>
            </a:r>
            <a:r>
              <a:rPr lang="en-US" dirty="0" err="1"/>
              <a:t>như</a:t>
            </a:r>
            <a:r>
              <a:rPr lang="en-US" dirty="0"/>
              <a:t> </a:t>
            </a:r>
            <a:r>
              <a:rPr lang="en-US" dirty="0" err="1"/>
              <a:t>sau</a:t>
            </a:r>
            <a:r>
              <a:rPr lang="en-US" dirty="0"/>
              <a:t>: ở </a:t>
            </a:r>
            <a:r>
              <a:rPr lang="en-US" dirty="0" err="1"/>
              <a:t>lần</a:t>
            </a:r>
            <a:r>
              <a:rPr lang="en-US" dirty="0"/>
              <a:t> load </a:t>
            </a:r>
            <a:r>
              <a:rPr lang="en-US" dirty="0" err="1"/>
              <a:t>trang</a:t>
            </a:r>
            <a:r>
              <a:rPr lang="en-US" dirty="0"/>
              <a:t> </a:t>
            </a:r>
            <a:r>
              <a:rPr lang="en-US" dirty="0" err="1"/>
              <a:t>đầu</a:t>
            </a:r>
            <a:r>
              <a:rPr lang="en-US" dirty="0"/>
              <a:t> </a:t>
            </a:r>
            <a:r>
              <a:rPr lang="en-US" dirty="0" err="1"/>
              <a:t>tiên</a:t>
            </a:r>
            <a:r>
              <a:rPr lang="en-US" dirty="0"/>
              <a:t> </a:t>
            </a:r>
            <a:r>
              <a:rPr lang="en-US" dirty="0" err="1"/>
              <a:t>lable</a:t>
            </a:r>
            <a:r>
              <a:rPr lang="en-US" dirty="0"/>
              <a:t> </a:t>
            </a:r>
            <a:r>
              <a:rPr lang="en-US" dirty="0" err="1"/>
              <a:t>sẽ</a:t>
            </a:r>
            <a:r>
              <a:rPr lang="en-US" dirty="0"/>
              <a:t> </a:t>
            </a:r>
            <a:r>
              <a:rPr lang="en-US" dirty="0" err="1"/>
              <a:t>hiển</a:t>
            </a:r>
            <a:r>
              <a:rPr lang="en-US" dirty="0"/>
              <a:t> </a:t>
            </a:r>
            <a:r>
              <a:rPr lang="en-US" dirty="0" err="1"/>
              <a:t>thị</a:t>
            </a:r>
            <a:r>
              <a:rPr lang="en-US" dirty="0"/>
              <a:t> </a:t>
            </a:r>
            <a:r>
              <a:rPr lang="en-US" dirty="0" err="1"/>
              <a:t>thông</a:t>
            </a:r>
            <a:r>
              <a:rPr lang="en-US" dirty="0"/>
              <a:t> </a:t>
            </a:r>
            <a:r>
              <a:rPr lang="en-US" dirty="0" err="1"/>
              <a:t>báo</a:t>
            </a:r>
            <a:r>
              <a:rPr lang="en-US" dirty="0"/>
              <a:t> cookie </a:t>
            </a:r>
            <a:r>
              <a:rPr lang="en-US" dirty="0" err="1"/>
              <a:t>tên</a:t>
            </a:r>
            <a:r>
              <a:rPr lang="en-US" dirty="0"/>
              <a:t> </a:t>
            </a:r>
            <a:r>
              <a:rPr lang="en-US" dirty="0" err="1"/>
              <a:t>đăng</a:t>
            </a:r>
            <a:r>
              <a:rPr lang="en-US" dirty="0"/>
              <a:t> </a:t>
            </a:r>
            <a:r>
              <a:rPr lang="en-US" dirty="0" err="1"/>
              <a:t>nhập</a:t>
            </a:r>
            <a:r>
              <a:rPr lang="en-US" dirty="0"/>
              <a:t> </a:t>
            </a:r>
            <a:r>
              <a:rPr lang="en-US" dirty="0" err="1"/>
              <a:t>chưa</a:t>
            </a:r>
            <a:r>
              <a:rPr lang="en-US" dirty="0"/>
              <a:t> </a:t>
            </a:r>
            <a:r>
              <a:rPr lang="en-US" dirty="0" err="1"/>
              <a:t>được</a:t>
            </a:r>
            <a:r>
              <a:rPr lang="en-US" dirty="0"/>
              <a:t> </a:t>
            </a:r>
            <a:r>
              <a:rPr lang="en-US" dirty="0" err="1"/>
              <a:t>tạo</a:t>
            </a:r>
            <a:r>
              <a:rPr lang="en-US" dirty="0"/>
              <a:t>. </a:t>
            </a:r>
            <a:r>
              <a:rPr lang="en-US" dirty="0" err="1"/>
              <a:t>Nếu</a:t>
            </a:r>
            <a:r>
              <a:rPr lang="en-US" dirty="0"/>
              <a:t> </a:t>
            </a:r>
            <a:r>
              <a:rPr lang="en-US" dirty="0" err="1"/>
              <a:t>người</a:t>
            </a:r>
            <a:r>
              <a:rPr lang="en-US" dirty="0"/>
              <a:t> </a:t>
            </a:r>
            <a:r>
              <a:rPr lang="en-US" dirty="0" err="1"/>
              <a:t>dùng</a:t>
            </a:r>
            <a:r>
              <a:rPr lang="en-US" dirty="0"/>
              <a:t> </a:t>
            </a:r>
            <a:r>
              <a:rPr lang="en-US" dirty="0" err="1"/>
              <a:t>nhập</a:t>
            </a:r>
            <a:r>
              <a:rPr lang="en-US" dirty="0"/>
              <a:t> </a:t>
            </a:r>
            <a:r>
              <a:rPr lang="en-US" dirty="0" err="1"/>
              <a:t>dữ</a:t>
            </a:r>
            <a:r>
              <a:rPr lang="en-US" dirty="0"/>
              <a:t> </a:t>
            </a:r>
            <a:r>
              <a:rPr lang="en-US" dirty="0" err="1"/>
              <a:t>liệu</a:t>
            </a:r>
            <a:r>
              <a:rPr lang="en-US" dirty="0"/>
              <a:t> </a:t>
            </a:r>
            <a:r>
              <a:rPr lang="en-US" dirty="0" err="1"/>
              <a:t>vào</a:t>
            </a:r>
            <a:r>
              <a:rPr lang="en-US" dirty="0"/>
              <a:t> ô textbox </a:t>
            </a:r>
            <a:r>
              <a:rPr lang="en-US" dirty="0" err="1"/>
              <a:t>và</a:t>
            </a:r>
            <a:r>
              <a:rPr lang="en-US" dirty="0"/>
              <a:t> </a:t>
            </a:r>
            <a:r>
              <a:rPr lang="en-US" dirty="0" err="1"/>
              <a:t>nhận</a:t>
            </a:r>
            <a:r>
              <a:rPr lang="en-US" dirty="0"/>
              <a:t> </a:t>
            </a:r>
            <a:r>
              <a:rPr lang="en-US" dirty="0" err="1"/>
              <a:t>nút</a:t>
            </a:r>
            <a:r>
              <a:rPr lang="en-US" dirty="0"/>
              <a:t> button </a:t>
            </a:r>
            <a:r>
              <a:rPr lang="en-US" dirty="0" err="1"/>
              <a:t>thì</a:t>
            </a:r>
            <a:r>
              <a:rPr lang="en-US" dirty="0"/>
              <a:t> </a:t>
            </a:r>
            <a:r>
              <a:rPr lang="en-US" dirty="0" err="1"/>
              <a:t>một</a:t>
            </a:r>
            <a:r>
              <a:rPr lang="en-US" dirty="0"/>
              <a:t> cookie </a:t>
            </a:r>
            <a:r>
              <a:rPr lang="en-US" dirty="0" err="1"/>
              <a:t>tên</a:t>
            </a:r>
            <a:r>
              <a:rPr lang="en-US" dirty="0"/>
              <a:t> </a:t>
            </a:r>
            <a:r>
              <a:rPr lang="en-US" dirty="0" err="1"/>
              <a:t>đăng</a:t>
            </a:r>
            <a:r>
              <a:rPr lang="en-US" dirty="0"/>
              <a:t> </a:t>
            </a:r>
            <a:r>
              <a:rPr lang="en-US" dirty="0" err="1"/>
              <a:t>nhập</a:t>
            </a:r>
            <a:r>
              <a:rPr lang="en-US" dirty="0"/>
              <a:t> </a:t>
            </a:r>
            <a:r>
              <a:rPr lang="en-US" dirty="0" err="1"/>
              <a:t>sẽ</a:t>
            </a:r>
            <a:r>
              <a:rPr lang="en-US" dirty="0"/>
              <a:t> </a:t>
            </a:r>
            <a:r>
              <a:rPr lang="en-US" dirty="0" err="1"/>
              <a:t>được</a:t>
            </a:r>
            <a:r>
              <a:rPr lang="en-US" dirty="0"/>
              <a:t> </a:t>
            </a:r>
            <a:r>
              <a:rPr lang="en-US" dirty="0" err="1"/>
              <a:t>tạo</a:t>
            </a:r>
            <a:r>
              <a:rPr lang="en-US" dirty="0"/>
              <a:t> </a:t>
            </a:r>
            <a:r>
              <a:rPr lang="en-US" dirty="0" err="1"/>
              <a:t>ra</a:t>
            </a:r>
            <a:r>
              <a:rPr lang="en-US" dirty="0"/>
              <a:t> </a:t>
            </a:r>
            <a:r>
              <a:rPr lang="en-US" dirty="0" err="1"/>
              <a:t>và</a:t>
            </a:r>
            <a:r>
              <a:rPr lang="en-US" dirty="0"/>
              <a:t> </a:t>
            </a:r>
            <a:r>
              <a:rPr lang="en-US" dirty="0" err="1"/>
              <a:t>lưu</a:t>
            </a:r>
            <a:r>
              <a:rPr lang="en-US" dirty="0"/>
              <a:t> </a:t>
            </a:r>
            <a:r>
              <a:rPr lang="en-US" dirty="0" err="1"/>
              <a:t>trên</a:t>
            </a:r>
            <a:r>
              <a:rPr lang="en-US" dirty="0"/>
              <a:t> </a:t>
            </a:r>
            <a:r>
              <a:rPr lang="en-US" dirty="0" err="1"/>
              <a:t>máy</a:t>
            </a:r>
            <a:r>
              <a:rPr lang="en-US" dirty="0"/>
              <a:t> client </a:t>
            </a:r>
            <a:r>
              <a:rPr lang="en-US" dirty="0" err="1"/>
              <a:t>trong</a:t>
            </a:r>
            <a:r>
              <a:rPr lang="en-US" dirty="0"/>
              <a:t> </a:t>
            </a:r>
            <a:r>
              <a:rPr lang="en-US" dirty="0" err="1"/>
              <a:t>thời</a:t>
            </a:r>
            <a:r>
              <a:rPr lang="en-US" dirty="0"/>
              <a:t> </a:t>
            </a:r>
            <a:r>
              <a:rPr lang="en-US" dirty="0" err="1"/>
              <a:t>gian</a:t>
            </a:r>
            <a:r>
              <a:rPr lang="en-US" dirty="0"/>
              <a:t> 3 </a:t>
            </a:r>
            <a:r>
              <a:rPr lang="en-US" dirty="0" err="1"/>
              <a:t>phút</a:t>
            </a:r>
            <a:r>
              <a:rPr lang="en-US" dirty="0"/>
              <a:t>, </a:t>
            </a:r>
            <a:r>
              <a:rPr lang="en-US" dirty="0" err="1"/>
              <a:t>đồng</a:t>
            </a:r>
            <a:r>
              <a:rPr lang="en-US" dirty="0"/>
              <a:t> </a:t>
            </a:r>
            <a:r>
              <a:rPr lang="en-US" dirty="0" err="1"/>
              <a:t>thời</a:t>
            </a:r>
            <a:r>
              <a:rPr lang="en-US" dirty="0"/>
              <a:t> </a:t>
            </a:r>
            <a:r>
              <a:rPr lang="en-US" dirty="0" err="1"/>
              <a:t>lable</a:t>
            </a:r>
            <a:r>
              <a:rPr lang="en-US" dirty="0"/>
              <a:t> </a:t>
            </a:r>
            <a:r>
              <a:rPr lang="en-US" dirty="0" err="1"/>
              <a:t>sẽ</a:t>
            </a:r>
            <a:r>
              <a:rPr lang="en-US" dirty="0"/>
              <a:t> </a:t>
            </a:r>
            <a:r>
              <a:rPr lang="en-US" dirty="0" err="1"/>
              <a:t>hiện</a:t>
            </a:r>
            <a:r>
              <a:rPr lang="en-US" dirty="0"/>
              <a:t> </a:t>
            </a:r>
            <a:r>
              <a:rPr lang="en-US" dirty="0" err="1"/>
              <a:t>thông</a:t>
            </a:r>
            <a:r>
              <a:rPr lang="en-US" dirty="0"/>
              <a:t> </a:t>
            </a:r>
            <a:r>
              <a:rPr lang="en-US" dirty="0" err="1"/>
              <a:t>báo</a:t>
            </a:r>
            <a:r>
              <a:rPr lang="en-US" dirty="0"/>
              <a:t> </a:t>
            </a:r>
            <a:r>
              <a:rPr lang="en-US" dirty="0" err="1"/>
              <a:t>đã</a:t>
            </a:r>
            <a:r>
              <a:rPr lang="en-US" dirty="0"/>
              <a:t> </a:t>
            </a:r>
            <a:r>
              <a:rPr lang="en-US" dirty="0" err="1"/>
              <a:t>tạo</a:t>
            </a:r>
            <a:r>
              <a:rPr lang="en-US" dirty="0"/>
              <a:t> cookie </a:t>
            </a:r>
            <a:r>
              <a:rPr lang="en-US" dirty="0" err="1"/>
              <a:t>thành</a:t>
            </a:r>
            <a:r>
              <a:rPr lang="en-US" dirty="0"/>
              <a:t> </a:t>
            </a:r>
            <a:r>
              <a:rPr lang="en-US" dirty="0" err="1"/>
              <a:t>công</a:t>
            </a:r>
            <a:r>
              <a:rPr lang="en-US" dirty="0"/>
              <a:t>. Ở </a:t>
            </a:r>
            <a:r>
              <a:rPr lang="en-US" dirty="0" err="1"/>
              <a:t>những</a:t>
            </a:r>
            <a:r>
              <a:rPr lang="en-US" dirty="0"/>
              <a:t> </a:t>
            </a:r>
            <a:r>
              <a:rPr lang="en-US" dirty="0" err="1"/>
              <a:t>lần</a:t>
            </a:r>
            <a:r>
              <a:rPr lang="en-US" dirty="0"/>
              <a:t> load </a:t>
            </a:r>
            <a:r>
              <a:rPr lang="en-US" dirty="0" err="1"/>
              <a:t>lại</a:t>
            </a:r>
            <a:r>
              <a:rPr lang="en-US" dirty="0"/>
              <a:t> </a:t>
            </a:r>
            <a:r>
              <a:rPr lang="en-US" dirty="0" err="1"/>
              <a:t>trang</a:t>
            </a:r>
            <a:r>
              <a:rPr lang="en-US" dirty="0"/>
              <a:t> web, </a:t>
            </a:r>
            <a:r>
              <a:rPr lang="en-US" dirty="0" err="1"/>
              <a:t>nếu</a:t>
            </a:r>
            <a:r>
              <a:rPr lang="en-US" dirty="0"/>
              <a:t> cookie </a:t>
            </a:r>
            <a:r>
              <a:rPr lang="en-US" dirty="0" err="1"/>
              <a:t>tên</a:t>
            </a:r>
            <a:r>
              <a:rPr lang="en-US" dirty="0"/>
              <a:t> </a:t>
            </a:r>
            <a:r>
              <a:rPr lang="en-US" dirty="0" err="1"/>
              <a:t>đăng</a:t>
            </a:r>
            <a:r>
              <a:rPr lang="en-US" dirty="0"/>
              <a:t> </a:t>
            </a:r>
            <a:r>
              <a:rPr lang="en-US" dirty="0" err="1"/>
              <a:t>nhập</a:t>
            </a:r>
            <a:r>
              <a:rPr lang="en-US" dirty="0"/>
              <a:t> </a:t>
            </a:r>
            <a:r>
              <a:rPr lang="en-US" dirty="0" err="1"/>
              <a:t>đã</a:t>
            </a:r>
            <a:r>
              <a:rPr lang="en-US" dirty="0"/>
              <a:t> </a:t>
            </a:r>
            <a:r>
              <a:rPr lang="en-US" dirty="0" err="1"/>
              <a:t>được</a:t>
            </a:r>
            <a:r>
              <a:rPr lang="en-US" dirty="0"/>
              <a:t> </a:t>
            </a:r>
            <a:r>
              <a:rPr lang="en-US" dirty="0" err="1"/>
              <a:t>tạo</a:t>
            </a:r>
            <a:r>
              <a:rPr lang="en-US" dirty="0"/>
              <a:t> </a:t>
            </a:r>
            <a:r>
              <a:rPr lang="en-US" dirty="0" err="1"/>
              <a:t>thì</a:t>
            </a:r>
            <a:r>
              <a:rPr lang="en-US" dirty="0"/>
              <a:t> </a:t>
            </a:r>
            <a:r>
              <a:rPr lang="en-US" dirty="0" err="1"/>
              <a:t>lable</a:t>
            </a:r>
            <a:r>
              <a:rPr lang="en-US" dirty="0"/>
              <a:t> </a:t>
            </a:r>
            <a:r>
              <a:rPr lang="en-US" dirty="0" err="1"/>
              <a:t>sẽ</a:t>
            </a:r>
            <a:r>
              <a:rPr lang="en-US" dirty="0"/>
              <a:t> </a:t>
            </a:r>
            <a:r>
              <a:rPr lang="en-US" dirty="0" err="1"/>
              <a:t>hiển</a:t>
            </a:r>
            <a:r>
              <a:rPr lang="en-US" dirty="0"/>
              <a:t> </a:t>
            </a:r>
            <a:r>
              <a:rPr lang="en-US" dirty="0" err="1"/>
              <a:t>thị</a:t>
            </a:r>
            <a:r>
              <a:rPr lang="en-US" dirty="0"/>
              <a:t> </a:t>
            </a:r>
            <a:r>
              <a:rPr lang="en-US" dirty="0" err="1"/>
              <a:t>thông</a:t>
            </a:r>
            <a:r>
              <a:rPr lang="en-US" dirty="0"/>
              <a:t> </a:t>
            </a:r>
            <a:r>
              <a:rPr lang="en-US" dirty="0" err="1"/>
              <a:t>báo</a:t>
            </a:r>
            <a:r>
              <a:rPr lang="en-US" dirty="0"/>
              <a:t> cookie </a:t>
            </a:r>
            <a:r>
              <a:rPr lang="en-US" dirty="0" err="1"/>
              <a:t>tên</a:t>
            </a:r>
            <a:r>
              <a:rPr lang="en-US" dirty="0"/>
              <a:t> </a:t>
            </a:r>
            <a:r>
              <a:rPr lang="en-US" dirty="0" err="1"/>
              <a:t>đăng</a:t>
            </a:r>
            <a:r>
              <a:rPr lang="en-US" dirty="0"/>
              <a:t> </a:t>
            </a:r>
            <a:r>
              <a:rPr lang="en-US" dirty="0" err="1"/>
              <a:t>nhập</a:t>
            </a:r>
            <a:r>
              <a:rPr lang="en-US" dirty="0"/>
              <a:t> </a:t>
            </a:r>
            <a:r>
              <a:rPr lang="en-US" dirty="0" err="1"/>
              <a:t>đã</a:t>
            </a:r>
            <a:r>
              <a:rPr lang="en-US" dirty="0"/>
              <a:t> </a:t>
            </a:r>
            <a:r>
              <a:rPr lang="en-US" dirty="0" err="1"/>
              <a:t>được</a:t>
            </a:r>
            <a:r>
              <a:rPr lang="en-US" dirty="0"/>
              <a:t> </a:t>
            </a:r>
            <a:r>
              <a:rPr lang="en-US" dirty="0" err="1"/>
              <a:t>tạo</a:t>
            </a:r>
            <a:r>
              <a:rPr lang="en-US" dirty="0"/>
              <a:t> + </a:t>
            </a:r>
            <a:r>
              <a:rPr lang="en-US" dirty="0" err="1"/>
              <a:t>giá</a:t>
            </a:r>
            <a:r>
              <a:rPr lang="en-US" dirty="0"/>
              <a:t> </a:t>
            </a:r>
            <a:r>
              <a:rPr lang="en-US" dirty="0" err="1"/>
              <a:t>trị</a:t>
            </a:r>
            <a:r>
              <a:rPr lang="en-US" dirty="0"/>
              <a:t> </a:t>
            </a:r>
            <a:r>
              <a:rPr lang="en-US" dirty="0" err="1"/>
              <a:t>của</a:t>
            </a:r>
            <a:r>
              <a:rPr lang="en-US" dirty="0"/>
              <a:t> cookie.</a:t>
            </a:r>
          </a:p>
        </p:txBody>
      </p:sp>
      <p:sp>
        <p:nvSpPr>
          <p:cNvPr id="4" name="Slide Number Placeholder 3">
            <a:extLst>
              <a:ext uri="{FF2B5EF4-FFF2-40B4-BE49-F238E27FC236}">
                <a16:creationId xmlns:a16="http://schemas.microsoft.com/office/drawing/2014/main" id="{01219724-6BD6-3EB9-4A4C-F09380F4C620}"/>
              </a:ext>
            </a:extLst>
          </p:cNvPr>
          <p:cNvSpPr>
            <a:spLocks noGrp="1"/>
          </p:cNvSpPr>
          <p:nvPr>
            <p:ph type="sldNum" sz="quarter" idx="10"/>
          </p:nvPr>
        </p:nvSpPr>
        <p:spPr/>
        <p:txBody>
          <a:bodyPr/>
          <a:lstStyle/>
          <a:p>
            <a:fld id="{FD4BB625-6399-40EF-8D3C-B968FF32E6CB}" type="slidenum">
              <a:rPr lang="en-US" smtClean="0"/>
              <a:t>10</a:t>
            </a:fld>
            <a:endParaRPr lang="en-US"/>
          </a:p>
        </p:txBody>
      </p:sp>
    </p:spTree>
    <p:extLst>
      <p:ext uri="{BB962C8B-B14F-4D97-AF65-F5344CB8AC3E}">
        <p14:creationId xmlns:p14="http://schemas.microsoft.com/office/powerpoint/2010/main" val="1598174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Đối</a:t>
            </a:r>
            <a:r>
              <a:rPr lang="en-US" dirty="0"/>
              <a:t> </a:t>
            </a:r>
            <a:r>
              <a:rPr lang="en-US" dirty="0" err="1"/>
              <a:t>tượng</a:t>
            </a:r>
            <a:r>
              <a:rPr lang="en-US" dirty="0"/>
              <a:t> Session</a:t>
            </a:r>
          </a:p>
        </p:txBody>
      </p:sp>
      <p:sp>
        <p:nvSpPr>
          <p:cNvPr id="3" name="Content Placeholder 2"/>
          <p:cNvSpPr>
            <a:spLocks noGrp="1"/>
          </p:cNvSpPr>
          <p:nvPr>
            <p:ph idx="1"/>
          </p:nvPr>
        </p:nvSpPr>
        <p:spPr>
          <a:xfrm>
            <a:off x="831852" y="1528219"/>
            <a:ext cx="10367433" cy="3902075"/>
          </a:xfrm>
        </p:spPr>
        <p:txBody>
          <a:bodyPr/>
          <a:lstStyle/>
          <a:p>
            <a:r>
              <a:rPr lang="vi-VN" dirty="0"/>
              <a:t>Đối tượng Session được dùng để lưu trữ thông tin của người dùng trong ứng dụng. </a:t>
            </a:r>
            <a:endParaRPr lang="en-US" dirty="0"/>
          </a:p>
          <a:p>
            <a:r>
              <a:rPr lang="vi-VN" dirty="0"/>
              <a:t>Thông tin được lưu trữ trong Session là của một người dùng trong một phiên làm việc cụ thể. </a:t>
            </a:r>
            <a:endParaRPr lang="en-US" dirty="0"/>
          </a:p>
          <a:p>
            <a:r>
              <a:rPr lang="vi-VN" dirty="0"/>
              <a:t>Web Server sẽ tự động tạo một đối tượng Session cho mỗi người dùng mới kết nối vào ứng dụng và tự động hủy chúng nếu người dùng không còn làm việc với ứng dụng nữa</a:t>
            </a:r>
            <a:r>
              <a:rPr lang="en-US" dirty="0"/>
              <a:t> (</a:t>
            </a:r>
            <a:r>
              <a:rPr lang="en-US" dirty="0" err="1"/>
              <a:t>mặc</a:t>
            </a:r>
            <a:r>
              <a:rPr lang="en-US" dirty="0"/>
              <a:t> </a:t>
            </a:r>
            <a:r>
              <a:rPr lang="en-US" dirty="0" err="1"/>
              <a:t>định</a:t>
            </a:r>
            <a:r>
              <a:rPr lang="en-US" dirty="0"/>
              <a:t> </a:t>
            </a:r>
            <a:r>
              <a:rPr lang="en-US" dirty="0" err="1"/>
              <a:t>là</a:t>
            </a:r>
            <a:r>
              <a:rPr lang="en-US" dirty="0"/>
              <a:t> 20 </a:t>
            </a:r>
            <a:r>
              <a:rPr lang="en-US" dirty="0" err="1"/>
              <a:t>phút</a:t>
            </a:r>
            <a:r>
              <a:rPr lang="en-US" dirty="0"/>
              <a:t>)</a:t>
            </a:r>
            <a:r>
              <a:rPr lang="vi-VN" dirty="0"/>
              <a:t>.</a:t>
            </a:r>
            <a:endParaRPr lang="en-US" dirty="0"/>
          </a:p>
          <a:p>
            <a:r>
              <a:rPr lang="vi-VN" dirty="0"/>
              <a:t>Do sử dụng giao thức HTTP, một giao thức phi trạng thái, Web Server hoàn toàn không ghi nhớ những gì giữa những lần yêu cầu của Client. Đối tượng Session tỏ ra khá hữu hiệu trong việc thực hiện "lưu vết và quản lý thông tin của người dùng"</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11</a:t>
            </a:fld>
            <a:endParaRPr lang="en-US"/>
          </a:p>
        </p:txBody>
      </p:sp>
    </p:spTree>
    <p:extLst>
      <p:ext uri="{BB962C8B-B14F-4D97-AF65-F5344CB8AC3E}">
        <p14:creationId xmlns:p14="http://schemas.microsoft.com/office/powerpoint/2010/main" val="147751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Đối</a:t>
            </a:r>
            <a:r>
              <a:rPr lang="en-US" dirty="0"/>
              <a:t> </a:t>
            </a:r>
            <a:r>
              <a:rPr lang="en-US" dirty="0" err="1"/>
              <a:t>tượng</a:t>
            </a:r>
            <a:r>
              <a:rPr lang="en-US" dirty="0"/>
              <a:t> Session</a:t>
            </a:r>
          </a:p>
        </p:txBody>
      </p:sp>
      <p:sp>
        <p:nvSpPr>
          <p:cNvPr id="3" name="Content Placeholder 2"/>
          <p:cNvSpPr>
            <a:spLocks noGrp="1"/>
          </p:cNvSpPr>
          <p:nvPr>
            <p:ph idx="1"/>
          </p:nvPr>
        </p:nvSpPr>
        <p:spPr>
          <a:xfrm>
            <a:off x="831852" y="1528219"/>
            <a:ext cx="10367433" cy="3902075"/>
          </a:xfrm>
        </p:spPr>
        <p:txBody>
          <a:bodyPr/>
          <a:lstStyle/>
          <a:p>
            <a:r>
              <a:rPr lang="en-US" dirty="0" err="1"/>
              <a:t>Tạo</a:t>
            </a:r>
            <a:r>
              <a:rPr lang="en-US" dirty="0"/>
              <a:t> </a:t>
            </a:r>
            <a:r>
              <a:rPr lang="en-US" dirty="0" err="1"/>
              <a:t>một</a:t>
            </a:r>
            <a:r>
              <a:rPr lang="en-US" dirty="0"/>
              <a:t> Session</a:t>
            </a:r>
          </a:p>
          <a:p>
            <a:pPr lvl="1"/>
            <a:r>
              <a:rPr lang="en-US" dirty="0"/>
              <a:t>C1: </a:t>
            </a:r>
            <a:r>
              <a:rPr lang="en-US" dirty="0" err="1"/>
              <a:t>Session.Add</a:t>
            </a:r>
            <a:r>
              <a:rPr lang="en-US" dirty="0"/>
              <a:t>("Tên_</a:t>
            </a:r>
            <a:r>
              <a:rPr lang="en-US" dirty="0" err="1"/>
              <a:t>Biến</a:t>
            </a:r>
            <a:r>
              <a:rPr lang="en-US" dirty="0"/>
              <a:t>","</a:t>
            </a:r>
            <a:r>
              <a:rPr lang="en-US" dirty="0" err="1"/>
              <a:t>Giá</a:t>
            </a:r>
            <a:r>
              <a:rPr lang="en-US" dirty="0"/>
              <a:t> </a:t>
            </a:r>
            <a:r>
              <a:rPr lang="en-US" dirty="0" err="1"/>
              <a:t>trị</a:t>
            </a:r>
            <a:r>
              <a:rPr lang="en-US" dirty="0"/>
              <a:t> </a:t>
            </a:r>
            <a:r>
              <a:rPr lang="en-US" dirty="0" err="1"/>
              <a:t>khởi</a:t>
            </a:r>
            <a:r>
              <a:rPr lang="en-US" dirty="0"/>
              <a:t> </a:t>
            </a:r>
            <a:r>
              <a:rPr lang="en-US" dirty="0" err="1"/>
              <a:t>tạo</a:t>
            </a:r>
            <a:r>
              <a:rPr lang="en-US" dirty="0"/>
              <a:t>");</a:t>
            </a:r>
          </a:p>
          <a:p>
            <a:pPr lvl="1"/>
            <a:r>
              <a:rPr lang="en-US" dirty="0"/>
              <a:t>C2: Session["</a:t>
            </a:r>
            <a:r>
              <a:rPr lang="en-US" dirty="0" err="1"/>
              <a:t>Tên</a:t>
            </a:r>
            <a:r>
              <a:rPr lang="en-US" dirty="0"/>
              <a:t> </a:t>
            </a:r>
            <a:r>
              <a:rPr lang="en-US" dirty="0" err="1"/>
              <a:t>Biến</a:t>
            </a:r>
            <a:r>
              <a:rPr lang="en-US" dirty="0"/>
              <a:t>"] = </a:t>
            </a:r>
            <a:r>
              <a:rPr lang="en-US" dirty="0" err="1"/>
              <a:t>Giá</a:t>
            </a:r>
            <a:r>
              <a:rPr lang="en-US" dirty="0"/>
              <a:t> </a:t>
            </a:r>
            <a:r>
              <a:rPr lang="en-US" dirty="0" err="1"/>
              <a:t>trị</a:t>
            </a:r>
            <a:r>
              <a:rPr lang="en-US" dirty="0"/>
              <a:t>;</a:t>
            </a:r>
          </a:p>
          <a:p>
            <a:r>
              <a:rPr lang="en-US" dirty="0" err="1"/>
              <a:t>Thuộc</a:t>
            </a:r>
            <a:r>
              <a:rPr lang="en-US" dirty="0"/>
              <a:t> </a:t>
            </a:r>
            <a:r>
              <a:rPr lang="en-US" dirty="0" err="1"/>
              <a:t>tính</a:t>
            </a:r>
            <a:r>
              <a:rPr lang="en-US" dirty="0"/>
              <a:t> </a:t>
            </a:r>
            <a:r>
              <a:rPr lang="en-US" dirty="0" err="1"/>
              <a:t>và</a:t>
            </a:r>
            <a:r>
              <a:rPr lang="en-US" dirty="0"/>
              <a:t> </a:t>
            </a:r>
            <a:r>
              <a:rPr lang="en-US" dirty="0" err="1"/>
              <a:t>phương</a:t>
            </a:r>
            <a:r>
              <a:rPr lang="en-US" dirty="0"/>
              <a:t> </a:t>
            </a:r>
            <a:r>
              <a:rPr lang="en-US" dirty="0" err="1"/>
              <a:t>thức</a:t>
            </a:r>
            <a:r>
              <a:rPr lang="en-US" dirty="0"/>
              <a:t> </a:t>
            </a:r>
            <a:r>
              <a:rPr lang="en-US" dirty="0" err="1"/>
              <a:t>của</a:t>
            </a:r>
            <a:r>
              <a:rPr lang="en-US" dirty="0"/>
              <a:t> Session</a:t>
            </a:r>
          </a:p>
          <a:p>
            <a:pPr lvl="1"/>
            <a:r>
              <a:rPr lang="en-US" dirty="0" err="1"/>
              <a:t>Thuộc</a:t>
            </a:r>
            <a:r>
              <a:rPr lang="en-US" dirty="0"/>
              <a:t> </a:t>
            </a:r>
            <a:r>
              <a:rPr lang="en-US" dirty="0" err="1"/>
              <a:t>tính</a:t>
            </a:r>
            <a:r>
              <a:rPr lang="en-US" dirty="0"/>
              <a:t> timeout: </a:t>
            </a:r>
            <a:r>
              <a:rPr lang="vi-VN" dirty="0"/>
              <a:t>Qui định khoảng thời gian (tính bằng phút) mà Web Server duy trì đối tượng Session nếu người dùng không gởi yêu cầu nào về lại Server. Giá trị mặc định của thuộc tính này là 20</a:t>
            </a:r>
            <a:endParaRPr lang="en-US" dirty="0"/>
          </a:p>
          <a:p>
            <a:pPr lvl="1"/>
            <a:r>
              <a:rPr lang="vi-VN" dirty="0"/>
              <a:t>Phương thức Abandon</a:t>
            </a:r>
            <a:r>
              <a:rPr lang="en-US" dirty="0"/>
              <a:t>: </a:t>
            </a:r>
            <a:r>
              <a:rPr lang="vi-VN" dirty="0"/>
              <a:t>sẽ giải phóng vùng nhớ được dùng  để duy trì đối tượng Session trên Web Server ngay khi được gọi thực hiện. Những yêu cầu sau đó được Web server coi như là một người dùng mới</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12</a:t>
            </a:fld>
            <a:endParaRPr lang="en-US"/>
          </a:p>
        </p:txBody>
      </p:sp>
    </p:spTree>
    <p:extLst>
      <p:ext uri="{BB962C8B-B14F-4D97-AF65-F5344CB8AC3E}">
        <p14:creationId xmlns:p14="http://schemas.microsoft.com/office/powerpoint/2010/main" val="2803539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Đối</a:t>
            </a:r>
            <a:r>
              <a:rPr lang="en-US" dirty="0"/>
              <a:t> </a:t>
            </a:r>
            <a:r>
              <a:rPr lang="en-US" dirty="0" err="1"/>
              <a:t>tượng</a:t>
            </a:r>
            <a:r>
              <a:rPr lang="en-US" dirty="0"/>
              <a:t> Session</a:t>
            </a:r>
          </a:p>
        </p:txBody>
      </p:sp>
      <p:sp>
        <p:nvSpPr>
          <p:cNvPr id="3" name="Content Placeholder 2"/>
          <p:cNvSpPr>
            <a:spLocks noGrp="1"/>
          </p:cNvSpPr>
          <p:nvPr>
            <p:ph idx="1"/>
          </p:nvPr>
        </p:nvSpPr>
        <p:spPr/>
        <p:txBody>
          <a:bodyPr/>
          <a:lstStyle/>
          <a:p>
            <a:r>
              <a:rPr lang="en-US" dirty="0" err="1"/>
              <a:t>Đọc</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một</a:t>
            </a:r>
            <a:r>
              <a:rPr lang="en-US" dirty="0"/>
              <a:t> </a:t>
            </a:r>
            <a:r>
              <a:rPr lang="en-US" dirty="0" err="1"/>
              <a:t>biến</a:t>
            </a:r>
            <a:r>
              <a:rPr lang="en-US" dirty="0"/>
              <a:t> session</a:t>
            </a:r>
          </a:p>
          <a:p>
            <a:pPr lvl="1"/>
            <a:r>
              <a:rPr lang="en-US" dirty="0"/>
              <a:t>&lt;</a:t>
            </a:r>
            <a:r>
              <a:rPr lang="en-US" dirty="0" err="1"/>
              <a:t>Biến</a:t>
            </a:r>
            <a:r>
              <a:rPr lang="en-US" dirty="0"/>
              <a:t>&gt; = Session["</a:t>
            </a:r>
            <a:r>
              <a:rPr lang="en-US" dirty="0" err="1"/>
              <a:t>Tên</a:t>
            </a:r>
            <a:r>
              <a:rPr lang="en-US" dirty="0"/>
              <a:t> </a:t>
            </a:r>
            <a:r>
              <a:rPr lang="en-US" dirty="0" err="1"/>
              <a:t>Biến</a:t>
            </a:r>
            <a:r>
              <a:rPr lang="en-US" dirty="0"/>
              <a:t>"];</a:t>
            </a:r>
          </a:p>
          <a:p>
            <a:r>
              <a:rPr lang="en-US" dirty="0" err="1"/>
              <a:t>Bài</a:t>
            </a:r>
            <a:r>
              <a:rPr lang="en-US" dirty="0"/>
              <a:t> </a:t>
            </a:r>
            <a:r>
              <a:rPr lang="en-US" dirty="0" err="1"/>
              <a:t>tập</a:t>
            </a:r>
            <a:endParaRPr lang="en-US" dirty="0"/>
          </a:p>
          <a:p>
            <a:pPr lvl="1"/>
            <a:r>
              <a:rPr lang="vi-VN" dirty="0"/>
              <a:t>Minh họa sử dụng biến session lưu thông tin của người dùng khi đăng nhập</a:t>
            </a:r>
            <a:r>
              <a:rPr lang="en-US" dirty="0"/>
              <a:t>. </a:t>
            </a:r>
            <a:r>
              <a:rPr lang="en-US" dirty="0" err="1"/>
              <a:t>Nếu</a:t>
            </a:r>
            <a:r>
              <a:rPr lang="en-US" dirty="0"/>
              <a:t> </a:t>
            </a:r>
            <a:r>
              <a:rPr lang="en-US" dirty="0" err="1"/>
              <a:t>người</a:t>
            </a:r>
            <a:r>
              <a:rPr lang="en-US" dirty="0"/>
              <a:t> </a:t>
            </a:r>
            <a:r>
              <a:rPr lang="en-US" dirty="0" err="1"/>
              <a:t>dùng</a:t>
            </a:r>
            <a:r>
              <a:rPr lang="en-US" dirty="0"/>
              <a:t> </a:t>
            </a:r>
            <a:r>
              <a:rPr lang="en-US" dirty="0" err="1"/>
              <a:t>đăng</a:t>
            </a:r>
            <a:r>
              <a:rPr lang="en-US" dirty="0"/>
              <a:t> </a:t>
            </a:r>
            <a:r>
              <a:rPr lang="en-US" dirty="0" err="1"/>
              <a:t>nhập</a:t>
            </a:r>
            <a:r>
              <a:rPr lang="en-US" dirty="0"/>
              <a:t> </a:t>
            </a:r>
            <a:r>
              <a:rPr lang="en-US" dirty="0" err="1"/>
              <a:t>thành</a:t>
            </a:r>
            <a:r>
              <a:rPr lang="en-US" dirty="0"/>
              <a:t> </a:t>
            </a:r>
            <a:r>
              <a:rPr lang="en-US" dirty="0" err="1"/>
              <a:t>công</a:t>
            </a:r>
            <a:r>
              <a:rPr lang="en-US" dirty="0"/>
              <a:t> </a:t>
            </a:r>
            <a:r>
              <a:rPr lang="en-US" dirty="0" err="1"/>
              <a:t>sẽ</a:t>
            </a:r>
            <a:r>
              <a:rPr lang="en-US" dirty="0"/>
              <a:t> </a:t>
            </a:r>
            <a:r>
              <a:rPr lang="en-US" dirty="0" err="1"/>
              <a:t>tạo</a:t>
            </a:r>
            <a:r>
              <a:rPr lang="en-US" dirty="0"/>
              <a:t> 1 session </a:t>
            </a:r>
            <a:r>
              <a:rPr lang="en-US" dirty="0" err="1"/>
              <a:t>lưu</a:t>
            </a:r>
            <a:r>
              <a:rPr lang="en-US" dirty="0"/>
              <a:t> </a:t>
            </a:r>
            <a:r>
              <a:rPr lang="en-US" dirty="0" err="1"/>
              <a:t>tên</a:t>
            </a:r>
            <a:r>
              <a:rPr lang="en-US" dirty="0"/>
              <a:t> </a:t>
            </a:r>
            <a:r>
              <a:rPr lang="en-US" dirty="0" err="1"/>
              <a:t>đăng</a:t>
            </a:r>
            <a:r>
              <a:rPr lang="en-US" dirty="0"/>
              <a:t> </a:t>
            </a:r>
            <a:r>
              <a:rPr lang="en-US" dirty="0" err="1"/>
              <a:t>nhập</a:t>
            </a:r>
            <a:r>
              <a:rPr lang="en-US" dirty="0"/>
              <a:t> </a:t>
            </a:r>
            <a:r>
              <a:rPr lang="en-US" dirty="0" err="1"/>
              <a:t>và</a:t>
            </a:r>
            <a:r>
              <a:rPr lang="en-US" dirty="0"/>
              <a:t> </a:t>
            </a:r>
            <a:r>
              <a:rPr lang="en-US" dirty="0" err="1"/>
              <a:t>truy</a:t>
            </a:r>
            <a:r>
              <a:rPr lang="en-US" dirty="0"/>
              <a:t> </a:t>
            </a:r>
            <a:r>
              <a:rPr lang="en-US" dirty="0" err="1"/>
              <a:t>cập</a:t>
            </a:r>
            <a:r>
              <a:rPr lang="en-US" dirty="0"/>
              <a:t> </a:t>
            </a:r>
            <a:r>
              <a:rPr lang="en-US" dirty="0" err="1"/>
              <a:t>được</a:t>
            </a:r>
            <a:r>
              <a:rPr lang="en-US" dirty="0"/>
              <a:t> </a:t>
            </a:r>
            <a:r>
              <a:rPr lang="en-US" dirty="0" err="1"/>
              <a:t>vào</a:t>
            </a:r>
            <a:r>
              <a:rPr lang="en-US" dirty="0"/>
              <a:t> </a:t>
            </a:r>
            <a:r>
              <a:rPr lang="en-US" dirty="0" err="1"/>
              <a:t>trang</a:t>
            </a:r>
            <a:r>
              <a:rPr lang="en-US" dirty="0"/>
              <a:t> Quản </a:t>
            </a:r>
            <a:r>
              <a:rPr lang="en-US" dirty="0" err="1"/>
              <a:t>trị</a:t>
            </a:r>
            <a:r>
              <a:rPr lang="en-US" dirty="0"/>
              <a:t>, </a:t>
            </a:r>
            <a:r>
              <a:rPr lang="en-US" dirty="0" err="1"/>
              <a:t>người</a:t>
            </a:r>
            <a:r>
              <a:rPr lang="en-US" dirty="0"/>
              <a:t> </a:t>
            </a:r>
            <a:r>
              <a:rPr lang="en-US" dirty="0" err="1"/>
              <a:t>lại</a:t>
            </a:r>
            <a:r>
              <a:rPr lang="en-US" dirty="0"/>
              <a:t> </a:t>
            </a:r>
            <a:r>
              <a:rPr lang="en-US" dirty="0" err="1"/>
              <a:t>sẽ</a:t>
            </a:r>
            <a:r>
              <a:rPr lang="en-US" dirty="0"/>
              <a:t> </a:t>
            </a:r>
            <a:r>
              <a:rPr lang="en-US" dirty="0" err="1"/>
              <a:t>hiển</a:t>
            </a:r>
            <a:r>
              <a:rPr lang="en-US" dirty="0"/>
              <a:t> </a:t>
            </a:r>
            <a:r>
              <a:rPr lang="en-US" dirty="0" err="1"/>
              <a:t>thị</a:t>
            </a:r>
            <a:r>
              <a:rPr lang="en-US" dirty="0"/>
              <a:t> </a:t>
            </a:r>
            <a:r>
              <a:rPr lang="en-US" dirty="0" err="1"/>
              <a:t>thông</a:t>
            </a:r>
            <a:r>
              <a:rPr lang="en-US" dirty="0"/>
              <a:t> </a:t>
            </a:r>
            <a:r>
              <a:rPr lang="en-US" dirty="0" err="1"/>
              <a:t>báo</a:t>
            </a:r>
            <a:r>
              <a:rPr lang="en-US" dirty="0"/>
              <a:t> “</a:t>
            </a:r>
            <a:r>
              <a:rPr lang="en-US" dirty="0" err="1"/>
              <a:t>Tên</a:t>
            </a:r>
            <a:r>
              <a:rPr lang="en-US" dirty="0"/>
              <a:t> </a:t>
            </a:r>
            <a:r>
              <a:rPr lang="en-US" dirty="0" err="1"/>
              <a:t>đăng</a:t>
            </a:r>
            <a:r>
              <a:rPr lang="en-US" dirty="0"/>
              <a:t> </a:t>
            </a:r>
            <a:r>
              <a:rPr lang="en-US" dirty="0" err="1"/>
              <a:t>nhập</a:t>
            </a:r>
            <a:r>
              <a:rPr lang="en-US" dirty="0"/>
              <a:t> </a:t>
            </a:r>
            <a:r>
              <a:rPr lang="en-US" dirty="0" err="1"/>
              <a:t>hoặc</a:t>
            </a:r>
            <a:r>
              <a:rPr lang="en-US" dirty="0"/>
              <a:t> </a:t>
            </a:r>
            <a:r>
              <a:rPr lang="en-US" dirty="0" err="1"/>
              <a:t>mật</a:t>
            </a:r>
            <a:r>
              <a:rPr lang="en-US" dirty="0"/>
              <a:t> </a:t>
            </a:r>
            <a:r>
              <a:rPr lang="en-US" dirty="0" err="1"/>
              <a:t>khẩu</a:t>
            </a:r>
            <a:r>
              <a:rPr lang="en-US" dirty="0"/>
              <a:t> </a:t>
            </a:r>
            <a:r>
              <a:rPr lang="en-US" dirty="0" err="1"/>
              <a:t>sai</a:t>
            </a:r>
            <a:r>
              <a:rPr lang="en-US" dirty="0"/>
              <a:t>, </a:t>
            </a:r>
            <a:r>
              <a:rPr lang="en-US" dirty="0" err="1"/>
              <a:t>hãy</a:t>
            </a:r>
            <a:r>
              <a:rPr lang="en-US" dirty="0"/>
              <a:t> </a:t>
            </a:r>
            <a:r>
              <a:rPr lang="en-US" dirty="0" err="1"/>
              <a:t>đăng</a:t>
            </a:r>
            <a:r>
              <a:rPr lang="en-US" dirty="0"/>
              <a:t> </a:t>
            </a:r>
            <a:r>
              <a:rPr lang="en-US" dirty="0" err="1"/>
              <a:t>nhập</a:t>
            </a:r>
            <a:r>
              <a:rPr lang="en-US" dirty="0"/>
              <a:t> </a:t>
            </a:r>
            <a:r>
              <a:rPr lang="en-US" dirty="0" err="1"/>
              <a:t>lại</a:t>
            </a:r>
            <a:r>
              <a:rPr lang="en-US" dirty="0"/>
              <a:t>”. Trường </a:t>
            </a:r>
            <a:r>
              <a:rPr lang="en-US" dirty="0" err="1"/>
              <a:t>hợp</a:t>
            </a:r>
            <a:r>
              <a:rPr lang="en-US" dirty="0"/>
              <a:t> </a:t>
            </a:r>
            <a:r>
              <a:rPr lang="en-US" dirty="0" err="1"/>
              <a:t>chưa</a:t>
            </a:r>
            <a:r>
              <a:rPr lang="en-US" dirty="0"/>
              <a:t> </a:t>
            </a:r>
            <a:r>
              <a:rPr lang="en-US" dirty="0" err="1"/>
              <a:t>đăng</a:t>
            </a:r>
            <a:r>
              <a:rPr lang="en-US" dirty="0"/>
              <a:t> </a:t>
            </a:r>
            <a:r>
              <a:rPr lang="en-US" dirty="0" err="1"/>
              <a:t>nhập</a:t>
            </a:r>
            <a:r>
              <a:rPr lang="en-US" dirty="0"/>
              <a:t> (</a:t>
            </a:r>
            <a:r>
              <a:rPr lang="en-US" dirty="0" err="1"/>
              <a:t>chưa</a:t>
            </a:r>
            <a:r>
              <a:rPr lang="en-US" dirty="0"/>
              <a:t> </a:t>
            </a:r>
            <a:r>
              <a:rPr lang="en-US" dirty="0" err="1"/>
              <a:t>có</a:t>
            </a:r>
            <a:r>
              <a:rPr lang="en-US" dirty="0"/>
              <a:t> session </a:t>
            </a:r>
            <a:r>
              <a:rPr lang="en-US" dirty="0" err="1"/>
              <a:t>lưu</a:t>
            </a:r>
            <a:r>
              <a:rPr lang="en-US" dirty="0"/>
              <a:t> </a:t>
            </a:r>
            <a:r>
              <a:rPr lang="en-US" dirty="0" err="1"/>
              <a:t>thông</a:t>
            </a:r>
            <a:r>
              <a:rPr lang="en-US" dirty="0"/>
              <a:t> tin </a:t>
            </a:r>
            <a:r>
              <a:rPr lang="en-US" dirty="0" err="1"/>
              <a:t>đăng</a:t>
            </a:r>
            <a:r>
              <a:rPr lang="en-US" dirty="0"/>
              <a:t> </a:t>
            </a:r>
            <a:r>
              <a:rPr lang="en-US" dirty="0" err="1"/>
              <a:t>nhập</a:t>
            </a:r>
            <a:r>
              <a:rPr lang="en-US" dirty="0"/>
              <a:t> </a:t>
            </a:r>
            <a:r>
              <a:rPr lang="en-US" dirty="0" err="1"/>
              <a:t>được</a:t>
            </a:r>
            <a:r>
              <a:rPr lang="en-US" dirty="0"/>
              <a:t> </a:t>
            </a:r>
            <a:r>
              <a:rPr lang="en-US" dirty="0" err="1"/>
              <a:t>tạo</a:t>
            </a:r>
            <a:r>
              <a:rPr lang="en-US" dirty="0"/>
              <a:t>) </a:t>
            </a:r>
            <a:r>
              <a:rPr lang="en-US" dirty="0" err="1"/>
              <a:t>thì</a:t>
            </a:r>
            <a:r>
              <a:rPr lang="en-US" dirty="0"/>
              <a:t> </a:t>
            </a:r>
            <a:r>
              <a:rPr lang="en-US" dirty="0" err="1"/>
              <a:t>sẽ</a:t>
            </a:r>
            <a:r>
              <a:rPr lang="en-US" dirty="0"/>
              <a:t> </a:t>
            </a:r>
            <a:r>
              <a:rPr lang="en-US" dirty="0" err="1"/>
              <a:t>không</a:t>
            </a:r>
            <a:r>
              <a:rPr lang="en-US" dirty="0"/>
              <a:t> </a:t>
            </a:r>
            <a:r>
              <a:rPr lang="en-US" dirty="0" err="1"/>
              <a:t>thể</a:t>
            </a:r>
            <a:r>
              <a:rPr lang="en-US" dirty="0"/>
              <a:t> </a:t>
            </a:r>
            <a:r>
              <a:rPr lang="en-US" dirty="0" err="1"/>
              <a:t>truy</a:t>
            </a:r>
            <a:r>
              <a:rPr lang="en-US" dirty="0"/>
              <a:t> </a:t>
            </a:r>
            <a:r>
              <a:rPr lang="en-US" dirty="0" err="1"/>
              <a:t>cập</a:t>
            </a:r>
            <a:r>
              <a:rPr lang="en-US" dirty="0"/>
              <a:t> </a:t>
            </a:r>
            <a:r>
              <a:rPr lang="en-US" dirty="0" err="1"/>
              <a:t>được</a:t>
            </a:r>
            <a:r>
              <a:rPr lang="en-US" dirty="0"/>
              <a:t> </a:t>
            </a:r>
            <a:r>
              <a:rPr lang="en-US" dirty="0" err="1"/>
              <a:t>vào</a:t>
            </a:r>
            <a:r>
              <a:rPr lang="en-US" dirty="0"/>
              <a:t> </a:t>
            </a:r>
            <a:r>
              <a:rPr lang="en-US" dirty="0" err="1"/>
              <a:t>trang</a:t>
            </a:r>
            <a:r>
              <a:rPr lang="en-US" dirty="0"/>
              <a:t> Quản </a:t>
            </a:r>
            <a:r>
              <a:rPr lang="en-US" dirty="0" err="1"/>
              <a:t>trị</a:t>
            </a:r>
            <a:r>
              <a:rPr lang="en-US"/>
              <a:t>. </a:t>
            </a:r>
            <a:r>
              <a:rPr lang="vi-VN" dirty="0"/>
              <a:t> </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13</a:t>
            </a:fld>
            <a:endParaRPr lang="en-US"/>
          </a:p>
        </p:txBody>
      </p:sp>
    </p:spTree>
    <p:extLst>
      <p:ext uri="{BB962C8B-B14F-4D97-AF65-F5344CB8AC3E}">
        <p14:creationId xmlns:p14="http://schemas.microsoft.com/office/powerpoint/2010/main" val="3025666528"/>
      </p:ext>
    </p:extLst>
  </p:cSld>
  <p:clrMapOvr>
    <a:masterClrMapping/>
  </p:clrMapOvr>
</p:sld>
</file>

<file path=ppt/theme/theme1.xml><?xml version="1.0" encoding="utf-8"?>
<a:theme xmlns:a="http://schemas.openxmlformats.org/drawingml/2006/main" name="theme_baigiang">
  <a:themeElements>
    <a:clrScheme name="System i5 simplify pearl 1">
      <a:dk1>
        <a:srgbClr val="000000"/>
      </a:dk1>
      <a:lt1>
        <a:srgbClr val="FFFFFF"/>
      </a:lt1>
      <a:dk2>
        <a:srgbClr val="7889FB"/>
      </a:dk2>
      <a:lt2>
        <a:srgbClr val="808080"/>
      </a:lt2>
      <a:accent1>
        <a:srgbClr val="7889FB"/>
      </a:accent1>
      <a:accent2>
        <a:srgbClr val="2DB6B3"/>
      </a:accent2>
      <a:accent3>
        <a:srgbClr val="FFFFFF"/>
      </a:accent3>
      <a:accent4>
        <a:srgbClr val="000000"/>
      </a:accent4>
      <a:accent5>
        <a:srgbClr val="BEC4FD"/>
      </a:accent5>
      <a:accent6>
        <a:srgbClr val="28A5A2"/>
      </a:accent6>
      <a:hlink>
        <a:srgbClr val="C0C0C0"/>
      </a:hlink>
      <a:folHlink>
        <a:srgbClr val="D18213"/>
      </a:folHlink>
    </a:clrScheme>
    <a:fontScheme name="System i5 simplify pear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none" lIns="91424" tIns="45712" rIns="91424" bIns="45712" numCol="1" anchor="ctr" anchorCtr="0" compatLnSpc="1">
        <a:prstTxWarp prst="textNoShape">
          <a:avLst/>
        </a:prstTxWarp>
      </a:bodyPr>
      <a:lstStyle>
        <a:defPPr marL="457200" marR="0" indent="-227013" algn="ctr" defTabSz="914400" rtl="0" eaLnBrk="1" fontAlgn="base" latinLnBrk="0" hangingPunct="1">
          <a:lnSpc>
            <a:spcPct val="80000"/>
          </a:lnSpc>
          <a:spcBef>
            <a:spcPct val="25000"/>
          </a:spcBef>
          <a:spcAft>
            <a:spcPct val="15000"/>
          </a:spcAft>
          <a:buClr>
            <a:srgbClr val="6CA6B8"/>
          </a:buClr>
          <a:buSzTx/>
          <a:buFont typeface="Arial" charset="0"/>
          <a:buChar char="–"/>
          <a:tabLst/>
          <a:defRPr kumimoji="0" lang="en-US" sz="1600" b="0" i="0" u="none" strike="noStrike" cap="none" normalizeH="0" baseline="0" smtClean="0">
            <a:ln>
              <a:noFill/>
            </a:ln>
            <a:solidFill>
              <a:schemeClr val="tx1"/>
            </a:solidFill>
            <a:effectLst/>
            <a:latin typeface="Arial" charset="0"/>
            <a:ea typeface="MS PGothic" pitchFamily="34" charset="-128"/>
            <a:cs typeface="Arial" charset="0"/>
          </a:defRPr>
        </a:defPPr>
      </a:lstStyle>
    </a:spDef>
    <a:ln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none" lIns="91424" tIns="45712" rIns="91424" bIns="45712" numCol="1" anchor="ctr" anchorCtr="0" compatLnSpc="1">
        <a:prstTxWarp prst="textNoShape">
          <a:avLst/>
        </a:prstTxWarp>
      </a:bodyPr>
      <a:lstStyle>
        <a:defPPr marL="457200" marR="0" indent="-227013" algn="ctr" defTabSz="914400" rtl="0" eaLnBrk="1" fontAlgn="base" latinLnBrk="0" hangingPunct="1">
          <a:lnSpc>
            <a:spcPct val="80000"/>
          </a:lnSpc>
          <a:spcBef>
            <a:spcPct val="25000"/>
          </a:spcBef>
          <a:spcAft>
            <a:spcPct val="15000"/>
          </a:spcAft>
          <a:buClr>
            <a:srgbClr val="6CA6B8"/>
          </a:buClr>
          <a:buSzTx/>
          <a:buFont typeface="Arial" charset="0"/>
          <a:buChar char="–"/>
          <a:tabLst/>
          <a:defRPr kumimoji="0" lang="en-US" sz="1600" b="0" i="0" u="none" strike="noStrike" cap="none" normalizeH="0" baseline="0" smtClean="0">
            <a:ln>
              <a:noFill/>
            </a:ln>
            <a:solidFill>
              <a:schemeClr val="tx1"/>
            </a:solidFill>
            <a:effectLst/>
            <a:latin typeface="Arial" charset="0"/>
            <a:ea typeface="MS PGothic" pitchFamily="34" charset="-128"/>
            <a:cs typeface="Arial" charset="0"/>
          </a:defRPr>
        </a:defPPr>
      </a:lstStyle>
    </a:lnDef>
  </a:objectDefaults>
  <a:extraClrSchemeLst>
    <a:extraClrScheme>
      <a:clrScheme name="System i5 simplify pearl 1">
        <a:dk1>
          <a:srgbClr val="000000"/>
        </a:dk1>
        <a:lt1>
          <a:srgbClr val="FFFFFF"/>
        </a:lt1>
        <a:dk2>
          <a:srgbClr val="7889FB"/>
        </a:dk2>
        <a:lt2>
          <a:srgbClr val="808080"/>
        </a:lt2>
        <a:accent1>
          <a:srgbClr val="7889FB"/>
        </a:accent1>
        <a:accent2>
          <a:srgbClr val="2DB6B3"/>
        </a:accent2>
        <a:accent3>
          <a:srgbClr val="FFFFFF"/>
        </a:accent3>
        <a:accent4>
          <a:srgbClr val="000000"/>
        </a:accent4>
        <a:accent5>
          <a:srgbClr val="BEC4FD"/>
        </a:accent5>
        <a:accent6>
          <a:srgbClr val="28A5A2"/>
        </a:accent6>
        <a:hlink>
          <a:srgbClr val="C0C0C0"/>
        </a:hlink>
        <a:folHlink>
          <a:srgbClr val="D18213"/>
        </a:folHlink>
      </a:clrScheme>
      <a:clrMap bg1="lt1" tx1="dk1" bg2="lt2" tx2="dk2" accent1="accent1" accent2="accent2" accent3="accent3" accent4="accent4" accent5="accent5" accent6="accent6" hlink="hlink" folHlink="folHlink"/>
    </a:extraClrScheme>
    <a:extraClrScheme>
      <a:clrScheme name="System i5 simplify pearl 2">
        <a:dk1>
          <a:srgbClr val="808080"/>
        </a:dk1>
        <a:lt1>
          <a:srgbClr val="FFFFFF"/>
        </a:lt1>
        <a:dk2>
          <a:srgbClr val="000000"/>
        </a:dk2>
        <a:lt2>
          <a:srgbClr val="CCCCFF"/>
        </a:lt2>
        <a:accent1>
          <a:srgbClr val="7889FB"/>
        </a:accent1>
        <a:accent2>
          <a:srgbClr val="DFFF66"/>
        </a:accent2>
        <a:accent3>
          <a:srgbClr val="AAAAAA"/>
        </a:accent3>
        <a:accent4>
          <a:srgbClr val="DADADA"/>
        </a:accent4>
        <a:accent5>
          <a:srgbClr val="BEC4FD"/>
        </a:accent5>
        <a:accent6>
          <a:srgbClr val="CAE75C"/>
        </a:accent6>
        <a:hlink>
          <a:srgbClr val="C0C0C0"/>
        </a:hlink>
        <a:folHlink>
          <a:srgbClr val="D1821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_baigiang" id="{3BBCB59F-46B3-4750-81BA-6C4F98FE1C04}" vid="{0636B514-BCA1-4FE9-A26C-FDE946C1D7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theme_baigiang</Template>
  <TotalTime>273</TotalTime>
  <Words>1156</Words>
  <Application>Microsoft Office PowerPoint</Application>
  <PresentationFormat>Widescreen</PresentationFormat>
  <Paragraphs>71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MS PGothic</vt:lpstr>
      <vt:lpstr>Arial</vt:lpstr>
      <vt:lpstr>Calibri</vt:lpstr>
      <vt:lpstr>Wingdings</vt:lpstr>
      <vt:lpstr>theme_baigiang</vt:lpstr>
      <vt:lpstr>Chương 4: Quản lý trạng thái</vt:lpstr>
      <vt:lpstr>Nội dung</vt:lpstr>
      <vt:lpstr>1. Đối tượng Cookies</vt:lpstr>
      <vt:lpstr>1. Đối tượng Cookies</vt:lpstr>
      <vt:lpstr>1. Đối tượng Cookies</vt:lpstr>
      <vt:lpstr>1. Đối tượng Cookies</vt:lpstr>
      <vt:lpstr>1.1. Thêm mới một Cookies</vt:lpstr>
      <vt:lpstr>Ví dụ</vt:lpstr>
      <vt:lpstr>1.2. Lấy giá trị của một Cookies</vt:lpstr>
      <vt:lpstr>Bài tập</vt:lpstr>
      <vt:lpstr>2. Đối tượng Session</vt:lpstr>
      <vt:lpstr>2. Đối tượng Session</vt:lpstr>
      <vt:lpstr>2. Đối tượng Session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4: Quản lý trạng thái</dc:title>
  <dc:creator>Admin</dc:creator>
  <cp:lastModifiedBy>Đỗ Thị Nhâm</cp:lastModifiedBy>
  <cp:revision>36</cp:revision>
  <cp:lastPrinted>2019-03-12T08:58:12Z</cp:lastPrinted>
  <dcterms:created xsi:type="dcterms:W3CDTF">2019-02-21T21:28:05Z</dcterms:created>
  <dcterms:modified xsi:type="dcterms:W3CDTF">2026-08-09T15:30:30Z</dcterms:modified>
</cp:coreProperties>
</file>