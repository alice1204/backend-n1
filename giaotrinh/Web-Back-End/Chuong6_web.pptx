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handoutMasterIdLst>
    <p:handoutMasterId r:id="rId22"/>
  </p:handoutMasterIdLst>
  <p:sldIdLst>
    <p:sldId id="256" r:id="rId2"/>
    <p:sldId id="258" r:id="rId3"/>
    <p:sldId id="259" r:id="rId4"/>
    <p:sldId id="260" r:id="rId5"/>
    <p:sldId id="264" r:id="rId6"/>
    <p:sldId id="261" r:id="rId7"/>
    <p:sldId id="262" r:id="rId8"/>
    <p:sldId id="265" r:id="rId9"/>
    <p:sldId id="266" r:id="rId10"/>
    <p:sldId id="267" r:id="rId11"/>
    <p:sldId id="269" r:id="rId12"/>
    <p:sldId id="268" r:id="rId13"/>
    <p:sldId id="270" r:id="rId14"/>
    <p:sldId id="263" r:id="rId15"/>
    <p:sldId id="271" r:id="rId16"/>
    <p:sldId id="272" r:id="rId17"/>
    <p:sldId id="273" r:id="rId18"/>
    <p:sldId id="274" r:id="rId19"/>
    <p:sldId id="275" r:id="rId20"/>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70" d="100"/>
          <a:sy n="70" d="100"/>
        </p:scale>
        <p:origin x="7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DD40E64C-7D88-47A8-981F-53C29696DAF8}" type="datetimeFigureOut">
              <a:rPr lang="en-US" smtClean="0"/>
              <a:t>8/9/2026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0B34706C-F2B6-4025-B169-726FB006EEB6}" type="slidenum">
              <a:rPr lang="en-US" smtClean="0"/>
              <a:t>‹#›</a:t>
            </a:fld>
            <a:endParaRPr lang="en-US"/>
          </a:p>
        </p:txBody>
      </p:sp>
    </p:spTree>
    <p:extLst>
      <p:ext uri="{BB962C8B-B14F-4D97-AF65-F5344CB8AC3E}">
        <p14:creationId xmlns:p14="http://schemas.microsoft.com/office/powerpoint/2010/main" val="22947341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A8DA1CA-247A-4210-85B4-74CA56841286}" type="datetimeFigureOut">
              <a:rPr lang="en-US" smtClean="0"/>
              <a:t>8/9/2026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5EE11A0-B717-4A38-90B1-0A95DDAAFF8B}" type="slidenum">
              <a:rPr lang="en-US" smtClean="0"/>
              <a:t>‹#›</a:t>
            </a:fld>
            <a:endParaRPr lang="en-US"/>
          </a:p>
        </p:txBody>
      </p:sp>
    </p:spTree>
    <p:extLst>
      <p:ext uri="{BB962C8B-B14F-4D97-AF65-F5344CB8AC3E}">
        <p14:creationId xmlns:p14="http://schemas.microsoft.com/office/powerpoint/2010/main" val="2309588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EXTUR~21"/>
          <p:cNvPicPr>
            <a:picLocks noChangeAspect="1" noChangeArrowheads="1"/>
          </p:cNvPicPr>
          <p:nvPr/>
        </p:nvPicPr>
        <p:blipFill>
          <a:blip r:embed="rId2" cstate="print"/>
          <a:srcRect/>
          <a:stretch>
            <a:fillRect/>
          </a:stretch>
        </p:blipFill>
        <p:spPr bwMode="auto">
          <a:xfrm>
            <a:off x="0" y="1690689"/>
            <a:ext cx="12192000" cy="3475037"/>
          </a:xfrm>
          <a:prstGeom prst="rect">
            <a:avLst/>
          </a:prstGeom>
          <a:noFill/>
          <a:ln w="9525">
            <a:noFill/>
            <a:miter lim="800000"/>
            <a:headEnd/>
            <a:tailEnd/>
          </a:ln>
        </p:spPr>
      </p:pic>
      <p:sp>
        <p:nvSpPr>
          <p:cNvPr id="5" name="Rectangle 3"/>
          <p:cNvSpPr>
            <a:spLocks noChangeArrowheads="1"/>
          </p:cNvSpPr>
          <p:nvPr/>
        </p:nvSpPr>
        <p:spPr bwMode="blackWhite">
          <a:xfrm>
            <a:off x="1" y="1"/>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6" name="Rectangle 4"/>
          <p:cNvSpPr>
            <a:spLocks noChangeArrowheads="1"/>
          </p:cNvSpPr>
          <p:nvPr/>
        </p:nvSpPr>
        <p:spPr bwMode="blackWhite">
          <a:xfrm>
            <a:off x="1" y="5164139"/>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 name="Rectangle 8"/>
          <p:cNvSpPr>
            <a:spLocks noChangeArrowheads="1"/>
          </p:cNvSpPr>
          <p:nvPr/>
        </p:nvSpPr>
        <p:spPr bwMode="black">
          <a:xfrm>
            <a:off x="2675467" y="1287464"/>
            <a:ext cx="5471584" cy="306387"/>
          </a:xfrm>
          <a:prstGeom prst="rect">
            <a:avLst/>
          </a:prstGeom>
          <a:noFill/>
          <a:ln w="9525" algn="ctr">
            <a:noFill/>
            <a:miter lim="800000"/>
            <a:headEnd/>
            <a:tailEnd/>
          </a:ln>
          <a:effectLst/>
        </p:spPr>
        <p:txBody>
          <a:bodyPr lIns="18284" tIns="18284" rIns="18284" bIns="18284" anchor="ctr"/>
          <a:lstStyle/>
          <a:p>
            <a:pPr marL="342900" indent="-342900">
              <a:lnSpc>
                <a:spcPct val="98000"/>
              </a:lnSpc>
              <a:spcBef>
                <a:spcPct val="20000"/>
              </a:spcBef>
              <a:defRPr/>
            </a:pPr>
            <a:r>
              <a:rPr lang="en-US" sz="1800" dirty="0" err="1">
                <a:solidFill>
                  <a:srgbClr val="FFFFFF"/>
                </a:solidFill>
                <a:ea typeface="MS PGothic" pitchFamily="34" charset="-128"/>
                <a:cs typeface="+mn-cs"/>
              </a:rPr>
              <a:t>Phát</a:t>
            </a:r>
            <a:r>
              <a:rPr lang="en-US" sz="1800" baseline="0" dirty="0">
                <a:solidFill>
                  <a:srgbClr val="FFFFFF"/>
                </a:solidFill>
                <a:ea typeface="MS PGothic" pitchFamily="34" charset="-128"/>
                <a:cs typeface="+mn-cs"/>
              </a:rPr>
              <a:t> </a:t>
            </a:r>
            <a:r>
              <a:rPr lang="en-US" sz="1800" baseline="0" dirty="0" err="1">
                <a:solidFill>
                  <a:srgbClr val="FFFFFF"/>
                </a:solidFill>
                <a:ea typeface="MS PGothic" pitchFamily="34" charset="-128"/>
                <a:cs typeface="+mn-cs"/>
              </a:rPr>
              <a:t>triển</a:t>
            </a:r>
            <a:r>
              <a:rPr lang="en-US" sz="1800" baseline="0">
                <a:solidFill>
                  <a:srgbClr val="FFFFFF"/>
                </a:solidFill>
                <a:ea typeface="MS PGothic" pitchFamily="34" charset="-128"/>
                <a:cs typeface="+mn-cs"/>
              </a:rPr>
              <a:t> Web Back-End</a:t>
            </a:r>
            <a:endParaRPr lang="en-US" sz="1800" dirty="0">
              <a:solidFill>
                <a:srgbClr val="FFFFFF"/>
              </a:solidFill>
              <a:ea typeface="MS PGothic" pitchFamily="34" charset="-128"/>
              <a:cs typeface="+mn-cs"/>
            </a:endParaRPr>
          </a:p>
        </p:txBody>
      </p:sp>
      <p:sp>
        <p:nvSpPr>
          <p:cNvPr id="8" name="Line 11"/>
          <p:cNvSpPr>
            <a:spLocks noChangeShapeType="1"/>
          </p:cNvSpPr>
          <p:nvPr/>
        </p:nvSpPr>
        <p:spPr bwMode="black">
          <a:xfrm flipV="1">
            <a:off x="2484967" y="4217988"/>
            <a:ext cx="0" cy="933450"/>
          </a:xfrm>
          <a:prstGeom prst="line">
            <a:avLst/>
          </a:prstGeom>
          <a:noFill/>
          <a:ln w="12700">
            <a:solidFill>
              <a:schemeClr val="bg2"/>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9" name="Line 12"/>
          <p:cNvSpPr>
            <a:spLocks noChangeShapeType="1"/>
          </p:cNvSpPr>
          <p:nvPr/>
        </p:nvSpPr>
        <p:spPr bwMode="black">
          <a:xfrm flipV="1">
            <a:off x="2482851" y="1362076"/>
            <a:ext cx="0" cy="328613"/>
          </a:xfrm>
          <a:prstGeom prst="line">
            <a:avLst/>
          </a:prstGeom>
          <a:noFill/>
          <a:ln w="12700">
            <a:solidFill>
              <a:srgbClr val="FFFFFF"/>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11" name="TextBox 10"/>
          <p:cNvSpPr txBox="1"/>
          <p:nvPr/>
        </p:nvSpPr>
        <p:spPr>
          <a:xfrm>
            <a:off x="3556000" y="5410201"/>
            <a:ext cx="7620000" cy="436563"/>
          </a:xfrm>
          <a:prstGeom prst="rect">
            <a:avLst/>
          </a:prstGeom>
          <a:noFill/>
        </p:spPr>
        <p:txBody>
          <a:bodyPr>
            <a:spAutoFit/>
          </a:bodyPr>
          <a:lstStyle/>
          <a:p>
            <a:pPr algn="r">
              <a:lnSpc>
                <a:spcPct val="80000"/>
              </a:lnSpc>
              <a:spcBef>
                <a:spcPct val="25000"/>
              </a:spcBef>
              <a:spcAft>
                <a:spcPct val="15000"/>
              </a:spcAft>
              <a:buClr>
                <a:srgbClr val="6CA6B8"/>
              </a:buClr>
              <a:buFont typeface="Arial" charset="0"/>
              <a:buNone/>
              <a:defRPr/>
            </a:pPr>
            <a:r>
              <a:rPr lang="en-US" sz="2800" b="1" i="1" dirty="0" err="1">
                <a:solidFill>
                  <a:schemeClr val="bg1"/>
                </a:solidFill>
                <a:effectLst>
                  <a:outerShdw blurRad="38100" dist="38100" dir="2700000" algn="tl">
                    <a:srgbClr val="000000">
                      <a:alpha val="43137"/>
                    </a:srgbClr>
                  </a:outerShdw>
                </a:effectLst>
                <a:ea typeface="MS PGothic" pitchFamily="34" charset="-128"/>
                <a:cs typeface="+mn-cs"/>
              </a:rPr>
              <a:t>Khoa</a:t>
            </a:r>
            <a:r>
              <a:rPr lang="en-US" sz="2800" b="1" i="1" dirty="0">
                <a:solidFill>
                  <a:schemeClr val="bg1"/>
                </a:solidFill>
                <a:effectLst>
                  <a:outerShdw blurRad="38100" dist="38100" dir="2700000" algn="tl">
                    <a:srgbClr val="000000">
                      <a:alpha val="43137"/>
                    </a:srgbClr>
                  </a:outerShdw>
                </a:effectLst>
                <a:ea typeface="MS PGothic" pitchFamily="34" charset="-128"/>
                <a:cs typeface="+mn-cs"/>
              </a:rPr>
              <a:t> CNTT – HVNNVN</a:t>
            </a:r>
          </a:p>
        </p:txBody>
      </p:sp>
      <p:sp>
        <p:nvSpPr>
          <p:cNvPr id="8197" name="Rectangle 5"/>
          <p:cNvSpPr>
            <a:spLocks noGrp="1" noChangeArrowheads="1"/>
          </p:cNvSpPr>
          <p:nvPr>
            <p:ph type="ctrTitle"/>
          </p:nvPr>
        </p:nvSpPr>
        <p:spPr bwMode="black">
          <a:xfrm>
            <a:off x="520701" y="2291645"/>
            <a:ext cx="10606617" cy="1672344"/>
          </a:xfrm>
        </p:spPr>
        <p:txBody>
          <a:bodyPr anchor="t"/>
          <a:lstStyle>
            <a:lvl1pPr>
              <a:lnSpc>
                <a:spcPct val="150000"/>
              </a:lnSpc>
              <a:defRPr>
                <a:solidFill>
                  <a:schemeClr val="tx1"/>
                </a:solidFill>
              </a:defRPr>
            </a:lvl1pPr>
          </a:lstStyle>
          <a:p>
            <a:r>
              <a:rPr lang="en-US"/>
              <a:t>Click to edit Master title style</a:t>
            </a:r>
          </a:p>
        </p:txBody>
      </p:sp>
      <p:sp>
        <p:nvSpPr>
          <p:cNvPr id="8198" name="Rectangle 6"/>
          <p:cNvSpPr>
            <a:spLocks noGrp="1" noChangeArrowheads="1"/>
          </p:cNvSpPr>
          <p:nvPr>
            <p:ph type="subTitle" idx="1"/>
          </p:nvPr>
        </p:nvSpPr>
        <p:spPr bwMode="black">
          <a:xfrm>
            <a:off x="2599267" y="4106864"/>
            <a:ext cx="8534400" cy="998537"/>
          </a:xfrm>
        </p:spPr>
        <p:txBody>
          <a:bodyPr/>
          <a:lstStyle>
            <a:lvl1pPr marL="0" indent="0">
              <a:lnSpc>
                <a:spcPct val="90000"/>
              </a:lnSpc>
              <a:spcBef>
                <a:spcPct val="0"/>
              </a:spcBef>
              <a:spcAft>
                <a:spcPct val="0"/>
              </a:spcAft>
              <a:buFont typeface="Wingdings" pitchFamily="2" charset="2"/>
              <a:buNone/>
              <a:defRPr b="0">
                <a:solidFill>
                  <a:srgbClr val="6CA6B8"/>
                </a:solidFill>
              </a:defRPr>
            </a:lvl1pPr>
          </a:lstStyle>
          <a:p>
            <a:r>
              <a:rPr lang="en-US"/>
              <a:t>Click to edit Master subtitle style</a:t>
            </a:r>
          </a:p>
        </p:txBody>
      </p:sp>
      <p:sp>
        <p:nvSpPr>
          <p:cNvPr id="12" name="Rectangle 9"/>
          <p:cNvSpPr>
            <a:spLocks noGrp="1" noChangeArrowheads="1"/>
          </p:cNvSpPr>
          <p:nvPr>
            <p:ph type="ftr" sz="quarter" idx="10"/>
          </p:nvPr>
        </p:nvSpPr>
        <p:spPr>
          <a:xfrm>
            <a:off x="2698751" y="6221413"/>
            <a:ext cx="3862916" cy="311150"/>
          </a:xfrm>
        </p:spPr>
        <p:txBody>
          <a:bodyPr/>
          <a:lstStyle>
            <a:lvl1pPr>
              <a:defRPr sz="1300"/>
            </a:lvl1pPr>
          </a:lstStyle>
          <a:p>
            <a:endParaRPr lang="en-US"/>
          </a:p>
        </p:txBody>
      </p:sp>
    </p:spTree>
    <p:extLst>
      <p:ext uri="{BB962C8B-B14F-4D97-AF65-F5344CB8AC3E}">
        <p14:creationId xmlns:p14="http://schemas.microsoft.com/office/powerpoint/2010/main" val="1874850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50800" dist="38100" dir="2700000" algn="tl" rotWithShape="0">
                    <a:schemeClr val="bg1">
                      <a:lumMod val="65000"/>
                      <a:alpha val="40000"/>
                    </a:schemeClr>
                  </a:outerShdw>
                </a:effectLst>
              </a:defRPr>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31689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4255105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776414"/>
            <a:ext cx="5082117"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37001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8"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656427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4"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017727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3"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398264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66016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453164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845181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13233" y="871538"/>
            <a:ext cx="2768600" cy="48069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5318" y="871538"/>
            <a:ext cx="8104716" cy="48069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793857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318" y="871539"/>
            <a:ext cx="10993967" cy="498475"/>
          </a:xfrm>
        </p:spPr>
        <p:txBody>
          <a:bodyPr/>
          <a:lstStyle/>
          <a:p>
            <a:r>
              <a:rPr lang="en-US"/>
              <a:t>Click to edit Master title style</a:t>
            </a:r>
          </a:p>
        </p:txBody>
      </p:sp>
      <p:sp>
        <p:nvSpPr>
          <p:cNvPr id="3" name="Text Placeholder 2"/>
          <p:cNvSpPr>
            <a:spLocks noGrp="1"/>
          </p:cNvSpPr>
          <p:nvPr>
            <p:ph type="body" sz="half" idx="1"/>
          </p:nvPr>
        </p:nvSpPr>
        <p:spPr>
          <a:xfrm>
            <a:off x="914400" y="1776414"/>
            <a:ext cx="5082117"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31558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21"/>
          <p:cNvPicPr>
            <a:picLocks noChangeArrowheads="1"/>
          </p:cNvPicPr>
          <p:nvPr/>
        </p:nvPicPr>
        <p:blipFill>
          <a:blip r:embed="rId14" cstate="print"/>
          <a:srcRect b="467"/>
          <a:stretch>
            <a:fillRect/>
          </a:stretch>
        </p:blipFill>
        <p:spPr bwMode="auto">
          <a:xfrm>
            <a:off x="0" y="6470651"/>
            <a:ext cx="12192000" cy="385763"/>
          </a:xfrm>
          <a:prstGeom prst="rect">
            <a:avLst/>
          </a:prstGeom>
          <a:noFill/>
          <a:ln w="9525">
            <a:noFill/>
            <a:miter lim="800000"/>
            <a:headEnd/>
            <a:tailEnd/>
          </a:ln>
        </p:spPr>
      </p:pic>
      <p:pic>
        <p:nvPicPr>
          <p:cNvPr id="1027" name="Picture 3" descr="21"/>
          <p:cNvPicPr>
            <a:picLocks noChangeAspect="1" noChangeArrowheads="1"/>
          </p:cNvPicPr>
          <p:nvPr/>
        </p:nvPicPr>
        <p:blipFill>
          <a:blip r:embed="rId15" cstate="print"/>
          <a:srcRect/>
          <a:stretch>
            <a:fillRect/>
          </a:stretch>
        </p:blipFill>
        <p:spPr bwMode="auto">
          <a:xfrm>
            <a:off x="0" y="1"/>
            <a:ext cx="12192000" cy="384175"/>
          </a:xfrm>
          <a:prstGeom prst="rect">
            <a:avLst/>
          </a:prstGeom>
          <a:noFill/>
          <a:ln w="9525">
            <a:noFill/>
            <a:miter lim="800000"/>
            <a:headEnd/>
            <a:tailEnd/>
          </a:ln>
        </p:spPr>
      </p:pic>
      <p:sp>
        <p:nvSpPr>
          <p:cNvPr id="1028" name="Rectangle 4"/>
          <p:cNvSpPr>
            <a:spLocks noGrp="1" noChangeArrowheads="1"/>
          </p:cNvSpPr>
          <p:nvPr>
            <p:ph type="title"/>
          </p:nvPr>
        </p:nvSpPr>
        <p:spPr bwMode="auto">
          <a:xfrm>
            <a:off x="205318" y="871539"/>
            <a:ext cx="10993967" cy="498475"/>
          </a:xfrm>
          <a:prstGeom prst="rect">
            <a:avLst/>
          </a:prstGeom>
          <a:noFill/>
          <a:ln w="9525" algn="ctr">
            <a:noFill/>
            <a:miter lim="800000"/>
            <a:headEnd/>
            <a:tailEnd/>
          </a:ln>
        </p:spPr>
        <p:txBody>
          <a:bodyPr vert="horz" wrap="square" lIns="91424" tIns="45712" rIns="91424" bIns="45712" numCol="1" anchor="b"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auto">
          <a:xfrm>
            <a:off x="914401" y="1776414"/>
            <a:ext cx="10367433"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174" name="Text Box 6"/>
          <p:cNvSpPr txBox="1">
            <a:spLocks noChangeArrowheads="1"/>
          </p:cNvSpPr>
          <p:nvPr/>
        </p:nvSpPr>
        <p:spPr bwMode="black">
          <a:xfrm>
            <a:off x="1320801" y="52389"/>
            <a:ext cx="9912351" cy="307975"/>
          </a:xfrm>
          <a:prstGeom prst="rect">
            <a:avLst/>
          </a:prstGeom>
          <a:noFill/>
          <a:ln w="9525">
            <a:noFill/>
            <a:miter lim="800000"/>
            <a:headEnd/>
            <a:tailEnd/>
          </a:ln>
          <a:effectLst/>
        </p:spPr>
        <p:txBody>
          <a:bodyPr lIns="91424" tIns="45712" rIns="91424" bIns="45712">
            <a:spAutoFit/>
          </a:bodyPr>
          <a:lstStyle/>
          <a:p>
            <a:pPr eaLnBrk="0" hangingPunct="0">
              <a:defRPr/>
            </a:pPr>
            <a:r>
              <a:rPr lang="en-US" sz="1400" dirty="0" err="1">
                <a:solidFill>
                  <a:srgbClr val="FFFFFF"/>
                </a:solidFill>
                <a:ea typeface="MS PGothic" pitchFamily="34" charset="-128"/>
                <a:cs typeface="+mn-cs"/>
              </a:rPr>
              <a:t>Phát</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triển</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ứng</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dụng</a:t>
            </a:r>
            <a:r>
              <a:rPr lang="en-US" sz="1400" baseline="0" dirty="0">
                <a:solidFill>
                  <a:srgbClr val="FFFFFF"/>
                </a:solidFill>
                <a:ea typeface="MS PGothic" pitchFamily="34" charset="-128"/>
                <a:cs typeface="+mn-cs"/>
              </a:rPr>
              <a:t> Web 2</a:t>
            </a:r>
            <a:endParaRPr lang="en-US" sz="1400" dirty="0">
              <a:solidFill>
                <a:srgbClr val="FFFFFF"/>
              </a:solidFill>
              <a:ea typeface="MS PGothic" pitchFamily="34" charset="-128"/>
              <a:cs typeface="+mn-cs"/>
            </a:endParaRPr>
          </a:p>
        </p:txBody>
      </p:sp>
      <p:sp>
        <p:nvSpPr>
          <p:cNvPr id="7175" name="Rectangle 7"/>
          <p:cNvSpPr>
            <a:spLocks noChangeArrowheads="1"/>
          </p:cNvSpPr>
          <p:nvPr/>
        </p:nvSpPr>
        <p:spPr bwMode="black">
          <a:xfrm>
            <a:off x="4991101" y="6546851"/>
            <a:ext cx="3136900" cy="246063"/>
          </a:xfrm>
          <a:prstGeom prst="rect">
            <a:avLst/>
          </a:prstGeom>
          <a:noFill/>
          <a:ln w="9525">
            <a:noFill/>
            <a:miter lim="800000"/>
            <a:headEnd/>
            <a:tailEnd/>
          </a:ln>
          <a:effectLst/>
        </p:spPr>
        <p:txBody>
          <a:bodyPr lIns="91424" tIns="45712" rIns="91424" bIns="45712">
            <a:spAutoFit/>
          </a:bodyPr>
          <a:lstStyle/>
          <a:p>
            <a:pPr algn="ctr" eaLnBrk="0" hangingPunct="0">
              <a:defRPr/>
            </a:pPr>
            <a:r>
              <a:rPr lang="en-US" sz="1000" dirty="0" err="1">
                <a:solidFill>
                  <a:srgbClr val="FFFFFF"/>
                </a:solidFill>
                <a:ea typeface="MS PGothic" pitchFamily="34" charset="-128"/>
                <a:cs typeface="+mn-cs"/>
              </a:rPr>
              <a:t>Khoa</a:t>
            </a:r>
            <a:r>
              <a:rPr lang="en-US" sz="1000" dirty="0">
                <a:solidFill>
                  <a:srgbClr val="FFFFFF"/>
                </a:solidFill>
                <a:ea typeface="MS PGothic" pitchFamily="34" charset="-128"/>
                <a:cs typeface="+mn-cs"/>
              </a:rPr>
              <a:t> CNTT - HVNNVN</a:t>
            </a:r>
          </a:p>
        </p:txBody>
      </p:sp>
      <p:sp>
        <p:nvSpPr>
          <p:cNvPr id="7177" name="Rectangle 9"/>
          <p:cNvSpPr>
            <a:spLocks noGrp="1" noChangeArrowheads="1"/>
          </p:cNvSpPr>
          <p:nvPr>
            <p:ph type="sldNum" sz="quarter" idx="4"/>
          </p:nvPr>
        </p:nvSpPr>
        <p:spPr bwMode="black">
          <a:xfrm>
            <a:off x="205318" y="6500814"/>
            <a:ext cx="1341967" cy="320675"/>
          </a:xfrm>
          <a:prstGeom prst="rect">
            <a:avLst/>
          </a:prstGeom>
          <a:noFill/>
          <a:ln w="9525" algn="ctr">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50000"/>
              </a:spcBef>
              <a:spcAft>
                <a:spcPct val="0"/>
              </a:spcAft>
              <a:buClrTx/>
              <a:buFontTx/>
              <a:buNone/>
              <a:defRPr sz="1000" b="1">
                <a:solidFill>
                  <a:srgbClr val="FFFFFF"/>
                </a:solidFill>
                <a:ea typeface="MS PGothic" pitchFamily="34" charset="-128"/>
                <a:cs typeface="+mn-cs"/>
              </a:defRPr>
            </a:lvl1pPr>
          </a:lstStyle>
          <a:p>
            <a:fld id="{FD4BB625-6399-40EF-8D3C-B968FF32E6CB}" type="slidenum">
              <a:rPr lang="en-US" smtClean="0"/>
              <a:t>‹#›</a:t>
            </a:fld>
            <a:endParaRPr lang="en-US"/>
          </a:p>
        </p:txBody>
      </p:sp>
      <p:sp>
        <p:nvSpPr>
          <p:cNvPr id="7178" name="Rectangle 10"/>
          <p:cNvSpPr>
            <a:spLocks noGrp="1" noChangeArrowheads="1"/>
          </p:cNvSpPr>
          <p:nvPr>
            <p:ph type="ftr" sz="quarter" idx="3"/>
          </p:nvPr>
        </p:nvSpPr>
        <p:spPr bwMode="auto">
          <a:xfrm>
            <a:off x="1725085" y="6510338"/>
            <a:ext cx="2542116" cy="304800"/>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000">
                <a:solidFill>
                  <a:srgbClr val="FFFFFF"/>
                </a:solidFill>
                <a:ea typeface="MS PGothic" pitchFamily="34" charset="-128"/>
                <a:cs typeface="+mn-cs"/>
              </a:defRPr>
            </a:lvl1pPr>
          </a:lstStyle>
          <a:p>
            <a:endParaRPr lang="en-US"/>
          </a:p>
        </p:txBody>
      </p:sp>
      <p:sp>
        <p:nvSpPr>
          <p:cNvPr id="7179" name="Line 11"/>
          <p:cNvSpPr>
            <a:spLocks noChangeShapeType="1"/>
          </p:cNvSpPr>
          <p:nvPr/>
        </p:nvSpPr>
        <p:spPr bwMode="black">
          <a:xfrm>
            <a:off x="1320800" y="147638"/>
            <a:ext cx="0" cy="234950"/>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180" name="Line 12"/>
          <p:cNvSpPr>
            <a:spLocks noChangeShapeType="1"/>
          </p:cNvSpPr>
          <p:nvPr/>
        </p:nvSpPr>
        <p:spPr bwMode="black">
          <a:xfrm>
            <a:off x="1320800" y="6470650"/>
            <a:ext cx="0" cy="192088"/>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Tree>
    <p:extLst>
      <p:ext uri="{BB962C8B-B14F-4D97-AF65-F5344CB8AC3E}">
        <p14:creationId xmlns:p14="http://schemas.microsoft.com/office/powerpoint/2010/main" val="1253632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lnSpc>
          <a:spcPct val="90000"/>
        </a:lnSpc>
        <a:spcBef>
          <a:spcPct val="0"/>
        </a:spcBef>
        <a:spcAft>
          <a:spcPct val="0"/>
        </a:spcAft>
        <a:defRPr sz="2800">
          <a:solidFill>
            <a:srgbClr val="6CA6B8"/>
          </a:solidFill>
          <a:latin typeface="+mj-lt"/>
          <a:ea typeface="+mj-ea"/>
          <a:cs typeface="+mj-cs"/>
        </a:defRPr>
      </a:lvl1pPr>
      <a:lvl2pPr algn="l" rtl="0" eaLnBrk="1" fontAlgn="base" hangingPunct="1">
        <a:lnSpc>
          <a:spcPct val="90000"/>
        </a:lnSpc>
        <a:spcBef>
          <a:spcPct val="0"/>
        </a:spcBef>
        <a:spcAft>
          <a:spcPct val="0"/>
        </a:spcAft>
        <a:defRPr sz="2800">
          <a:solidFill>
            <a:srgbClr val="6CA6B8"/>
          </a:solidFill>
          <a:latin typeface="Arial" charset="0"/>
          <a:cs typeface="Arial" charset="0"/>
        </a:defRPr>
      </a:lvl2pPr>
      <a:lvl3pPr algn="l" rtl="0" eaLnBrk="1" fontAlgn="base" hangingPunct="1">
        <a:lnSpc>
          <a:spcPct val="90000"/>
        </a:lnSpc>
        <a:spcBef>
          <a:spcPct val="0"/>
        </a:spcBef>
        <a:spcAft>
          <a:spcPct val="0"/>
        </a:spcAft>
        <a:defRPr sz="2800">
          <a:solidFill>
            <a:srgbClr val="6CA6B8"/>
          </a:solidFill>
          <a:latin typeface="Arial" charset="0"/>
          <a:cs typeface="Arial" charset="0"/>
        </a:defRPr>
      </a:lvl3pPr>
      <a:lvl4pPr algn="l" rtl="0" eaLnBrk="1" fontAlgn="base" hangingPunct="1">
        <a:lnSpc>
          <a:spcPct val="90000"/>
        </a:lnSpc>
        <a:spcBef>
          <a:spcPct val="0"/>
        </a:spcBef>
        <a:spcAft>
          <a:spcPct val="0"/>
        </a:spcAft>
        <a:defRPr sz="2800">
          <a:solidFill>
            <a:srgbClr val="6CA6B8"/>
          </a:solidFill>
          <a:latin typeface="Arial" charset="0"/>
          <a:cs typeface="Arial" charset="0"/>
        </a:defRPr>
      </a:lvl4pPr>
      <a:lvl5pPr algn="l" rtl="0" eaLnBrk="1" fontAlgn="base" hangingPunct="1">
        <a:lnSpc>
          <a:spcPct val="90000"/>
        </a:lnSpc>
        <a:spcBef>
          <a:spcPct val="0"/>
        </a:spcBef>
        <a:spcAft>
          <a:spcPct val="0"/>
        </a:spcAft>
        <a:defRPr sz="2800">
          <a:solidFill>
            <a:srgbClr val="6CA6B8"/>
          </a:solidFill>
          <a:latin typeface="Arial" charset="0"/>
          <a:cs typeface="Arial" charset="0"/>
        </a:defRPr>
      </a:lvl5pPr>
      <a:lvl6pPr marL="457200" algn="l" rtl="0" eaLnBrk="1" fontAlgn="base" hangingPunct="1">
        <a:lnSpc>
          <a:spcPct val="90000"/>
        </a:lnSpc>
        <a:spcBef>
          <a:spcPct val="0"/>
        </a:spcBef>
        <a:spcAft>
          <a:spcPct val="0"/>
        </a:spcAft>
        <a:defRPr sz="2800">
          <a:solidFill>
            <a:srgbClr val="6CA6B8"/>
          </a:solidFill>
          <a:latin typeface="Arial" charset="0"/>
          <a:cs typeface="Arial" charset="0"/>
        </a:defRPr>
      </a:lvl6pPr>
      <a:lvl7pPr marL="914400" algn="l" rtl="0" eaLnBrk="1" fontAlgn="base" hangingPunct="1">
        <a:lnSpc>
          <a:spcPct val="90000"/>
        </a:lnSpc>
        <a:spcBef>
          <a:spcPct val="0"/>
        </a:spcBef>
        <a:spcAft>
          <a:spcPct val="0"/>
        </a:spcAft>
        <a:defRPr sz="2800">
          <a:solidFill>
            <a:srgbClr val="6CA6B8"/>
          </a:solidFill>
          <a:latin typeface="Arial" charset="0"/>
          <a:cs typeface="Arial" charset="0"/>
        </a:defRPr>
      </a:lvl7pPr>
      <a:lvl8pPr marL="1371600" algn="l" rtl="0" eaLnBrk="1" fontAlgn="base" hangingPunct="1">
        <a:lnSpc>
          <a:spcPct val="90000"/>
        </a:lnSpc>
        <a:spcBef>
          <a:spcPct val="0"/>
        </a:spcBef>
        <a:spcAft>
          <a:spcPct val="0"/>
        </a:spcAft>
        <a:defRPr sz="2800">
          <a:solidFill>
            <a:srgbClr val="6CA6B8"/>
          </a:solidFill>
          <a:latin typeface="Arial" charset="0"/>
          <a:cs typeface="Arial" charset="0"/>
        </a:defRPr>
      </a:lvl8pPr>
      <a:lvl9pPr marL="1828800" algn="l" rtl="0" eaLnBrk="1" fontAlgn="base" hangingPunct="1">
        <a:lnSpc>
          <a:spcPct val="90000"/>
        </a:lnSpc>
        <a:spcBef>
          <a:spcPct val="0"/>
        </a:spcBef>
        <a:spcAft>
          <a:spcPct val="0"/>
        </a:spcAft>
        <a:defRPr sz="2800">
          <a:solidFill>
            <a:srgbClr val="6CA6B8"/>
          </a:solidFill>
          <a:latin typeface="Arial" charset="0"/>
          <a:cs typeface="Arial" charset="0"/>
        </a:defRPr>
      </a:lvl9pPr>
    </p:titleStyle>
    <p:body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Chương</a:t>
            </a:r>
            <a:r>
              <a:rPr lang="en-US" dirty="0"/>
              <a:t> 6: Web Service</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6980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Nội</a:t>
            </a:r>
            <a:r>
              <a:rPr lang="en-US" dirty="0"/>
              <a:t> dung</a:t>
            </a:r>
          </a:p>
        </p:txBody>
      </p:sp>
      <p:sp>
        <p:nvSpPr>
          <p:cNvPr id="3" name="Content Placeholder 2"/>
          <p:cNvSpPr>
            <a:spLocks noGrp="1"/>
          </p:cNvSpPr>
          <p:nvPr>
            <p:ph idx="1"/>
          </p:nvPr>
        </p:nvSpPr>
        <p:spPr>
          <a:xfrm>
            <a:off x="831852" y="1854791"/>
            <a:ext cx="10367433" cy="3902075"/>
          </a:xfrm>
        </p:spPr>
        <p:txBody>
          <a:bodyPr/>
          <a:lstStyle/>
          <a:p>
            <a:r>
              <a:rPr lang="en-US" dirty="0" err="1"/>
              <a:t>Giới</a:t>
            </a:r>
            <a:r>
              <a:rPr lang="en-US" dirty="0"/>
              <a:t> </a:t>
            </a:r>
            <a:r>
              <a:rPr lang="en-US" dirty="0" err="1"/>
              <a:t>thiệu</a:t>
            </a:r>
            <a:r>
              <a:rPr lang="en-US" dirty="0"/>
              <a:t> </a:t>
            </a:r>
            <a:r>
              <a:rPr lang="en-US" dirty="0" err="1"/>
              <a:t>về</a:t>
            </a:r>
            <a:r>
              <a:rPr lang="en-US" dirty="0"/>
              <a:t> Web service</a:t>
            </a:r>
          </a:p>
          <a:p>
            <a:r>
              <a:rPr lang="en-US" dirty="0" err="1"/>
              <a:t>Xây</a:t>
            </a:r>
            <a:r>
              <a:rPr lang="en-US" dirty="0"/>
              <a:t> </a:t>
            </a:r>
            <a:r>
              <a:rPr lang="en-US" dirty="0" err="1"/>
              <a:t>dựng</a:t>
            </a:r>
            <a:r>
              <a:rPr lang="en-US" dirty="0"/>
              <a:t> Web service </a:t>
            </a:r>
            <a:r>
              <a:rPr lang="en-US" dirty="0" err="1"/>
              <a:t>với</a:t>
            </a:r>
            <a:r>
              <a:rPr lang="en-US" dirty="0"/>
              <a:t> ASP.NET</a:t>
            </a:r>
          </a:p>
          <a:p>
            <a:r>
              <a:rPr lang="en-US" dirty="0" err="1"/>
              <a:t>Sử</a:t>
            </a:r>
            <a:r>
              <a:rPr lang="en-US" dirty="0"/>
              <a:t> </a:t>
            </a:r>
            <a:r>
              <a:rPr lang="en-US" dirty="0" err="1"/>
              <a:t>dụng</a:t>
            </a:r>
            <a:r>
              <a:rPr lang="en-US" dirty="0"/>
              <a:t> Web service</a:t>
            </a:r>
          </a:p>
          <a:p>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2</a:t>
            </a:fld>
            <a:endParaRPr lang="en-US"/>
          </a:p>
        </p:txBody>
      </p:sp>
    </p:spTree>
    <p:extLst>
      <p:ext uri="{BB962C8B-B14F-4D97-AF65-F5344CB8AC3E}">
        <p14:creationId xmlns:p14="http://schemas.microsoft.com/office/powerpoint/2010/main" val="48020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Giới</a:t>
            </a:r>
            <a:r>
              <a:rPr lang="en-US" dirty="0"/>
              <a:t> </a:t>
            </a:r>
            <a:r>
              <a:rPr lang="en-US" dirty="0" err="1"/>
              <a:t>thiệu</a:t>
            </a:r>
            <a:r>
              <a:rPr lang="en-US" dirty="0"/>
              <a:t> </a:t>
            </a:r>
            <a:r>
              <a:rPr lang="en-US" dirty="0" err="1"/>
              <a:t>về</a:t>
            </a:r>
            <a:r>
              <a:rPr lang="en-US" dirty="0"/>
              <a:t> Web service</a:t>
            </a:r>
          </a:p>
        </p:txBody>
      </p:sp>
      <p:sp>
        <p:nvSpPr>
          <p:cNvPr id="3" name="Content Placeholder 2"/>
          <p:cNvSpPr>
            <a:spLocks noGrp="1"/>
          </p:cNvSpPr>
          <p:nvPr>
            <p:ph idx="1"/>
          </p:nvPr>
        </p:nvSpPr>
        <p:spPr/>
        <p:txBody>
          <a:bodyPr/>
          <a:lstStyle/>
          <a:p>
            <a:r>
              <a:rPr lang="en-US" dirty="0" err="1"/>
              <a:t>Khái</a:t>
            </a:r>
            <a:r>
              <a:rPr lang="en-US" dirty="0"/>
              <a:t> </a:t>
            </a:r>
            <a:r>
              <a:rPr lang="en-US" dirty="0" err="1"/>
              <a:t>niệm</a:t>
            </a:r>
            <a:r>
              <a:rPr lang="en-US" dirty="0"/>
              <a:t> </a:t>
            </a:r>
            <a:r>
              <a:rPr lang="en-US" dirty="0" err="1"/>
              <a:t>về</a:t>
            </a:r>
            <a:r>
              <a:rPr lang="en-US" dirty="0"/>
              <a:t> Web service</a:t>
            </a:r>
          </a:p>
          <a:p>
            <a:r>
              <a:rPr lang="en-US" dirty="0" err="1"/>
              <a:t>Đặc</a:t>
            </a:r>
            <a:r>
              <a:rPr lang="en-US" dirty="0"/>
              <a:t> </a:t>
            </a:r>
            <a:r>
              <a:rPr lang="en-US" dirty="0" err="1"/>
              <a:t>điểm</a:t>
            </a:r>
            <a:r>
              <a:rPr lang="en-US" dirty="0"/>
              <a:t> </a:t>
            </a:r>
            <a:r>
              <a:rPr lang="en-US" dirty="0" err="1"/>
              <a:t>của</a:t>
            </a:r>
            <a:r>
              <a:rPr lang="en-US" dirty="0"/>
              <a:t> </a:t>
            </a:r>
            <a:r>
              <a:rPr lang="en-US" dirty="0" err="1"/>
              <a:t>hệ</a:t>
            </a:r>
            <a:r>
              <a:rPr lang="en-US" dirty="0"/>
              <a:t> </a:t>
            </a:r>
            <a:r>
              <a:rPr lang="en-US" dirty="0" err="1"/>
              <a:t>thống</a:t>
            </a:r>
            <a:r>
              <a:rPr lang="en-US" dirty="0"/>
              <a:t> Web service</a:t>
            </a:r>
          </a:p>
          <a:p>
            <a:r>
              <a:rPr lang="en-US" dirty="0" err="1"/>
              <a:t>Kiến</a:t>
            </a:r>
            <a:r>
              <a:rPr lang="en-US" dirty="0"/>
              <a:t> </a:t>
            </a:r>
            <a:r>
              <a:rPr lang="en-US" dirty="0" err="1"/>
              <a:t>trúc</a:t>
            </a:r>
            <a:r>
              <a:rPr lang="en-US" dirty="0"/>
              <a:t> </a:t>
            </a:r>
            <a:r>
              <a:rPr lang="en-US" dirty="0" err="1"/>
              <a:t>của</a:t>
            </a:r>
            <a:r>
              <a:rPr lang="en-US" dirty="0"/>
              <a:t> Web service</a:t>
            </a:r>
          </a:p>
          <a:p>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3</a:t>
            </a:fld>
            <a:endParaRPr lang="en-US"/>
          </a:p>
        </p:txBody>
      </p:sp>
    </p:spTree>
    <p:extLst>
      <p:ext uri="{BB962C8B-B14F-4D97-AF65-F5344CB8AC3E}">
        <p14:creationId xmlns:p14="http://schemas.microsoft.com/office/powerpoint/2010/main" val="60065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Khái</a:t>
            </a:r>
            <a:r>
              <a:rPr lang="en-US" dirty="0"/>
              <a:t> </a:t>
            </a:r>
            <a:r>
              <a:rPr lang="en-US" dirty="0" err="1"/>
              <a:t>niệm</a:t>
            </a:r>
            <a:r>
              <a:rPr lang="en-US" dirty="0"/>
              <a:t> </a:t>
            </a:r>
            <a:r>
              <a:rPr lang="en-US" dirty="0" err="1"/>
              <a:t>về</a:t>
            </a:r>
            <a:r>
              <a:rPr lang="en-US" dirty="0"/>
              <a:t> Web service</a:t>
            </a:r>
          </a:p>
        </p:txBody>
      </p:sp>
      <p:sp>
        <p:nvSpPr>
          <p:cNvPr id="3" name="Content Placeholder 2"/>
          <p:cNvSpPr>
            <a:spLocks noGrp="1"/>
          </p:cNvSpPr>
          <p:nvPr>
            <p:ph idx="1"/>
          </p:nvPr>
        </p:nvSpPr>
        <p:spPr/>
        <p:txBody>
          <a:bodyPr/>
          <a:lstStyle/>
          <a:p>
            <a:r>
              <a:rPr lang="vi-VN" dirty="0"/>
              <a:t>Web service (tên gọi tiếng anh của dịch vụ web) là tập hợp các giao thức và tiêu chuẩn mở được sử dụng để trao đổi dữ liệu giữa các ứng dụng hoặc giữa các hệ thống. </a:t>
            </a:r>
            <a:endParaRPr lang="en-US" dirty="0"/>
          </a:p>
          <a:p>
            <a:r>
              <a:rPr lang="vi-VN" dirty="0"/>
              <a:t>Các ứng dụng phần mềm được viết bằng các ngôn ngữ lập trình khác nhau và chạy trên các nền tảng khác nhau. </a:t>
            </a:r>
            <a:endParaRPr lang="en-US" dirty="0"/>
          </a:p>
          <a:p>
            <a:r>
              <a:rPr lang="vi-VN" dirty="0"/>
              <a:t>Chúng ta có thể sử dụng các dịch vụ web để trao đổi dữ liệu qua mạng máy tính (như Internet) theo cách tương tự như liên lạc giữa các quá trình trên một máy tính</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4</a:t>
            </a:fld>
            <a:endParaRPr lang="en-US"/>
          </a:p>
        </p:txBody>
      </p:sp>
    </p:spTree>
    <p:extLst>
      <p:ext uri="{BB962C8B-B14F-4D97-AF65-F5344CB8AC3E}">
        <p14:creationId xmlns:p14="http://schemas.microsoft.com/office/powerpoint/2010/main" val="4166156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a:t>
            </a:r>
            <a:r>
              <a:rPr lang="en-US" dirty="0" err="1"/>
              <a:t>Khái</a:t>
            </a:r>
            <a:r>
              <a:rPr lang="en-US" dirty="0"/>
              <a:t> </a:t>
            </a:r>
            <a:r>
              <a:rPr lang="en-US" dirty="0" err="1"/>
              <a:t>niệm</a:t>
            </a:r>
            <a:r>
              <a:rPr lang="en-US" dirty="0"/>
              <a:t> </a:t>
            </a:r>
            <a:r>
              <a:rPr lang="en-US" dirty="0" err="1"/>
              <a:t>về</a:t>
            </a:r>
            <a:r>
              <a:rPr lang="en-US" dirty="0"/>
              <a:t> Web service</a:t>
            </a:r>
          </a:p>
        </p:txBody>
      </p:sp>
      <p:sp>
        <p:nvSpPr>
          <p:cNvPr id="3" name="Content Placeholder 2"/>
          <p:cNvSpPr>
            <a:spLocks noGrp="1"/>
          </p:cNvSpPr>
          <p:nvPr>
            <p:ph idx="1"/>
          </p:nvPr>
        </p:nvSpPr>
        <p:spPr/>
        <p:txBody>
          <a:bodyPr/>
          <a:lstStyle/>
          <a:p>
            <a:r>
              <a:rPr lang="en-US" dirty="0" err="1"/>
              <a:t>Mục</a:t>
            </a:r>
            <a:r>
              <a:rPr lang="en-US" dirty="0"/>
              <a:t> </a:t>
            </a:r>
            <a:r>
              <a:rPr lang="vi-VN" dirty="0"/>
              <a:t>đích chính của việc phát triển của dịch vụ web là cho phép giao tiếp và trao đổi các chức năng, thông tin, dữ liệu giữa các ứng dụng một cách dễ dàng mà không cần quan tâm đến môi trường phát triển, ngôn ngữ lập trình bởi tất cả đã được quy về một định dạng chung. </a:t>
            </a:r>
            <a:endParaRPr lang="en-US" dirty="0"/>
          </a:p>
          <a:p>
            <a:r>
              <a:rPr lang="vi-VN" dirty="0"/>
              <a:t>Bản chất của web service là một tập hợp các đối tượng, các phương thức được thực thi và công bố trên mạng để có thể được triệu gọi từ xa thông qua các ứng dụng khác</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5</a:t>
            </a:fld>
            <a:endParaRPr lang="en-US"/>
          </a:p>
        </p:txBody>
      </p:sp>
    </p:spTree>
    <p:extLst>
      <p:ext uri="{BB962C8B-B14F-4D97-AF65-F5344CB8AC3E}">
        <p14:creationId xmlns:p14="http://schemas.microsoft.com/office/powerpoint/2010/main" val="829166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 </a:t>
            </a:r>
            <a:r>
              <a:rPr lang="en-US" dirty="0" err="1"/>
              <a:t>Đặc</a:t>
            </a:r>
            <a:r>
              <a:rPr lang="en-US" dirty="0"/>
              <a:t> </a:t>
            </a:r>
            <a:r>
              <a:rPr lang="en-US" dirty="0" err="1"/>
              <a:t>điểm</a:t>
            </a:r>
            <a:r>
              <a:rPr lang="en-US" dirty="0"/>
              <a:t> </a:t>
            </a:r>
            <a:r>
              <a:rPr lang="en-US" dirty="0" err="1"/>
              <a:t>của</a:t>
            </a:r>
            <a:r>
              <a:rPr lang="en-US" dirty="0"/>
              <a:t> </a:t>
            </a:r>
            <a:r>
              <a:rPr lang="en-US" dirty="0" err="1"/>
              <a:t>hệ</a:t>
            </a:r>
            <a:r>
              <a:rPr lang="en-US" dirty="0"/>
              <a:t> </a:t>
            </a:r>
            <a:r>
              <a:rPr lang="en-US" dirty="0" err="1"/>
              <a:t>thống</a:t>
            </a:r>
            <a:r>
              <a:rPr lang="en-US" dirty="0"/>
              <a:t> Web service</a:t>
            </a:r>
          </a:p>
        </p:txBody>
      </p:sp>
      <p:sp>
        <p:nvSpPr>
          <p:cNvPr id="3" name="Content Placeholder 2"/>
          <p:cNvSpPr>
            <a:spLocks noGrp="1"/>
          </p:cNvSpPr>
          <p:nvPr>
            <p:ph idx="1"/>
          </p:nvPr>
        </p:nvSpPr>
        <p:spPr/>
        <p:txBody>
          <a:bodyPr/>
          <a:lstStyle/>
          <a:p>
            <a:r>
              <a:rPr lang="vi-VN" dirty="0"/>
              <a:t>Có sẵn trên mạng Internet hoặc mạng riêng (mạng nội bộ).</a:t>
            </a:r>
          </a:p>
          <a:p>
            <a:r>
              <a:rPr lang="vi-VN" dirty="0"/>
              <a:t>Sử dụng hệ thống nhắn tin XML tiêu chuẩn hóa.</a:t>
            </a:r>
          </a:p>
          <a:p>
            <a:r>
              <a:rPr lang="vi-VN" dirty="0"/>
              <a:t>Không được gắn với bất kỳ hệ điều hành hoặc ngôn ngữ lập trình nào.</a:t>
            </a:r>
          </a:p>
          <a:p>
            <a:r>
              <a:rPr lang="vi-VN" dirty="0"/>
              <a:t>Tự mô tả thông qua một ngữ pháp XML phổ biến.</a:t>
            </a:r>
          </a:p>
          <a:p>
            <a:r>
              <a:rPr lang="vi-VN" dirty="0"/>
              <a:t>Có thể khám phá thông qua cơ chế tìm kiếm đơn giản.</a:t>
            </a:r>
          </a:p>
          <a:p>
            <a:r>
              <a:rPr lang="vi-VN" dirty="0"/>
              <a:t>Ngày nay, dịch vụ web được sử dụng trong nhiều lĩnh vực phát triển phần mềm khác nhau như các dịch vụ cung cấp giá cổ phiếu, hỗ trợ thanh toán trực tuyến, chuyển đổi ngoại tệ, tìm kiếm thông tin liên quan đến sản phẩm</a:t>
            </a:r>
            <a:r>
              <a:rPr lang="en-US" dirty="0"/>
              <a:t>…</a:t>
            </a:r>
          </a:p>
        </p:txBody>
      </p:sp>
      <p:sp>
        <p:nvSpPr>
          <p:cNvPr id="4" name="Slide Number Placeholder 3"/>
          <p:cNvSpPr>
            <a:spLocks noGrp="1"/>
          </p:cNvSpPr>
          <p:nvPr>
            <p:ph type="sldNum" sz="quarter" idx="10"/>
          </p:nvPr>
        </p:nvSpPr>
        <p:spPr/>
        <p:txBody>
          <a:bodyPr/>
          <a:lstStyle/>
          <a:p>
            <a:fld id="{FD4BB625-6399-40EF-8D3C-B968FF32E6CB}" type="slidenum">
              <a:rPr lang="en-US" smtClean="0"/>
              <a:t>6</a:t>
            </a:fld>
            <a:endParaRPr lang="en-US"/>
          </a:p>
        </p:txBody>
      </p:sp>
    </p:spTree>
    <p:extLst>
      <p:ext uri="{BB962C8B-B14F-4D97-AF65-F5344CB8AC3E}">
        <p14:creationId xmlns:p14="http://schemas.microsoft.com/office/powerpoint/2010/main" val="1829180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1.3. </a:t>
            </a:r>
            <a:r>
              <a:rPr lang="en-US" dirty="0" err="1"/>
              <a:t>Kiến</a:t>
            </a:r>
            <a:r>
              <a:rPr lang="en-US" dirty="0"/>
              <a:t> </a:t>
            </a:r>
            <a:r>
              <a:rPr lang="en-US" dirty="0" err="1"/>
              <a:t>trúc</a:t>
            </a:r>
            <a:r>
              <a:rPr lang="en-US" dirty="0"/>
              <a:t> </a:t>
            </a:r>
            <a:r>
              <a:rPr lang="en-US" dirty="0" err="1"/>
              <a:t>của</a:t>
            </a:r>
            <a:r>
              <a:rPr lang="en-US" dirty="0"/>
              <a:t> Web service </a:t>
            </a:r>
          </a:p>
        </p:txBody>
      </p:sp>
      <p:sp>
        <p:nvSpPr>
          <p:cNvPr id="3" name="Content Placeholder 2"/>
          <p:cNvSpPr>
            <a:spLocks noGrp="1"/>
          </p:cNvSpPr>
          <p:nvPr>
            <p:ph idx="1"/>
          </p:nvPr>
        </p:nvSpPr>
        <p:spPr/>
        <p:txBody>
          <a:bodyPr/>
          <a:lstStyle/>
          <a:p>
            <a:r>
              <a:rPr lang="vi-VN" dirty="0"/>
              <a:t>Công nghệ web service không phải là một công nghệ mới hoàn toàn, mà nó ra đời dựa trên sự kết hợp các nền tảng công nghệ sẵn có trước đó. </a:t>
            </a:r>
            <a:endParaRPr lang="en-US" dirty="0"/>
          </a:p>
          <a:p>
            <a:r>
              <a:rPr lang="vi-VN" dirty="0"/>
              <a:t>Nó là sự tích hợp các ứng dụng dựa trên web sử dụng các chuẩn mở như XML, SOAP, WSDL, UDDI. </a:t>
            </a:r>
            <a:endParaRPr lang="en-US" dirty="0"/>
          </a:p>
          <a:p>
            <a:pPr lvl="1"/>
            <a:r>
              <a:rPr lang="vi-VN" dirty="0"/>
              <a:t>Trong đó, XML được sử dụng để mô tả dữ liệu</a:t>
            </a:r>
            <a:endParaRPr lang="en-US" dirty="0"/>
          </a:p>
          <a:p>
            <a:pPr lvl="1"/>
            <a:r>
              <a:rPr lang="vi-VN" dirty="0"/>
              <a:t>SOAP đóng vai trò giao thức truyền tải dữ liệu</a:t>
            </a:r>
            <a:endParaRPr lang="en-US" dirty="0"/>
          </a:p>
          <a:p>
            <a:pPr lvl="1"/>
            <a:r>
              <a:rPr lang="vi-VN" dirty="0"/>
              <a:t>WSDL mô tả cho dịch vụ web</a:t>
            </a:r>
            <a:endParaRPr lang="en-US" dirty="0"/>
          </a:p>
          <a:p>
            <a:pPr lvl="1"/>
            <a:r>
              <a:rPr lang="vi-VN" dirty="0"/>
              <a:t>UDDI liệt kê danh sách các dịch vụ web đang hoạt động</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7</a:t>
            </a:fld>
            <a:endParaRPr lang="en-US"/>
          </a:p>
        </p:txBody>
      </p:sp>
    </p:spTree>
    <p:extLst>
      <p:ext uri="{BB962C8B-B14F-4D97-AF65-F5344CB8AC3E}">
        <p14:creationId xmlns:p14="http://schemas.microsoft.com/office/powerpoint/2010/main" val="1977025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055" y="505779"/>
            <a:ext cx="10993967" cy="498475"/>
          </a:xfrm>
        </p:spPr>
        <p:txBody>
          <a:bodyPr/>
          <a:lstStyle/>
          <a:p>
            <a:r>
              <a:rPr lang="en-US" dirty="0"/>
              <a:t>1.3.1. XML – Extensible Markup Language</a:t>
            </a:r>
          </a:p>
        </p:txBody>
      </p:sp>
      <p:sp>
        <p:nvSpPr>
          <p:cNvPr id="3" name="Content Placeholder 2"/>
          <p:cNvSpPr>
            <a:spLocks noGrp="1"/>
          </p:cNvSpPr>
          <p:nvPr>
            <p:ph idx="1"/>
          </p:nvPr>
        </p:nvSpPr>
        <p:spPr>
          <a:xfrm>
            <a:off x="953589" y="1004254"/>
            <a:ext cx="10367433" cy="3902075"/>
          </a:xfrm>
        </p:spPr>
        <p:txBody>
          <a:bodyPr/>
          <a:lstStyle/>
          <a:p>
            <a:r>
              <a:rPr lang="vi-VN" dirty="0"/>
              <a:t>XML do W3C để ra và được phát triển từ SGML. </a:t>
            </a:r>
            <a:endParaRPr lang="en-US" dirty="0"/>
          </a:p>
          <a:p>
            <a:r>
              <a:rPr lang="vi-VN" dirty="0"/>
              <a:t>XML là một ngôn ngữ đánh dấu mở rộng với cấu trúc do người dùng định nghĩa. Về hình thức, XML có cú pháp tương tự HTML, nhưng không tuân theo một đặc tả quy ước như HTML. </a:t>
            </a:r>
            <a:endParaRPr lang="en-US" dirty="0"/>
          </a:p>
          <a:p>
            <a:r>
              <a:rPr lang="vi-VN" dirty="0"/>
              <a:t>Người sử dụng hay các chương trình có thể quy ước định dạng các thẻ XML, ngoài ra không chứa bất cứ thông tin nào khác về cách sử dụng hay hiển thị những thông tin ấ</a:t>
            </a:r>
            <a:r>
              <a:rPr lang="en-US" dirty="0"/>
              <a:t>y</a:t>
            </a:r>
          </a:p>
          <a:p>
            <a:r>
              <a:rPr lang="en-US" dirty="0"/>
              <a:t>XML </a:t>
            </a:r>
            <a:r>
              <a:rPr lang="en-US" dirty="0" err="1"/>
              <a:t>có</a:t>
            </a:r>
            <a:r>
              <a:rPr lang="en-US" dirty="0"/>
              <a:t> </a:t>
            </a:r>
            <a:r>
              <a:rPr lang="en-US" dirty="0" err="1"/>
              <a:t>hai</a:t>
            </a:r>
            <a:r>
              <a:rPr lang="en-US" dirty="0"/>
              <a:t> </a:t>
            </a:r>
            <a:r>
              <a:rPr lang="en-US" dirty="0" err="1"/>
              <a:t>vai</a:t>
            </a:r>
            <a:r>
              <a:rPr lang="en-US" dirty="0"/>
              <a:t> </a:t>
            </a:r>
            <a:r>
              <a:rPr lang="en-US" dirty="0" err="1"/>
              <a:t>trò</a:t>
            </a:r>
            <a:r>
              <a:rPr lang="en-US" dirty="0"/>
              <a:t> </a:t>
            </a:r>
            <a:r>
              <a:rPr lang="en-US" dirty="0" err="1"/>
              <a:t>chính</a:t>
            </a:r>
            <a:r>
              <a:rPr lang="en-US" dirty="0"/>
              <a:t> </a:t>
            </a:r>
            <a:r>
              <a:rPr lang="en-US" dirty="0" err="1"/>
              <a:t>trong</a:t>
            </a:r>
            <a:r>
              <a:rPr lang="en-US" dirty="0"/>
              <a:t> </a:t>
            </a:r>
            <a:r>
              <a:rPr lang="en-US" dirty="0" err="1"/>
              <a:t>xây</a:t>
            </a:r>
            <a:r>
              <a:rPr lang="en-US" dirty="0"/>
              <a:t> </a:t>
            </a:r>
            <a:r>
              <a:rPr lang="en-US" dirty="0" err="1"/>
              <a:t>dựng</a:t>
            </a:r>
            <a:r>
              <a:rPr lang="en-US" dirty="0"/>
              <a:t> Web service:  </a:t>
            </a:r>
          </a:p>
          <a:p>
            <a:pPr lvl="1"/>
            <a:r>
              <a:rPr lang="en-US" dirty="0" err="1"/>
              <a:t>Trao</a:t>
            </a:r>
            <a:r>
              <a:rPr lang="en-US" dirty="0"/>
              <a:t> </a:t>
            </a:r>
            <a:r>
              <a:rPr lang="en-US" dirty="0" err="1"/>
              <a:t>đổi</a:t>
            </a:r>
            <a:r>
              <a:rPr lang="en-US" dirty="0"/>
              <a:t> </a:t>
            </a:r>
            <a:r>
              <a:rPr lang="en-US" dirty="0" err="1"/>
              <a:t>dữ</a:t>
            </a:r>
            <a:r>
              <a:rPr lang="en-US" dirty="0"/>
              <a:t> </a:t>
            </a:r>
            <a:r>
              <a:rPr lang="en-US" dirty="0" err="1"/>
              <a:t>liệu</a:t>
            </a:r>
            <a:r>
              <a:rPr lang="en-US" dirty="0"/>
              <a:t> </a:t>
            </a:r>
            <a:r>
              <a:rPr lang="en-US" dirty="0" err="1"/>
              <a:t>trong</a:t>
            </a:r>
            <a:r>
              <a:rPr lang="en-US" dirty="0"/>
              <a:t> </a:t>
            </a:r>
            <a:r>
              <a:rPr lang="en-US" dirty="0" err="1"/>
              <a:t>hệ</a:t>
            </a:r>
            <a:r>
              <a:rPr lang="en-US" dirty="0"/>
              <a:t> </a:t>
            </a:r>
            <a:r>
              <a:rPr lang="en-US" dirty="0" err="1"/>
              <a:t>thống</a:t>
            </a:r>
            <a:r>
              <a:rPr lang="en-US" dirty="0"/>
              <a:t> </a:t>
            </a:r>
            <a:r>
              <a:rPr lang="en-US" dirty="0" err="1"/>
              <a:t>sử</a:t>
            </a:r>
            <a:r>
              <a:rPr lang="en-US" dirty="0"/>
              <a:t> </a:t>
            </a:r>
            <a:r>
              <a:rPr lang="en-US" dirty="0" err="1"/>
              <a:t>dụng</a:t>
            </a:r>
            <a:r>
              <a:rPr lang="en-US" dirty="0"/>
              <a:t> web service. </a:t>
            </a:r>
          </a:p>
          <a:p>
            <a:pPr lvl="1"/>
            <a:r>
              <a:rPr lang="en-US" dirty="0" err="1"/>
              <a:t>Mô</a:t>
            </a:r>
            <a:r>
              <a:rPr lang="en-US" dirty="0"/>
              <a:t> </a:t>
            </a:r>
            <a:r>
              <a:rPr lang="en-US" dirty="0" err="1"/>
              <a:t>tả</a:t>
            </a:r>
            <a:r>
              <a:rPr lang="en-US" dirty="0"/>
              <a:t> </a:t>
            </a:r>
            <a:r>
              <a:rPr lang="en-US" dirty="0" err="1"/>
              <a:t>các</a:t>
            </a:r>
            <a:r>
              <a:rPr lang="en-US" dirty="0"/>
              <a:t> </a:t>
            </a:r>
            <a:r>
              <a:rPr lang="en-US" dirty="0" err="1"/>
              <a:t>giao</a:t>
            </a:r>
            <a:r>
              <a:rPr lang="en-US" dirty="0"/>
              <a:t> </a:t>
            </a:r>
            <a:r>
              <a:rPr lang="en-US" dirty="0" err="1"/>
              <a:t>thức</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dịch</a:t>
            </a:r>
            <a:r>
              <a:rPr lang="en-US" dirty="0"/>
              <a:t> </a:t>
            </a:r>
            <a:r>
              <a:rPr lang="en-US" dirty="0" err="1"/>
              <a:t>vụ</a:t>
            </a:r>
            <a:r>
              <a:rPr lang="en-US" dirty="0"/>
              <a:t> web. </a:t>
            </a:r>
          </a:p>
        </p:txBody>
      </p:sp>
      <p:sp>
        <p:nvSpPr>
          <p:cNvPr id="4" name="Slide Number Placeholder 3"/>
          <p:cNvSpPr>
            <a:spLocks noGrp="1"/>
          </p:cNvSpPr>
          <p:nvPr>
            <p:ph type="sldNum" sz="quarter" idx="10"/>
          </p:nvPr>
        </p:nvSpPr>
        <p:spPr/>
        <p:txBody>
          <a:bodyPr/>
          <a:lstStyle/>
          <a:p>
            <a:fld id="{FD4BB625-6399-40EF-8D3C-B968FF32E6CB}" type="slidenum">
              <a:rPr lang="en-US" smtClean="0"/>
              <a:t>8</a:t>
            </a:fld>
            <a:endParaRPr lang="en-US"/>
          </a:p>
        </p:txBody>
      </p:sp>
    </p:spTree>
    <p:extLst>
      <p:ext uri="{BB962C8B-B14F-4D97-AF65-F5344CB8AC3E}">
        <p14:creationId xmlns:p14="http://schemas.microsoft.com/office/powerpoint/2010/main" val="180859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066" y="571094"/>
            <a:ext cx="10993967" cy="498475"/>
          </a:xfrm>
        </p:spPr>
        <p:txBody>
          <a:bodyPr/>
          <a:lstStyle/>
          <a:p>
            <a:r>
              <a:rPr lang="en-US" dirty="0"/>
              <a:t>1.3.2. SOAP – Simple Object Access </a:t>
            </a:r>
            <a:r>
              <a:rPr lang="en-US" dirty="0" err="1"/>
              <a:t>Protoco</a:t>
            </a:r>
            <a:endParaRPr lang="en-US" dirty="0"/>
          </a:p>
        </p:txBody>
      </p:sp>
      <p:sp>
        <p:nvSpPr>
          <p:cNvPr id="3" name="Content Placeholder 2"/>
          <p:cNvSpPr>
            <a:spLocks noGrp="1"/>
          </p:cNvSpPr>
          <p:nvPr>
            <p:ph idx="1"/>
          </p:nvPr>
        </p:nvSpPr>
        <p:spPr>
          <a:xfrm>
            <a:off x="640081" y="1069569"/>
            <a:ext cx="10641754" cy="5370419"/>
          </a:xfrm>
        </p:spPr>
        <p:txBody>
          <a:bodyPr/>
          <a:lstStyle/>
          <a:p>
            <a:r>
              <a:rPr lang="vi-VN" sz="2200" dirty="0"/>
              <a:t>SOAP (Simple Object Access Protocol) là giao thức dùng để truy xuất thông tin từ web service thông qua một dạng thông điệp chung.  </a:t>
            </a:r>
            <a:endParaRPr lang="en-US" sz="2200" dirty="0"/>
          </a:p>
          <a:p>
            <a:r>
              <a:rPr lang="vi-VN" sz="2200" dirty="0"/>
              <a:t>SOAP được Microsoft đề xuất vào năm 1998. Hiện nay, nó thuộc quyền quản lý và cải tiến bởi tổ chức W3C. </a:t>
            </a:r>
            <a:endParaRPr lang="en-US" sz="2200" dirty="0"/>
          </a:p>
          <a:p>
            <a:r>
              <a:rPr lang="vi-VN" sz="2200" dirty="0"/>
              <a:t>SOAP là một giao thức dựa trên nền tảng XML, mô tả cách định dạng, đóng gói thông tin của các thông điệp và trao đổi chúng thông qua mạng mà không phụ thuộc vào bất kỳ ngôn ngữ hay môi trường thực thi nào. </a:t>
            </a:r>
            <a:endParaRPr lang="en-US" sz="2200" dirty="0"/>
          </a:p>
          <a:p>
            <a:r>
              <a:rPr lang="vi-VN" sz="2200" dirty="0"/>
              <a:t>Đơn vị trao đổi thông tin cơ bản của SOAP là thông điệp SOAP (SOAP Message). </a:t>
            </a:r>
            <a:endParaRPr lang="en-US" sz="2200" dirty="0"/>
          </a:p>
          <a:p>
            <a:r>
              <a:rPr lang="vi-VN" sz="2200" dirty="0"/>
              <a:t>Mỗi thông điệp SOAP sẽ được chỉ định bởi một thẻ root &lt;Envelope&gt; chứa 2 thành phần là SOAP Header  và SOAP Body. </a:t>
            </a:r>
            <a:endParaRPr lang="en-US" sz="2200" dirty="0"/>
          </a:p>
          <a:p>
            <a:pPr lvl="1"/>
            <a:r>
              <a:rPr lang="vi-VN" sz="2000" dirty="0"/>
              <a:t>SOA</a:t>
            </a:r>
            <a:r>
              <a:rPr lang="en-US" sz="2000" dirty="0"/>
              <a:t>P</a:t>
            </a:r>
            <a:r>
              <a:rPr lang="vi-VN" sz="2000" dirty="0"/>
              <a:t> Header chứa các thông tin cần thiết cho việc thực hiện chuyển thông điệp hay cơ chế định danh, bảo mật. </a:t>
            </a:r>
            <a:endParaRPr lang="en-US" sz="2000" dirty="0"/>
          </a:p>
          <a:p>
            <a:pPr lvl="1"/>
            <a:r>
              <a:rPr lang="vi-VN" sz="2000" dirty="0"/>
              <a:t>SOAP Body chứa dữ liệu ứng dụng </a:t>
            </a:r>
            <a:endParaRPr lang="en-US" sz="2000" dirty="0"/>
          </a:p>
        </p:txBody>
      </p:sp>
      <p:sp>
        <p:nvSpPr>
          <p:cNvPr id="4" name="Slide Number Placeholder 3"/>
          <p:cNvSpPr>
            <a:spLocks noGrp="1"/>
          </p:cNvSpPr>
          <p:nvPr>
            <p:ph type="sldNum" sz="quarter" idx="10"/>
          </p:nvPr>
        </p:nvSpPr>
        <p:spPr/>
        <p:txBody>
          <a:bodyPr/>
          <a:lstStyle/>
          <a:p>
            <a:fld id="{FD4BB625-6399-40EF-8D3C-B968FF32E6CB}" type="slidenum">
              <a:rPr lang="en-US" smtClean="0"/>
              <a:t>9</a:t>
            </a:fld>
            <a:endParaRPr lang="en-US"/>
          </a:p>
        </p:txBody>
      </p:sp>
    </p:spTree>
    <p:extLst>
      <p:ext uri="{BB962C8B-B14F-4D97-AF65-F5344CB8AC3E}">
        <p14:creationId xmlns:p14="http://schemas.microsoft.com/office/powerpoint/2010/main" val="1098728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593" y="401276"/>
            <a:ext cx="10993967" cy="498475"/>
          </a:xfrm>
        </p:spPr>
        <p:txBody>
          <a:bodyPr/>
          <a:lstStyle/>
          <a:p>
            <a:r>
              <a:rPr lang="en-US" dirty="0"/>
              <a:t>1.3.3. WSDL – Web Services Description Language</a:t>
            </a:r>
          </a:p>
        </p:txBody>
      </p:sp>
      <p:sp>
        <p:nvSpPr>
          <p:cNvPr id="3" name="Content Placeholder 2"/>
          <p:cNvSpPr>
            <a:spLocks noGrp="1"/>
          </p:cNvSpPr>
          <p:nvPr>
            <p:ph idx="1"/>
          </p:nvPr>
        </p:nvSpPr>
        <p:spPr>
          <a:xfrm>
            <a:off x="914401" y="899750"/>
            <a:ext cx="10424159" cy="5344295"/>
          </a:xfrm>
        </p:spPr>
        <p:txBody>
          <a:bodyPr/>
          <a:lstStyle/>
          <a:p>
            <a:r>
              <a:rPr lang="vi-VN" dirty="0"/>
              <a:t>WSDL (Web Services Description Language) là một dạng tài liệu dựa trên cú pháp XML để mô tả các dịch vụ web. </a:t>
            </a:r>
            <a:endParaRPr lang="en-US" dirty="0"/>
          </a:p>
          <a:p>
            <a:r>
              <a:rPr lang="vi-VN" dirty="0"/>
              <a:t>Lúc đầu nó được Microsoft, IBM và Ariba để xuất, nhưng hiện nay được quản lý bởi tổ chức W3C. </a:t>
            </a:r>
            <a:endParaRPr lang="en-US" dirty="0"/>
          </a:p>
          <a:p>
            <a:r>
              <a:rPr lang="vi-VN" dirty="0"/>
              <a:t>Một tài liệu WSDL sẽ cung cấp tài liệu cho các hệ thống phân tán như mô tả chức năng của một web service, cách thức tương tác, các thông điệp tương ứng cho các theo tác request hay response. </a:t>
            </a:r>
            <a:endParaRPr lang="en-US" dirty="0"/>
          </a:p>
          <a:p>
            <a:r>
              <a:rPr lang="vi-VN" dirty="0"/>
              <a:t>Một tài liệu WSDL bao gồm 2 thành phần chính: </a:t>
            </a:r>
            <a:endParaRPr lang="en-US" dirty="0"/>
          </a:p>
          <a:p>
            <a:pPr lvl="1"/>
            <a:r>
              <a:rPr lang="vi-VN" dirty="0"/>
              <a:t>Phần trừu tượng (abstract definitions)</a:t>
            </a:r>
            <a:r>
              <a:rPr lang="en-US" dirty="0"/>
              <a:t>: </a:t>
            </a:r>
            <a:r>
              <a:rPr lang="vi-VN" dirty="0"/>
              <a:t>bao gồm các thông tin được chứa các thẻ types, message, operation, và port types</a:t>
            </a:r>
            <a:endParaRPr lang="en-US" dirty="0"/>
          </a:p>
          <a:p>
            <a:pPr lvl="1"/>
            <a:r>
              <a:rPr lang="en-US" dirty="0"/>
              <a:t>P</a:t>
            </a:r>
            <a:r>
              <a:rPr lang="vi-VN" dirty="0"/>
              <a:t>hần hiện thực (concrete definitions)</a:t>
            </a:r>
            <a:r>
              <a:rPr lang="en-US" dirty="0"/>
              <a:t>: </a:t>
            </a:r>
            <a:r>
              <a:rPr lang="vi-VN" dirty="0"/>
              <a:t>chứa thông tin trong các thẻ bindings và ports</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10</a:t>
            </a:fld>
            <a:endParaRPr lang="en-US"/>
          </a:p>
        </p:txBody>
      </p:sp>
    </p:spTree>
    <p:extLst>
      <p:ext uri="{BB962C8B-B14F-4D97-AF65-F5344CB8AC3E}">
        <p14:creationId xmlns:p14="http://schemas.microsoft.com/office/powerpoint/2010/main" val="3067383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593" y="401276"/>
            <a:ext cx="10993967" cy="498475"/>
          </a:xfrm>
        </p:spPr>
        <p:txBody>
          <a:bodyPr/>
          <a:lstStyle/>
          <a:p>
            <a:r>
              <a:rPr lang="en-US" dirty="0"/>
              <a:t>1.3.3. WSDL – Web Services Description Language</a:t>
            </a:r>
          </a:p>
        </p:txBody>
      </p:sp>
      <p:sp>
        <p:nvSpPr>
          <p:cNvPr id="3" name="Content Placeholder 2"/>
          <p:cNvSpPr>
            <a:spLocks noGrp="1"/>
          </p:cNvSpPr>
          <p:nvPr>
            <p:ph idx="1"/>
          </p:nvPr>
        </p:nvSpPr>
        <p:spPr>
          <a:xfrm>
            <a:off x="914401" y="899750"/>
            <a:ext cx="6779622" cy="5344295"/>
          </a:xfrm>
        </p:spPr>
        <p:txBody>
          <a:bodyPr/>
          <a:lstStyle/>
          <a:p>
            <a:r>
              <a:rPr lang="en-US" dirty="0" err="1"/>
              <a:t>Các</a:t>
            </a:r>
            <a:r>
              <a:rPr lang="en-US" dirty="0"/>
              <a:t> </a:t>
            </a:r>
            <a:r>
              <a:rPr lang="en-US" dirty="0" err="1"/>
              <a:t>thành</a:t>
            </a:r>
            <a:r>
              <a:rPr lang="en-US" dirty="0"/>
              <a:t> </a:t>
            </a:r>
            <a:r>
              <a:rPr lang="en-US" dirty="0" err="1"/>
              <a:t>phần</a:t>
            </a:r>
            <a:r>
              <a:rPr lang="en-US" dirty="0"/>
              <a:t> </a:t>
            </a:r>
            <a:r>
              <a:rPr lang="en-US" dirty="0" err="1"/>
              <a:t>của</a:t>
            </a:r>
            <a:r>
              <a:rPr lang="en-US" dirty="0"/>
              <a:t> WSDL</a:t>
            </a:r>
          </a:p>
          <a:p>
            <a:pPr lvl="1"/>
            <a:r>
              <a:rPr lang="vi-VN" dirty="0"/>
              <a:t>types: chỉ định kiểu dữ liệu cho các thông điệp gửi và nhận. </a:t>
            </a:r>
            <a:endParaRPr lang="en-US" dirty="0"/>
          </a:p>
          <a:p>
            <a:pPr lvl="1"/>
            <a:r>
              <a:rPr lang="vi-VN" dirty="0"/>
              <a:t>messages: là một thành phần trừu tượng mô tả cách thức giao tiếp giữa client và server </a:t>
            </a:r>
            <a:r>
              <a:rPr lang="en-US" dirty="0"/>
              <a:t>\</a:t>
            </a:r>
          </a:p>
          <a:p>
            <a:pPr lvl="1"/>
            <a:r>
              <a:rPr lang="vi-VN" dirty="0"/>
              <a:t>porttypes: mô tả ánh xạ giữa các thông điệp – được mô tả trong phần tử messages – và các phương thức (operations). </a:t>
            </a:r>
            <a:endParaRPr lang="en-US" dirty="0"/>
          </a:p>
          <a:p>
            <a:pPr lvl="1"/>
            <a:r>
              <a:rPr lang="vi-VN" dirty="0"/>
              <a:t>binding: xác định giao thức nào được sử dụng khi giao tiếp với dịch vụ web. Định nghĩa kiểu binding (RPC/Document) và giao thức vận chuyển. binding cũng định nghĩa các operations. </a:t>
            </a:r>
            <a:endParaRPr lang="en-US" dirty="0"/>
          </a:p>
          <a:p>
            <a:pPr lvl="1"/>
            <a:r>
              <a:rPr lang="vi-VN" dirty="0"/>
              <a:t>Port: chỉ định địa chỉ hoặc điểm kết nối đến web service, nó thường là một chuỗi URL đơn giản</a:t>
            </a:r>
            <a:endParaRPr lang="en-US" dirty="0"/>
          </a:p>
        </p:txBody>
      </p:sp>
      <p:pic>
        <p:nvPicPr>
          <p:cNvPr id="5" name="Picture 4"/>
          <p:cNvPicPr>
            <a:picLocks noChangeAspect="1"/>
          </p:cNvPicPr>
          <p:nvPr/>
        </p:nvPicPr>
        <p:blipFill>
          <a:blip r:embed="rId2"/>
          <a:stretch>
            <a:fillRect/>
          </a:stretch>
        </p:blipFill>
        <p:spPr>
          <a:xfrm>
            <a:off x="7822610" y="938330"/>
            <a:ext cx="4247471" cy="5305715"/>
          </a:xfrm>
          <a:prstGeom prst="rect">
            <a:avLst/>
          </a:prstGeom>
        </p:spPr>
      </p:pic>
      <p:sp>
        <p:nvSpPr>
          <p:cNvPr id="4" name="Slide Number Placeholder 3"/>
          <p:cNvSpPr>
            <a:spLocks noGrp="1"/>
          </p:cNvSpPr>
          <p:nvPr>
            <p:ph type="sldNum" sz="quarter" idx="10"/>
          </p:nvPr>
        </p:nvSpPr>
        <p:spPr/>
        <p:txBody>
          <a:bodyPr/>
          <a:lstStyle/>
          <a:p>
            <a:fld id="{FD4BB625-6399-40EF-8D3C-B968FF32E6CB}" type="slidenum">
              <a:rPr lang="en-US" smtClean="0"/>
              <a:t>11</a:t>
            </a:fld>
            <a:endParaRPr lang="en-US"/>
          </a:p>
        </p:txBody>
      </p:sp>
    </p:spTree>
    <p:extLst>
      <p:ext uri="{BB962C8B-B14F-4D97-AF65-F5344CB8AC3E}">
        <p14:creationId xmlns:p14="http://schemas.microsoft.com/office/powerpoint/2010/main" val="2975479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505779"/>
            <a:ext cx="10993967" cy="498475"/>
          </a:xfrm>
        </p:spPr>
        <p:txBody>
          <a:bodyPr/>
          <a:lstStyle/>
          <a:p>
            <a:r>
              <a:rPr lang="en-US" dirty="0"/>
              <a:t>1.3.4. UDDI – Universal Description, Discovery, and Integration </a:t>
            </a:r>
          </a:p>
        </p:txBody>
      </p:sp>
      <p:sp>
        <p:nvSpPr>
          <p:cNvPr id="3" name="Content Placeholder 2"/>
          <p:cNvSpPr>
            <a:spLocks noGrp="1"/>
          </p:cNvSpPr>
          <p:nvPr>
            <p:ph idx="1"/>
          </p:nvPr>
        </p:nvSpPr>
        <p:spPr>
          <a:xfrm>
            <a:off x="679269" y="1004254"/>
            <a:ext cx="10602566" cy="4293961"/>
          </a:xfrm>
        </p:spPr>
        <p:txBody>
          <a:bodyPr/>
          <a:lstStyle/>
          <a:p>
            <a:r>
              <a:rPr lang="en-US" sz="2200" dirty="0"/>
              <a:t>Đ</a:t>
            </a:r>
            <a:r>
              <a:rPr lang="vi-VN" sz="2200" dirty="0"/>
              <a:t>ược đề xuất bởi Microsoft, IBM và Ariba vào năm 2000. Ngày nay, UDDI thuộc quyền quản lý và phát triển bởi tổ chức OASIS (Organization for the Advancement of Structured Information Standards).  </a:t>
            </a:r>
            <a:endParaRPr lang="en-US" sz="2200" dirty="0"/>
          </a:p>
          <a:p>
            <a:r>
              <a:rPr lang="vi-VN" sz="2200" dirty="0"/>
              <a:t>Nó được xây dựng nhằm mục đích cung cấp khả năng cho phép công bố, tổng hợp và tìm kiếm các dịch vụ web. </a:t>
            </a:r>
            <a:endParaRPr lang="en-US" sz="2200" dirty="0"/>
          </a:p>
          <a:p>
            <a:r>
              <a:rPr lang="vi-VN" sz="2200" dirty="0"/>
              <a:t>UDDI đưa ra một tập các hàm API được chia làm 2 phần: Inquiry API (dùng để tìm kiếm và truy xuất) và Publisher‟s API (công bố các web services). </a:t>
            </a:r>
            <a:endParaRPr lang="en-US" sz="2200" dirty="0"/>
          </a:p>
          <a:p>
            <a:r>
              <a:rPr lang="vi-VN" sz="2200" dirty="0"/>
              <a:t>Thông tin tổ chức trong UDDI được chia thành 3 phần: </a:t>
            </a:r>
            <a:endParaRPr lang="en-US" sz="2200" dirty="0"/>
          </a:p>
          <a:p>
            <a:pPr lvl="1"/>
            <a:r>
              <a:rPr lang="vi-VN" sz="2000" dirty="0"/>
              <a:t>White pages: Liệt kê thông tin của các nhà cung cấp dịch vụ web bao gồm địa chỉ, thông tin liên lạc, và định danh. </a:t>
            </a:r>
            <a:endParaRPr lang="en-US" sz="2000" dirty="0"/>
          </a:p>
          <a:p>
            <a:pPr lvl="1"/>
            <a:r>
              <a:rPr lang="vi-VN" sz="2000" dirty="0"/>
              <a:t>Yellow pages: Phân loại dịch vụ theo tổ chức hay nhóm dịch vụ hoặc địa điểm đặt các dịch vụ. </a:t>
            </a:r>
          </a:p>
          <a:p>
            <a:pPr lvl="1"/>
            <a:r>
              <a:rPr lang="vi-VN" sz="2000" dirty="0"/>
              <a:t>Green pages: Cung cấp thông tin về các dịch vụ web được, về cách thức truy xuất các web services đó.</a:t>
            </a:r>
            <a:endParaRPr lang="en-US" sz="2000" dirty="0"/>
          </a:p>
        </p:txBody>
      </p:sp>
      <p:sp>
        <p:nvSpPr>
          <p:cNvPr id="4" name="Slide Number Placeholder 3"/>
          <p:cNvSpPr>
            <a:spLocks noGrp="1"/>
          </p:cNvSpPr>
          <p:nvPr>
            <p:ph type="sldNum" sz="quarter" idx="10"/>
          </p:nvPr>
        </p:nvSpPr>
        <p:spPr/>
        <p:txBody>
          <a:bodyPr/>
          <a:lstStyle/>
          <a:p>
            <a:fld id="{FD4BB625-6399-40EF-8D3C-B968FF32E6CB}" type="slidenum">
              <a:rPr lang="en-US" smtClean="0"/>
              <a:t>12</a:t>
            </a:fld>
            <a:endParaRPr lang="en-US"/>
          </a:p>
        </p:txBody>
      </p:sp>
    </p:spTree>
    <p:extLst>
      <p:ext uri="{BB962C8B-B14F-4D97-AF65-F5344CB8AC3E}">
        <p14:creationId xmlns:p14="http://schemas.microsoft.com/office/powerpoint/2010/main" val="4256803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632" y="636407"/>
            <a:ext cx="10993967" cy="498475"/>
          </a:xfrm>
        </p:spPr>
        <p:txBody>
          <a:bodyPr/>
          <a:lstStyle/>
          <a:p>
            <a:r>
              <a:rPr lang="en-US" dirty="0" err="1"/>
              <a:t>Tóm</a:t>
            </a:r>
            <a:r>
              <a:rPr lang="en-US" dirty="0"/>
              <a:t> </a:t>
            </a:r>
            <a:r>
              <a:rPr lang="en-US" dirty="0" err="1"/>
              <a:t>lại</a:t>
            </a:r>
            <a:endParaRPr lang="en-US" dirty="0"/>
          </a:p>
        </p:txBody>
      </p:sp>
      <p:sp>
        <p:nvSpPr>
          <p:cNvPr id="3" name="Content Placeholder 2"/>
          <p:cNvSpPr>
            <a:spLocks noGrp="1"/>
          </p:cNvSpPr>
          <p:nvPr>
            <p:ph idx="1"/>
          </p:nvPr>
        </p:nvSpPr>
        <p:spPr>
          <a:xfrm>
            <a:off x="796835" y="1134882"/>
            <a:ext cx="10567851" cy="4103324"/>
          </a:xfrm>
        </p:spPr>
        <p:txBody>
          <a:bodyPr/>
          <a:lstStyle/>
          <a:p>
            <a:r>
              <a:rPr lang="vi-VN" dirty="0"/>
              <a:t>Các nhà cung cấp Web Service sẽ mô tả Web Sercive của mình trong một tài liệu WSDL và công bố thông qua việc đăng ký UDDI sử dụng Publisher‟s API (dựa trên nền tảng SOAP) </a:t>
            </a:r>
            <a:endParaRPr lang="en-US" dirty="0"/>
          </a:p>
          <a:p>
            <a:r>
              <a:rPr lang="vi-VN" dirty="0"/>
              <a:t>Một service requester sử dụng UDDI Inquiry API để tìm kiếm các service provider tương ứng với yêu cầu bên trong hệ thống đăng ký UDDI. </a:t>
            </a:r>
            <a:endParaRPr lang="en-US" dirty="0"/>
          </a:p>
          <a:p>
            <a:r>
              <a:rPr lang="vi-VN" dirty="0"/>
              <a:t>Nếu có một dịch vụ nào đó được tìm thấy, việc làm tiếp theo là dựa vào &lt;tModel&gt; để tham chiếu đến tài liệu WSDL  tương ứng.  </a:t>
            </a:r>
            <a:endParaRPr lang="en-US" dirty="0"/>
          </a:p>
          <a:p>
            <a:r>
              <a:rPr lang="vi-VN" dirty="0"/>
              <a:t>Một SOAP request sẽ được tạo ra tương ưng với Web Service được tìm thấy. </a:t>
            </a:r>
            <a:endParaRPr lang="en-US" dirty="0"/>
          </a:p>
          <a:p>
            <a:r>
              <a:rPr lang="vi-VN" dirty="0"/>
              <a:t>Sau cùng SOAP request sẽ được gửi đến service provider, và provider xử lý trả về.</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13</a:t>
            </a:fld>
            <a:endParaRPr lang="en-US"/>
          </a:p>
        </p:txBody>
      </p:sp>
    </p:spTree>
    <p:extLst>
      <p:ext uri="{BB962C8B-B14F-4D97-AF65-F5344CB8AC3E}">
        <p14:creationId xmlns:p14="http://schemas.microsoft.com/office/powerpoint/2010/main" val="4159436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Xây</a:t>
            </a:r>
            <a:r>
              <a:rPr lang="en-US" dirty="0"/>
              <a:t> </a:t>
            </a:r>
            <a:r>
              <a:rPr lang="en-US" dirty="0" err="1"/>
              <a:t>dựng</a:t>
            </a:r>
            <a:r>
              <a:rPr lang="en-US" dirty="0"/>
              <a:t> Web service </a:t>
            </a:r>
            <a:r>
              <a:rPr lang="en-US" dirty="0" err="1"/>
              <a:t>với</a:t>
            </a:r>
            <a:r>
              <a:rPr lang="en-US" dirty="0"/>
              <a:t> ASP.NET </a:t>
            </a:r>
          </a:p>
        </p:txBody>
      </p:sp>
      <p:sp>
        <p:nvSpPr>
          <p:cNvPr id="3" name="Content Placeholder 2"/>
          <p:cNvSpPr>
            <a:spLocks noGrp="1"/>
          </p:cNvSpPr>
          <p:nvPr>
            <p:ph idx="1"/>
          </p:nvPr>
        </p:nvSpPr>
        <p:spPr>
          <a:xfrm>
            <a:off x="940527" y="1370014"/>
            <a:ext cx="10367433" cy="3902075"/>
          </a:xfrm>
        </p:spPr>
        <p:txBody>
          <a:bodyPr/>
          <a:lstStyle/>
          <a:p>
            <a:r>
              <a:rPr lang="en-US" dirty="0" err="1"/>
              <a:t>Bước</a:t>
            </a:r>
            <a:r>
              <a:rPr lang="en-US" dirty="0"/>
              <a:t> 1: </a:t>
            </a:r>
            <a:r>
              <a:rPr lang="en-US" dirty="0" err="1"/>
              <a:t>Tạo</a:t>
            </a:r>
            <a:r>
              <a:rPr lang="en-US" dirty="0"/>
              <a:t> </a:t>
            </a:r>
            <a:r>
              <a:rPr lang="en-US" dirty="0" err="1"/>
              <a:t>ứng</a:t>
            </a:r>
            <a:r>
              <a:rPr lang="en-US" dirty="0"/>
              <a:t> </a:t>
            </a:r>
            <a:r>
              <a:rPr lang="en-US" dirty="0" err="1"/>
              <a:t>dụng</a:t>
            </a:r>
            <a:r>
              <a:rPr lang="en-US" dirty="0"/>
              <a:t> </a:t>
            </a:r>
            <a:r>
              <a:rPr lang="en-US" dirty="0" err="1"/>
              <a:t>WebService</a:t>
            </a:r>
            <a:endParaRPr lang="en-US" dirty="0"/>
          </a:p>
          <a:p>
            <a:r>
              <a:rPr lang="vi-VN" dirty="0"/>
              <a:t>Từ menu File | New | New WebSite...,cửa sổ New Web Site xuất hiện và thiết lập như hình dưới đây để tạo ứng dụng Web Service tên </a:t>
            </a:r>
            <a:r>
              <a:rPr lang="en-US" dirty="0" err="1"/>
              <a:t>vdwebservice</a:t>
            </a:r>
            <a:endParaRPr lang="en-US" dirty="0"/>
          </a:p>
          <a:p>
            <a:r>
              <a:rPr lang="en-US" dirty="0" err="1"/>
              <a:t>Bước</a:t>
            </a:r>
            <a:r>
              <a:rPr lang="en-US" dirty="0"/>
              <a:t> 2: </a:t>
            </a:r>
            <a:r>
              <a:rPr lang="en-US" dirty="0" err="1"/>
              <a:t>Trong</a:t>
            </a:r>
            <a:r>
              <a:rPr lang="en-US" dirty="0"/>
              <a:t> </a:t>
            </a:r>
            <a:r>
              <a:rPr lang="en-US" dirty="0" err="1"/>
              <a:t>tập</a:t>
            </a:r>
            <a:r>
              <a:rPr lang="en-US" dirty="0"/>
              <a:t> tin </a:t>
            </a:r>
            <a:r>
              <a:rPr lang="en-US" dirty="0" err="1"/>
              <a:t>App_Code</a:t>
            </a:r>
            <a:r>
              <a:rPr lang="en-US" dirty="0"/>
              <a:t>/</a:t>
            </a:r>
            <a:r>
              <a:rPr lang="en-US" dirty="0" err="1"/>
              <a:t>Service.cs</a:t>
            </a:r>
            <a:r>
              <a:rPr lang="en-US" dirty="0"/>
              <a:t> ta </a:t>
            </a:r>
            <a:r>
              <a:rPr lang="en-US" dirty="0" err="1"/>
              <a:t>viết</a:t>
            </a:r>
            <a:r>
              <a:rPr lang="en-US" dirty="0"/>
              <a:t> </a:t>
            </a:r>
            <a:r>
              <a:rPr lang="en-US" dirty="0" err="1"/>
              <a:t>thêm</a:t>
            </a:r>
            <a:r>
              <a:rPr lang="en-US" dirty="0"/>
              <a:t> </a:t>
            </a:r>
            <a:r>
              <a:rPr lang="en-US" dirty="0" err="1"/>
              <a:t>các</a:t>
            </a:r>
            <a:r>
              <a:rPr lang="en-US" dirty="0"/>
              <a:t> </a:t>
            </a:r>
            <a:r>
              <a:rPr lang="en-US" dirty="0" err="1"/>
              <a:t>phương</a:t>
            </a:r>
            <a:r>
              <a:rPr lang="en-US" dirty="0"/>
              <a:t> </a:t>
            </a:r>
            <a:r>
              <a:rPr lang="en-US" dirty="0" err="1"/>
              <a:t>thức</a:t>
            </a:r>
            <a:r>
              <a:rPr lang="en-US" dirty="0"/>
              <a:t> </a:t>
            </a:r>
            <a:r>
              <a:rPr lang="en-US" dirty="0" err="1"/>
              <a:t>mới</a:t>
            </a:r>
            <a:r>
              <a:rPr lang="en-US" dirty="0"/>
              <a:t> </a:t>
            </a:r>
            <a:r>
              <a:rPr lang="en-US" dirty="0" err="1"/>
              <a:t>cho</a:t>
            </a:r>
            <a:r>
              <a:rPr lang="en-US" dirty="0"/>
              <a:t> web service</a:t>
            </a:r>
          </a:p>
          <a:p>
            <a:r>
              <a:rPr lang="en-US" dirty="0" err="1"/>
              <a:t>Ví</a:t>
            </a:r>
            <a:r>
              <a:rPr lang="en-US" dirty="0"/>
              <a:t> </a:t>
            </a:r>
            <a:r>
              <a:rPr lang="en-US" dirty="0" err="1"/>
              <a:t>dụ</a:t>
            </a:r>
            <a:r>
              <a:rPr lang="en-US" dirty="0"/>
              <a:t>: </a:t>
            </a:r>
            <a:r>
              <a:rPr lang="en-US" dirty="0" err="1"/>
              <a:t>phương</a:t>
            </a:r>
            <a:r>
              <a:rPr lang="en-US" dirty="0"/>
              <a:t> </a:t>
            </a:r>
            <a:r>
              <a:rPr lang="en-US" dirty="0" err="1"/>
              <a:t>thức</a:t>
            </a:r>
            <a:r>
              <a:rPr lang="en-US" dirty="0"/>
              <a:t> </a:t>
            </a:r>
            <a:r>
              <a:rPr lang="en-US" dirty="0" err="1"/>
              <a:t>lấy</a:t>
            </a:r>
            <a:r>
              <a:rPr lang="en-US" dirty="0"/>
              <a:t> </a:t>
            </a:r>
            <a:r>
              <a:rPr lang="en-US" dirty="0" err="1"/>
              <a:t>giờ</a:t>
            </a:r>
            <a:r>
              <a:rPr lang="en-US" dirty="0"/>
              <a:t> </a:t>
            </a:r>
            <a:r>
              <a:rPr lang="en-US" dirty="0" err="1"/>
              <a:t>hiện</a:t>
            </a:r>
            <a:r>
              <a:rPr lang="en-US" dirty="0"/>
              <a:t> </a:t>
            </a:r>
            <a:r>
              <a:rPr lang="en-US" dirty="0" err="1"/>
              <a:t>tại</a:t>
            </a:r>
            <a:endParaRPr lang="en-US" dirty="0"/>
          </a:p>
          <a:p>
            <a:pPr lvl="1"/>
            <a:r>
              <a:rPr lang="en-US" dirty="0"/>
              <a:t> </a:t>
            </a:r>
            <a:r>
              <a:rPr lang="en-US" dirty="0">
                <a:solidFill>
                  <a:schemeClr val="tx2">
                    <a:lumMod val="75000"/>
                  </a:schemeClr>
                </a:solidFill>
              </a:rPr>
              <a:t>[</a:t>
            </a:r>
            <a:r>
              <a:rPr lang="en-US" dirty="0" err="1">
                <a:solidFill>
                  <a:schemeClr val="tx2">
                    <a:lumMod val="75000"/>
                  </a:schemeClr>
                </a:solidFill>
              </a:rPr>
              <a:t>WebMethod</a:t>
            </a:r>
            <a:r>
              <a:rPr lang="en-US" dirty="0">
                <a:solidFill>
                  <a:schemeClr val="tx2">
                    <a:lumMod val="75000"/>
                  </a:schemeClr>
                </a:solidFill>
              </a:rPr>
              <a:t>]     </a:t>
            </a:r>
            <a:br>
              <a:rPr lang="en-US" dirty="0">
                <a:solidFill>
                  <a:schemeClr val="tx2">
                    <a:lumMod val="75000"/>
                  </a:schemeClr>
                </a:solidFill>
              </a:rPr>
            </a:br>
            <a:r>
              <a:rPr lang="en-US" dirty="0">
                <a:solidFill>
                  <a:schemeClr val="tx2">
                    <a:lumMod val="75000"/>
                  </a:schemeClr>
                </a:solidFill>
              </a:rPr>
              <a:t>public string </a:t>
            </a:r>
            <a:r>
              <a:rPr lang="en-US" dirty="0" err="1">
                <a:solidFill>
                  <a:schemeClr val="tx2">
                    <a:lumMod val="75000"/>
                  </a:schemeClr>
                </a:solidFill>
              </a:rPr>
              <a:t>LayGioHienHanh</a:t>
            </a:r>
            <a:r>
              <a:rPr lang="en-US" dirty="0">
                <a:solidFill>
                  <a:schemeClr val="tx2">
                    <a:lumMod val="75000"/>
                  </a:schemeClr>
                </a:solidFill>
              </a:rPr>
              <a:t>() </a:t>
            </a:r>
            <a:br>
              <a:rPr lang="en-US" dirty="0">
                <a:solidFill>
                  <a:schemeClr val="tx2">
                    <a:lumMod val="75000"/>
                  </a:schemeClr>
                </a:solidFill>
              </a:rPr>
            </a:br>
            <a:r>
              <a:rPr lang="en-US" dirty="0">
                <a:solidFill>
                  <a:schemeClr val="tx2">
                    <a:lumMod val="75000"/>
                  </a:schemeClr>
                </a:solidFill>
              </a:rPr>
              <a:t>{         </a:t>
            </a:r>
            <a:br>
              <a:rPr lang="en-US" dirty="0">
                <a:solidFill>
                  <a:schemeClr val="tx2">
                    <a:lumMod val="75000"/>
                  </a:schemeClr>
                </a:solidFill>
              </a:rPr>
            </a:br>
            <a:r>
              <a:rPr lang="en-US" dirty="0">
                <a:solidFill>
                  <a:schemeClr val="tx2">
                    <a:lumMod val="75000"/>
                  </a:schemeClr>
                </a:solidFill>
              </a:rPr>
              <a:t>	return </a:t>
            </a:r>
            <a:r>
              <a:rPr lang="en-US" dirty="0" err="1">
                <a:solidFill>
                  <a:schemeClr val="tx2">
                    <a:lumMod val="75000"/>
                  </a:schemeClr>
                </a:solidFill>
              </a:rPr>
              <a:t>DateTime.Now.ToString</a:t>
            </a:r>
            <a:r>
              <a:rPr lang="en-US" dirty="0">
                <a:solidFill>
                  <a:schemeClr val="tx2">
                    <a:lumMod val="75000"/>
                  </a:schemeClr>
                </a:solidFill>
              </a:rPr>
              <a:t>("</a:t>
            </a:r>
            <a:r>
              <a:rPr lang="en-US" dirty="0" err="1">
                <a:solidFill>
                  <a:schemeClr val="tx2">
                    <a:lumMod val="75000"/>
                  </a:schemeClr>
                </a:solidFill>
              </a:rPr>
              <a:t>hh:mm:ss</a:t>
            </a:r>
            <a:r>
              <a:rPr lang="en-US" dirty="0">
                <a:solidFill>
                  <a:schemeClr val="tx2">
                    <a:lumMod val="75000"/>
                  </a:schemeClr>
                </a:solidFill>
              </a:rPr>
              <a:t>"); </a:t>
            </a:r>
            <a:br>
              <a:rPr lang="en-US" dirty="0">
                <a:solidFill>
                  <a:schemeClr val="tx2">
                    <a:lumMod val="75000"/>
                  </a:schemeClr>
                </a:solidFill>
              </a:rPr>
            </a:br>
            <a:r>
              <a:rPr lang="en-US" dirty="0">
                <a:solidFill>
                  <a:schemeClr val="tx2">
                    <a:lumMod val="75000"/>
                  </a:schemeClr>
                </a:solidFill>
              </a:rPr>
              <a:t>}</a:t>
            </a:r>
          </a:p>
          <a:p>
            <a:r>
              <a:rPr lang="en-US" dirty="0"/>
              <a:t> </a:t>
            </a:r>
          </a:p>
        </p:txBody>
      </p:sp>
      <p:sp>
        <p:nvSpPr>
          <p:cNvPr id="4" name="Slide Number Placeholder 3"/>
          <p:cNvSpPr>
            <a:spLocks noGrp="1"/>
          </p:cNvSpPr>
          <p:nvPr>
            <p:ph type="sldNum" sz="quarter" idx="10"/>
          </p:nvPr>
        </p:nvSpPr>
        <p:spPr/>
        <p:txBody>
          <a:bodyPr/>
          <a:lstStyle/>
          <a:p>
            <a:fld id="{FD4BB625-6399-40EF-8D3C-B968FF32E6CB}" type="slidenum">
              <a:rPr lang="en-US" smtClean="0"/>
              <a:t>14</a:t>
            </a:fld>
            <a:endParaRPr lang="en-US"/>
          </a:p>
        </p:txBody>
      </p:sp>
    </p:spTree>
    <p:extLst>
      <p:ext uri="{BB962C8B-B14F-4D97-AF65-F5344CB8AC3E}">
        <p14:creationId xmlns:p14="http://schemas.microsoft.com/office/powerpoint/2010/main" val="117157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Xây</a:t>
            </a:r>
            <a:r>
              <a:rPr lang="en-US" dirty="0"/>
              <a:t> </a:t>
            </a:r>
            <a:r>
              <a:rPr lang="en-US" dirty="0" err="1"/>
              <a:t>dựng</a:t>
            </a:r>
            <a:r>
              <a:rPr lang="en-US" dirty="0"/>
              <a:t> Web service </a:t>
            </a:r>
            <a:r>
              <a:rPr lang="en-US" dirty="0" err="1"/>
              <a:t>với</a:t>
            </a:r>
            <a:r>
              <a:rPr lang="en-US" dirty="0"/>
              <a:t> ASP.NET </a:t>
            </a:r>
          </a:p>
        </p:txBody>
      </p:sp>
      <p:sp>
        <p:nvSpPr>
          <p:cNvPr id="3" name="Content Placeholder 2"/>
          <p:cNvSpPr>
            <a:spLocks noGrp="1"/>
          </p:cNvSpPr>
          <p:nvPr>
            <p:ph idx="1"/>
          </p:nvPr>
        </p:nvSpPr>
        <p:spPr/>
        <p:txBody>
          <a:bodyPr/>
          <a:lstStyle/>
          <a:p>
            <a:r>
              <a:rPr lang="en-US" dirty="0" err="1"/>
              <a:t>Bước</a:t>
            </a:r>
            <a:r>
              <a:rPr lang="en-US" dirty="0"/>
              <a:t> 3: </a:t>
            </a:r>
            <a:r>
              <a:rPr lang="en-US" dirty="0" err="1"/>
              <a:t>Nhấn</a:t>
            </a:r>
            <a:r>
              <a:rPr lang="en-US" dirty="0"/>
              <a:t> Ctrl + F5 </a:t>
            </a:r>
            <a:r>
              <a:rPr lang="en-US" dirty="0" err="1"/>
              <a:t>để</a:t>
            </a:r>
            <a:r>
              <a:rPr lang="en-US" dirty="0"/>
              <a:t> </a:t>
            </a:r>
            <a:r>
              <a:rPr lang="en-US" dirty="0" err="1"/>
              <a:t>chạy</a:t>
            </a:r>
            <a:r>
              <a:rPr lang="en-US" dirty="0"/>
              <a:t> </a:t>
            </a:r>
            <a:r>
              <a:rPr lang="en-US" dirty="0" err="1"/>
              <a:t>kiểm</a:t>
            </a:r>
            <a:r>
              <a:rPr lang="en-US" dirty="0"/>
              <a:t> </a:t>
            </a:r>
            <a:r>
              <a:rPr lang="en-US" dirty="0" err="1"/>
              <a:t>tra</a:t>
            </a:r>
            <a:r>
              <a:rPr lang="en-US" dirty="0"/>
              <a:t> </a:t>
            </a:r>
            <a:r>
              <a:rPr lang="en-US" dirty="0" err="1"/>
              <a:t>ứng</a:t>
            </a:r>
            <a:r>
              <a:rPr lang="en-US" dirty="0"/>
              <a:t> </a:t>
            </a:r>
            <a:r>
              <a:rPr lang="en-US" dirty="0" err="1"/>
              <a:t>dụng</a:t>
            </a:r>
            <a:endParaRPr lang="en-US" dirty="0"/>
          </a:p>
          <a:p>
            <a:r>
              <a:rPr lang="en-US" dirty="0" err="1"/>
              <a:t>Kết</a:t>
            </a:r>
            <a:r>
              <a:rPr lang="en-US" dirty="0"/>
              <a:t> </a:t>
            </a:r>
            <a:r>
              <a:rPr lang="en-US" dirty="0" err="1"/>
              <a:t>quả</a:t>
            </a:r>
            <a:r>
              <a:rPr lang="en-US" dirty="0"/>
              <a:t> </a:t>
            </a:r>
            <a:r>
              <a:rPr lang="en-US" dirty="0" err="1"/>
              <a:t>thể</a:t>
            </a:r>
            <a:r>
              <a:rPr lang="en-US" dirty="0"/>
              <a:t> </a:t>
            </a:r>
            <a:r>
              <a:rPr lang="en-US" dirty="0" err="1"/>
              <a:t>hiện</a:t>
            </a:r>
            <a:r>
              <a:rPr lang="en-US" dirty="0"/>
              <a:t> </a:t>
            </a:r>
            <a:r>
              <a:rPr lang="en-US" dirty="0" err="1"/>
              <a:t>có</a:t>
            </a:r>
            <a:r>
              <a:rPr lang="en-US" dirty="0"/>
              <a:t> </a:t>
            </a:r>
            <a:r>
              <a:rPr lang="en-US" dirty="0" err="1"/>
              <a:t>dạng</a:t>
            </a:r>
            <a:r>
              <a:rPr lang="en-US" dirty="0"/>
              <a:t> XML</a:t>
            </a:r>
          </a:p>
          <a:p>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15</a:t>
            </a:fld>
            <a:endParaRPr lang="en-US"/>
          </a:p>
        </p:txBody>
      </p:sp>
    </p:spTree>
    <p:extLst>
      <p:ext uri="{BB962C8B-B14F-4D97-AF65-F5344CB8AC3E}">
        <p14:creationId xmlns:p14="http://schemas.microsoft.com/office/powerpoint/2010/main" val="1824616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Sử</a:t>
            </a:r>
            <a:r>
              <a:rPr lang="en-US" dirty="0"/>
              <a:t> </a:t>
            </a:r>
            <a:r>
              <a:rPr lang="en-US" dirty="0" err="1"/>
              <a:t>dụng</a:t>
            </a:r>
            <a:r>
              <a:rPr lang="en-US" dirty="0"/>
              <a:t> Web service</a:t>
            </a:r>
          </a:p>
        </p:txBody>
      </p:sp>
      <p:sp>
        <p:nvSpPr>
          <p:cNvPr id="3" name="Content Placeholder 2"/>
          <p:cNvSpPr>
            <a:spLocks noGrp="1"/>
          </p:cNvSpPr>
          <p:nvPr>
            <p:ph idx="1"/>
          </p:nvPr>
        </p:nvSpPr>
        <p:spPr>
          <a:xfrm>
            <a:off x="940526" y="1476104"/>
            <a:ext cx="10341308" cy="4202386"/>
          </a:xfrm>
        </p:spPr>
        <p:txBody>
          <a:bodyPr/>
          <a:lstStyle/>
          <a:p>
            <a:r>
              <a:rPr lang="vi-VN" dirty="0"/>
              <a:t>Muốn sử dụng WS, Client cần phải biết WS đó hổ trợ những phương thức nào, phương thức có bao nhiêu tham số, kết quả trả về, …</a:t>
            </a:r>
          </a:p>
          <a:p>
            <a:r>
              <a:rPr lang="vi-VN" dirty="0"/>
              <a:t>Các thông tin cần biết này được mô tả bởi tài liệu WSDL</a:t>
            </a:r>
          </a:p>
          <a:p>
            <a:endParaRPr lang="en-US" dirty="0"/>
          </a:p>
        </p:txBody>
      </p:sp>
      <p:pic>
        <p:nvPicPr>
          <p:cNvPr id="6" name="Picture 5"/>
          <p:cNvPicPr>
            <a:picLocks noChangeAspect="1"/>
          </p:cNvPicPr>
          <p:nvPr/>
        </p:nvPicPr>
        <p:blipFill>
          <a:blip r:embed="rId2"/>
          <a:stretch>
            <a:fillRect/>
          </a:stretch>
        </p:blipFill>
        <p:spPr>
          <a:xfrm>
            <a:off x="1167649" y="3152911"/>
            <a:ext cx="9494636" cy="1967729"/>
          </a:xfrm>
          <a:prstGeom prst="rect">
            <a:avLst/>
          </a:prstGeom>
        </p:spPr>
      </p:pic>
      <p:sp>
        <p:nvSpPr>
          <p:cNvPr id="4" name="Slide Number Placeholder 3"/>
          <p:cNvSpPr>
            <a:spLocks noGrp="1"/>
          </p:cNvSpPr>
          <p:nvPr>
            <p:ph type="sldNum" sz="quarter" idx="10"/>
          </p:nvPr>
        </p:nvSpPr>
        <p:spPr/>
        <p:txBody>
          <a:bodyPr/>
          <a:lstStyle/>
          <a:p>
            <a:fld id="{FD4BB625-6399-40EF-8D3C-B968FF32E6CB}" type="slidenum">
              <a:rPr lang="en-US" smtClean="0"/>
              <a:t>16</a:t>
            </a:fld>
            <a:endParaRPr lang="en-US"/>
          </a:p>
        </p:txBody>
      </p:sp>
    </p:spTree>
    <p:extLst>
      <p:ext uri="{BB962C8B-B14F-4D97-AF65-F5344CB8AC3E}">
        <p14:creationId xmlns:p14="http://schemas.microsoft.com/office/powerpoint/2010/main" val="2304862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Sử</a:t>
            </a:r>
            <a:r>
              <a:rPr lang="en-US" dirty="0"/>
              <a:t> </a:t>
            </a:r>
            <a:r>
              <a:rPr lang="en-US" dirty="0" err="1"/>
              <a:t>dụng</a:t>
            </a:r>
            <a:r>
              <a:rPr lang="en-US" dirty="0"/>
              <a:t> Web service</a:t>
            </a:r>
          </a:p>
        </p:txBody>
      </p:sp>
      <p:sp>
        <p:nvSpPr>
          <p:cNvPr id="3" name="Content Placeholder 2"/>
          <p:cNvSpPr>
            <a:spLocks noGrp="1"/>
          </p:cNvSpPr>
          <p:nvPr>
            <p:ph idx="1"/>
          </p:nvPr>
        </p:nvSpPr>
        <p:spPr/>
        <p:txBody>
          <a:bodyPr/>
          <a:lstStyle/>
          <a:p>
            <a:r>
              <a:rPr lang="vi-VN" dirty="0"/>
              <a:t>Bước 1: thêm W</a:t>
            </a:r>
            <a:r>
              <a:rPr lang="en-US" dirty="0" err="1"/>
              <a:t>eb</a:t>
            </a:r>
            <a:r>
              <a:rPr lang="en-US" dirty="0"/>
              <a:t> </a:t>
            </a:r>
            <a:r>
              <a:rPr lang="vi-VN" dirty="0"/>
              <a:t>S</a:t>
            </a:r>
            <a:r>
              <a:rPr lang="en-US" dirty="0" err="1"/>
              <a:t>ervice</a:t>
            </a:r>
            <a:r>
              <a:rPr lang="vi-VN" dirty="0"/>
              <a:t> vào ứng dụng</a:t>
            </a:r>
            <a:endParaRPr lang="en-US" dirty="0"/>
          </a:p>
        </p:txBody>
      </p:sp>
      <p:pic>
        <p:nvPicPr>
          <p:cNvPr id="4" name="Picture 3"/>
          <p:cNvPicPr>
            <a:picLocks noChangeAspect="1"/>
          </p:cNvPicPr>
          <p:nvPr/>
        </p:nvPicPr>
        <p:blipFill>
          <a:blip r:embed="rId2"/>
          <a:stretch>
            <a:fillRect/>
          </a:stretch>
        </p:blipFill>
        <p:spPr>
          <a:xfrm>
            <a:off x="7014481" y="1897064"/>
            <a:ext cx="2913289" cy="4701527"/>
          </a:xfrm>
          <a:prstGeom prst="rect">
            <a:avLst/>
          </a:prstGeom>
        </p:spPr>
      </p:pic>
      <p:sp>
        <p:nvSpPr>
          <p:cNvPr id="5" name="Slide Number Placeholder 4"/>
          <p:cNvSpPr>
            <a:spLocks noGrp="1"/>
          </p:cNvSpPr>
          <p:nvPr>
            <p:ph type="sldNum" sz="quarter" idx="10"/>
          </p:nvPr>
        </p:nvSpPr>
        <p:spPr/>
        <p:txBody>
          <a:bodyPr/>
          <a:lstStyle/>
          <a:p>
            <a:fld id="{FD4BB625-6399-40EF-8D3C-B968FF32E6CB}" type="slidenum">
              <a:rPr lang="en-US" smtClean="0"/>
              <a:t>17</a:t>
            </a:fld>
            <a:endParaRPr lang="en-US"/>
          </a:p>
        </p:txBody>
      </p:sp>
    </p:spTree>
    <p:extLst>
      <p:ext uri="{BB962C8B-B14F-4D97-AF65-F5344CB8AC3E}">
        <p14:creationId xmlns:p14="http://schemas.microsoft.com/office/powerpoint/2010/main" val="1019697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Sử</a:t>
            </a:r>
            <a:r>
              <a:rPr lang="en-US" dirty="0"/>
              <a:t> </a:t>
            </a:r>
            <a:r>
              <a:rPr lang="en-US" dirty="0" err="1"/>
              <a:t>dụng</a:t>
            </a:r>
            <a:r>
              <a:rPr lang="en-US" dirty="0"/>
              <a:t> Web service</a:t>
            </a:r>
          </a:p>
        </p:txBody>
      </p:sp>
      <p:sp>
        <p:nvSpPr>
          <p:cNvPr id="3" name="Content Placeholder 2"/>
          <p:cNvSpPr>
            <a:spLocks noGrp="1"/>
          </p:cNvSpPr>
          <p:nvPr>
            <p:ph idx="1"/>
          </p:nvPr>
        </p:nvSpPr>
        <p:spPr>
          <a:xfrm>
            <a:off x="831852" y="1462906"/>
            <a:ext cx="10367433" cy="3902075"/>
          </a:xfrm>
        </p:spPr>
        <p:txBody>
          <a:bodyPr/>
          <a:lstStyle/>
          <a:p>
            <a:r>
              <a:rPr lang="vi-VN" dirty="0"/>
              <a:t>Bước 2: nhập địa chỉ của W</a:t>
            </a:r>
            <a:r>
              <a:rPr lang="en-US" dirty="0" err="1"/>
              <a:t>eb</a:t>
            </a:r>
            <a:r>
              <a:rPr lang="en-US" dirty="0"/>
              <a:t> service</a:t>
            </a:r>
            <a:r>
              <a:rPr lang="vi-VN" dirty="0"/>
              <a:t> vào ô URL , nhấn Go</a:t>
            </a:r>
          </a:p>
          <a:p>
            <a:r>
              <a:rPr lang="vi-VN" dirty="0"/>
              <a:t>Bước 3: Đặt tên cho W</a:t>
            </a:r>
            <a:r>
              <a:rPr lang="en-US" dirty="0" err="1"/>
              <a:t>eb</a:t>
            </a:r>
            <a:r>
              <a:rPr lang="en-US" dirty="0"/>
              <a:t> service</a:t>
            </a:r>
            <a:r>
              <a:rPr lang="vi-VN" dirty="0"/>
              <a:t> trong ô Web reference name, nhấn nút Add Reference để hoàn tất</a:t>
            </a:r>
            <a:r>
              <a:rPr lang="en-US" dirty="0"/>
              <a:t>.</a:t>
            </a:r>
            <a:endParaRPr lang="vi-VN" dirty="0"/>
          </a:p>
          <a:p>
            <a:r>
              <a:rPr lang="vi-VN" dirty="0"/>
              <a:t>Xuất hiện WS trong project</a:t>
            </a:r>
          </a:p>
        </p:txBody>
      </p:sp>
      <p:pic>
        <p:nvPicPr>
          <p:cNvPr id="5" name="Picture 4"/>
          <p:cNvPicPr>
            <a:picLocks noChangeAspect="1"/>
          </p:cNvPicPr>
          <p:nvPr/>
        </p:nvPicPr>
        <p:blipFill>
          <a:blip r:embed="rId2"/>
          <a:stretch>
            <a:fillRect/>
          </a:stretch>
        </p:blipFill>
        <p:spPr>
          <a:xfrm>
            <a:off x="5702301" y="3025138"/>
            <a:ext cx="3520670" cy="2850745"/>
          </a:xfrm>
          <a:prstGeom prst="rect">
            <a:avLst/>
          </a:prstGeom>
        </p:spPr>
      </p:pic>
      <p:sp>
        <p:nvSpPr>
          <p:cNvPr id="4" name="Slide Number Placeholder 3"/>
          <p:cNvSpPr>
            <a:spLocks noGrp="1"/>
          </p:cNvSpPr>
          <p:nvPr>
            <p:ph type="sldNum" sz="quarter" idx="10"/>
          </p:nvPr>
        </p:nvSpPr>
        <p:spPr/>
        <p:txBody>
          <a:bodyPr/>
          <a:lstStyle/>
          <a:p>
            <a:fld id="{FD4BB625-6399-40EF-8D3C-B968FF32E6CB}" type="slidenum">
              <a:rPr lang="en-US" smtClean="0"/>
              <a:t>18</a:t>
            </a:fld>
            <a:endParaRPr lang="en-US"/>
          </a:p>
        </p:txBody>
      </p:sp>
    </p:spTree>
    <p:extLst>
      <p:ext uri="{BB962C8B-B14F-4D97-AF65-F5344CB8AC3E}">
        <p14:creationId xmlns:p14="http://schemas.microsoft.com/office/powerpoint/2010/main" val="3542141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Sử</a:t>
            </a:r>
            <a:r>
              <a:rPr lang="en-US" dirty="0"/>
              <a:t> </a:t>
            </a:r>
            <a:r>
              <a:rPr lang="en-US" dirty="0" err="1"/>
              <a:t>dụng</a:t>
            </a:r>
            <a:r>
              <a:rPr lang="en-US" dirty="0"/>
              <a:t> Web service</a:t>
            </a:r>
          </a:p>
        </p:txBody>
      </p:sp>
      <p:sp>
        <p:nvSpPr>
          <p:cNvPr id="3" name="Content Placeholder 2"/>
          <p:cNvSpPr>
            <a:spLocks noGrp="1"/>
          </p:cNvSpPr>
          <p:nvPr>
            <p:ph idx="1"/>
          </p:nvPr>
        </p:nvSpPr>
        <p:spPr>
          <a:xfrm>
            <a:off x="831852" y="1462906"/>
            <a:ext cx="10367433" cy="3902075"/>
          </a:xfrm>
        </p:spPr>
        <p:txBody>
          <a:bodyPr/>
          <a:lstStyle/>
          <a:p>
            <a:r>
              <a:rPr lang="en-US" dirty="0" err="1"/>
              <a:t>Tạo</a:t>
            </a:r>
            <a:r>
              <a:rPr lang="en-US" dirty="0"/>
              <a:t> </a:t>
            </a:r>
            <a:r>
              <a:rPr lang="en-US" dirty="0" err="1"/>
              <a:t>một</a:t>
            </a:r>
            <a:r>
              <a:rPr lang="en-US" dirty="0"/>
              <a:t> </a:t>
            </a:r>
            <a:r>
              <a:rPr lang="en-US" dirty="0" err="1"/>
              <a:t>trang</a:t>
            </a:r>
            <a:r>
              <a:rPr lang="en-US" dirty="0"/>
              <a:t> .</a:t>
            </a:r>
            <a:r>
              <a:rPr lang="en-US" dirty="0" err="1"/>
              <a:t>aspx</a:t>
            </a:r>
            <a:r>
              <a:rPr lang="en-US" dirty="0"/>
              <a:t> </a:t>
            </a:r>
            <a:r>
              <a:rPr lang="en-US" dirty="0" err="1"/>
              <a:t>để</a:t>
            </a:r>
            <a:r>
              <a:rPr lang="en-US" dirty="0"/>
              <a:t> </a:t>
            </a:r>
            <a:r>
              <a:rPr lang="en-US" dirty="0" err="1"/>
              <a:t>sử</a:t>
            </a:r>
            <a:r>
              <a:rPr lang="en-US" dirty="0"/>
              <a:t> </a:t>
            </a:r>
            <a:r>
              <a:rPr lang="en-US" dirty="0" err="1"/>
              <a:t>dụng</a:t>
            </a:r>
            <a:r>
              <a:rPr lang="en-US" dirty="0"/>
              <a:t> web service, </a:t>
            </a:r>
            <a:r>
              <a:rPr lang="en-US" dirty="0" err="1"/>
              <a:t>ví</a:t>
            </a:r>
            <a:r>
              <a:rPr lang="en-US" dirty="0"/>
              <a:t> </a:t>
            </a:r>
            <a:r>
              <a:rPr lang="en-US" dirty="0" err="1"/>
              <a:t>dụ</a:t>
            </a:r>
            <a:r>
              <a:rPr lang="en-US" dirty="0"/>
              <a:t> </a:t>
            </a:r>
            <a:r>
              <a:rPr lang="en-US" dirty="0" err="1"/>
              <a:t>tạo</a:t>
            </a:r>
            <a:r>
              <a:rPr lang="en-US" dirty="0"/>
              <a:t> </a:t>
            </a:r>
            <a:r>
              <a:rPr lang="en-US" dirty="0" err="1"/>
              <a:t>một</a:t>
            </a:r>
            <a:r>
              <a:rPr lang="en-US" dirty="0"/>
              <a:t> </a:t>
            </a:r>
            <a:r>
              <a:rPr lang="en-US" dirty="0" err="1"/>
              <a:t>trang</a:t>
            </a:r>
            <a:r>
              <a:rPr lang="en-US" dirty="0"/>
              <a:t> .</a:t>
            </a:r>
            <a:r>
              <a:rPr lang="en-US" dirty="0" err="1"/>
              <a:t>aspx</a:t>
            </a:r>
            <a:r>
              <a:rPr lang="en-US" dirty="0"/>
              <a:t> </a:t>
            </a:r>
            <a:r>
              <a:rPr lang="en-US" dirty="0" err="1"/>
              <a:t>để</a:t>
            </a:r>
            <a:r>
              <a:rPr lang="en-US" dirty="0"/>
              <a:t> </a:t>
            </a:r>
            <a:r>
              <a:rPr lang="en-US" dirty="0" err="1"/>
              <a:t>lấy</a:t>
            </a:r>
            <a:r>
              <a:rPr lang="en-US" dirty="0"/>
              <a:t> </a:t>
            </a:r>
            <a:r>
              <a:rPr lang="en-US" dirty="0" err="1"/>
              <a:t>giờ</a:t>
            </a:r>
            <a:r>
              <a:rPr lang="en-US" dirty="0"/>
              <a:t> </a:t>
            </a:r>
            <a:r>
              <a:rPr lang="en-US" dirty="0" err="1"/>
              <a:t>hiện</a:t>
            </a:r>
            <a:r>
              <a:rPr lang="en-US" dirty="0"/>
              <a:t> </a:t>
            </a:r>
            <a:r>
              <a:rPr lang="en-US" dirty="0" err="1"/>
              <a:t>hành</a:t>
            </a:r>
            <a:r>
              <a:rPr lang="en-US" dirty="0"/>
              <a:t> (</a:t>
            </a:r>
            <a:r>
              <a:rPr lang="en-US" dirty="0" err="1"/>
              <a:t>sử</a:t>
            </a:r>
            <a:r>
              <a:rPr lang="en-US" dirty="0"/>
              <a:t> </a:t>
            </a:r>
            <a:r>
              <a:rPr lang="en-US" dirty="0" err="1"/>
              <a:t>dụng</a:t>
            </a:r>
            <a:r>
              <a:rPr lang="en-US" dirty="0"/>
              <a:t> </a:t>
            </a:r>
            <a:r>
              <a:rPr lang="en-US" dirty="0" err="1"/>
              <a:t>phương</a:t>
            </a:r>
            <a:r>
              <a:rPr lang="en-US" dirty="0"/>
              <a:t> </a:t>
            </a:r>
            <a:r>
              <a:rPr lang="en-US" dirty="0" err="1"/>
              <a:t>thức</a:t>
            </a:r>
            <a:r>
              <a:rPr lang="en-US" dirty="0"/>
              <a:t> </a:t>
            </a:r>
            <a:r>
              <a:rPr lang="en-US" dirty="0" err="1">
                <a:solidFill>
                  <a:schemeClr val="tx2">
                    <a:lumMod val="75000"/>
                  </a:schemeClr>
                </a:solidFill>
              </a:rPr>
              <a:t>LayGioHienHanh</a:t>
            </a:r>
            <a:r>
              <a:rPr lang="en-US" dirty="0">
                <a:solidFill>
                  <a:schemeClr val="tx2">
                    <a:lumMod val="75000"/>
                  </a:schemeClr>
                </a:solidFill>
              </a:rPr>
              <a:t>() </a:t>
            </a:r>
            <a:r>
              <a:rPr lang="en-US" dirty="0" err="1"/>
              <a:t>từ</a:t>
            </a:r>
            <a:r>
              <a:rPr lang="en-US" dirty="0"/>
              <a:t> web service)</a:t>
            </a:r>
          </a:p>
          <a:p>
            <a:r>
              <a:rPr lang="en-US" dirty="0">
                <a:solidFill>
                  <a:schemeClr val="tx2">
                    <a:lumMod val="75000"/>
                  </a:schemeClr>
                </a:solidFill>
              </a:rPr>
              <a:t>       </a:t>
            </a:r>
            <a:r>
              <a:rPr lang="vi-VN" dirty="0">
                <a:solidFill>
                  <a:schemeClr val="tx2">
                    <a:lumMod val="75000"/>
                  </a:schemeClr>
                </a:solidFill>
              </a:rPr>
              <a:t>//khai báo đối tượng vdwwebservice</a:t>
            </a:r>
          </a:p>
          <a:p>
            <a:r>
              <a:rPr lang="en-US" dirty="0">
                <a:solidFill>
                  <a:schemeClr val="tx2">
                    <a:lumMod val="75000"/>
                  </a:schemeClr>
                </a:solidFill>
              </a:rPr>
              <a:t>        </a:t>
            </a:r>
            <a:r>
              <a:rPr lang="en-US" dirty="0" err="1">
                <a:solidFill>
                  <a:schemeClr val="tx2">
                    <a:lumMod val="75000"/>
                  </a:schemeClr>
                </a:solidFill>
              </a:rPr>
              <a:t>localhost.vdwebservice</a:t>
            </a:r>
            <a:r>
              <a:rPr lang="en-US" dirty="0">
                <a:solidFill>
                  <a:schemeClr val="tx2">
                    <a:lumMod val="75000"/>
                  </a:schemeClr>
                </a:solidFill>
              </a:rPr>
              <a:t> s = new </a:t>
            </a:r>
            <a:r>
              <a:rPr lang="en-US" dirty="0" err="1">
                <a:solidFill>
                  <a:schemeClr val="tx2">
                    <a:lumMod val="75000"/>
                  </a:schemeClr>
                </a:solidFill>
              </a:rPr>
              <a:t>localhost.vdwebservice</a:t>
            </a:r>
            <a:r>
              <a:rPr lang="en-US" dirty="0">
                <a:solidFill>
                  <a:schemeClr val="tx2">
                    <a:lumMod val="75000"/>
                  </a:schemeClr>
                </a:solidFill>
              </a:rPr>
              <a:t>();</a:t>
            </a:r>
          </a:p>
          <a:p>
            <a:r>
              <a:rPr lang="vi-VN" dirty="0">
                <a:solidFill>
                  <a:schemeClr val="tx2">
                    <a:lumMod val="75000"/>
                  </a:schemeClr>
                </a:solidFill>
              </a:rPr>
              <a:t>        // gọi phương thức lấy giờ hiện hành</a:t>
            </a:r>
          </a:p>
          <a:p>
            <a:r>
              <a:rPr lang="en-US" dirty="0">
                <a:solidFill>
                  <a:schemeClr val="tx2">
                    <a:lumMod val="75000"/>
                  </a:schemeClr>
                </a:solidFill>
              </a:rPr>
              <a:t>        </a:t>
            </a:r>
            <a:r>
              <a:rPr lang="en-US" dirty="0" err="1">
                <a:solidFill>
                  <a:schemeClr val="tx2">
                    <a:lumMod val="75000"/>
                  </a:schemeClr>
                </a:solidFill>
              </a:rPr>
              <a:t>lbltime.Text</a:t>
            </a:r>
            <a:r>
              <a:rPr lang="en-US" dirty="0">
                <a:solidFill>
                  <a:schemeClr val="tx2">
                    <a:lumMod val="75000"/>
                  </a:schemeClr>
                </a:solidFill>
              </a:rPr>
              <a:t> = </a:t>
            </a:r>
            <a:r>
              <a:rPr lang="en-US" dirty="0" err="1">
                <a:solidFill>
                  <a:schemeClr val="tx2">
                    <a:lumMod val="75000"/>
                  </a:schemeClr>
                </a:solidFill>
              </a:rPr>
              <a:t>s.LayGioHienHanh</a:t>
            </a:r>
            <a:r>
              <a:rPr lang="en-US" dirty="0">
                <a:solidFill>
                  <a:schemeClr val="tx2">
                    <a:lumMod val="75000"/>
                  </a:schemeClr>
                </a:solidFill>
              </a:rPr>
              <a:t>();</a:t>
            </a:r>
            <a:endParaRPr lang="vi-VN" dirty="0">
              <a:solidFill>
                <a:schemeClr val="tx2">
                  <a:lumMod val="75000"/>
                </a:schemeClr>
              </a:solidFill>
            </a:endParaRPr>
          </a:p>
        </p:txBody>
      </p:sp>
      <p:sp>
        <p:nvSpPr>
          <p:cNvPr id="4" name="Slide Number Placeholder 3"/>
          <p:cNvSpPr>
            <a:spLocks noGrp="1"/>
          </p:cNvSpPr>
          <p:nvPr>
            <p:ph type="sldNum" sz="quarter" idx="10"/>
          </p:nvPr>
        </p:nvSpPr>
        <p:spPr/>
        <p:txBody>
          <a:bodyPr/>
          <a:lstStyle/>
          <a:p>
            <a:fld id="{FD4BB625-6399-40EF-8D3C-B968FF32E6CB}" type="slidenum">
              <a:rPr lang="en-US" smtClean="0"/>
              <a:t>19</a:t>
            </a:fld>
            <a:endParaRPr lang="en-US"/>
          </a:p>
        </p:txBody>
      </p:sp>
    </p:spTree>
    <p:extLst>
      <p:ext uri="{BB962C8B-B14F-4D97-AF65-F5344CB8AC3E}">
        <p14:creationId xmlns:p14="http://schemas.microsoft.com/office/powerpoint/2010/main" val="2359746097"/>
      </p:ext>
    </p:extLst>
  </p:cSld>
  <p:clrMapOvr>
    <a:masterClrMapping/>
  </p:clrMapOvr>
</p:sld>
</file>

<file path=ppt/theme/theme1.xml><?xml version="1.0" encoding="utf-8"?>
<a:theme xmlns:a="http://schemas.openxmlformats.org/drawingml/2006/main" name="theme_baigiang">
  <a:themeElements>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fontScheme name="System i5 simplify pear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lnDef>
  </a:objectDefaults>
  <a:extraClrSchemeLst>
    <a:extraClrScheme>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clrMap bg1="lt1" tx1="dk1" bg2="lt2" tx2="dk2" accent1="accent1" accent2="accent2" accent3="accent3" accent4="accent4" accent5="accent5" accent6="accent6" hlink="hlink" folHlink="folHlink"/>
    </a:extraClrScheme>
    <a:extraClrScheme>
      <a:clrScheme name="System i5 simplify pearl 2">
        <a:dk1>
          <a:srgbClr val="808080"/>
        </a:dk1>
        <a:lt1>
          <a:srgbClr val="FFFFFF"/>
        </a:lt1>
        <a:dk2>
          <a:srgbClr val="000000"/>
        </a:dk2>
        <a:lt2>
          <a:srgbClr val="CCCCFF"/>
        </a:lt2>
        <a:accent1>
          <a:srgbClr val="7889FB"/>
        </a:accent1>
        <a:accent2>
          <a:srgbClr val="DFFF66"/>
        </a:accent2>
        <a:accent3>
          <a:srgbClr val="AAAAAA"/>
        </a:accent3>
        <a:accent4>
          <a:srgbClr val="DADADA"/>
        </a:accent4>
        <a:accent5>
          <a:srgbClr val="BEC4FD"/>
        </a:accent5>
        <a:accent6>
          <a:srgbClr val="CAE75C"/>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baigiang" id="{3BBCB59F-46B3-4750-81BA-6C4F98FE1C04}" vid="{0636B514-BCA1-4FE9-A26C-FDE946C1D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theme_baigiang</Template>
  <TotalTime>592</TotalTime>
  <Words>1790</Words>
  <Application>Microsoft Office PowerPoint</Application>
  <PresentationFormat>Widescreen</PresentationFormat>
  <Paragraphs>116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MS PGothic</vt:lpstr>
      <vt:lpstr>Arial</vt:lpstr>
      <vt:lpstr>Calibri</vt:lpstr>
      <vt:lpstr>Wingdings</vt:lpstr>
      <vt:lpstr>theme_baigiang</vt:lpstr>
      <vt:lpstr>Chương 6: Web Service</vt:lpstr>
      <vt:lpstr>Nội dung</vt:lpstr>
      <vt:lpstr>1. Giới thiệu về Web service</vt:lpstr>
      <vt:lpstr>1.1. Khái niệm về Web service</vt:lpstr>
      <vt:lpstr>1.1. Khái niệm về Web service</vt:lpstr>
      <vt:lpstr>1.2. Đặc điểm của hệ thống Web service</vt:lpstr>
      <vt:lpstr>1.3. Kiến trúc của Web service </vt:lpstr>
      <vt:lpstr>1.3.1. XML – Extensible Markup Language</vt:lpstr>
      <vt:lpstr>1.3.2. SOAP – Simple Object Access Protoco</vt:lpstr>
      <vt:lpstr>1.3.3. WSDL – Web Services Description Language</vt:lpstr>
      <vt:lpstr>1.3.3. WSDL – Web Services Description Language</vt:lpstr>
      <vt:lpstr>1.3.4. UDDI – Universal Description, Discovery, and Integration </vt:lpstr>
      <vt:lpstr>Tóm lại</vt:lpstr>
      <vt:lpstr>2. Xây dựng Web service với ASP.NET </vt:lpstr>
      <vt:lpstr>2. Xây dựng Web service với ASP.NET </vt:lpstr>
      <vt:lpstr>3. Sử dụng Web service</vt:lpstr>
      <vt:lpstr>3. Sử dụng Web service</vt:lpstr>
      <vt:lpstr>3. Sử dụng Web service</vt:lpstr>
      <vt:lpstr>3. Sử dụng Web service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4: Quản lý trạng thái</dc:title>
  <dc:creator>Admin</dc:creator>
  <cp:lastModifiedBy>Đỗ Thị Nhâm</cp:lastModifiedBy>
  <cp:revision>81</cp:revision>
  <cp:lastPrinted>2019-03-12T08:59:33Z</cp:lastPrinted>
  <dcterms:created xsi:type="dcterms:W3CDTF">2019-02-21T21:28:05Z</dcterms:created>
  <dcterms:modified xsi:type="dcterms:W3CDTF">2026-08-09T15:31:16Z</dcterms:modified>
</cp:coreProperties>
</file>