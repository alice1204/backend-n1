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handoutMasterIdLst>
    <p:handoutMasterId r:id="rId32"/>
  </p:handoutMasterIdLst>
  <p:sldIdLst>
    <p:sldId id="256" r:id="rId2"/>
    <p:sldId id="257" r:id="rId3"/>
    <p:sldId id="258" r:id="rId4"/>
    <p:sldId id="262" r:id="rId5"/>
    <p:sldId id="263" r:id="rId6"/>
    <p:sldId id="264" r:id="rId7"/>
    <p:sldId id="259" r:id="rId8"/>
    <p:sldId id="265" r:id="rId9"/>
    <p:sldId id="266" r:id="rId10"/>
    <p:sldId id="261" r:id="rId11"/>
    <p:sldId id="267" r:id="rId12"/>
    <p:sldId id="268" r:id="rId13"/>
    <p:sldId id="307" r:id="rId14"/>
    <p:sldId id="269" r:id="rId15"/>
    <p:sldId id="270" r:id="rId16"/>
    <p:sldId id="271" r:id="rId17"/>
    <p:sldId id="280" r:id="rId18"/>
    <p:sldId id="281" r:id="rId19"/>
    <p:sldId id="282" r:id="rId20"/>
    <p:sldId id="283" r:id="rId21"/>
    <p:sldId id="284" r:id="rId22"/>
    <p:sldId id="285" r:id="rId23"/>
    <p:sldId id="308" r:id="rId24"/>
    <p:sldId id="309" r:id="rId25"/>
    <p:sldId id="310" r:id="rId26"/>
    <p:sldId id="311" r:id="rId27"/>
    <p:sldId id="272" r:id="rId28"/>
    <p:sldId id="273" r:id="rId29"/>
    <p:sldId id="306" r:id="rId30"/>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D71A6671-AB5C-4ABD-AC4F-E3150BB42B47}" type="datetimeFigureOut">
              <a:rPr lang="en-US" smtClean="0"/>
              <a:t>8/9/2026</a:t>
            </a:fld>
            <a:endParaRPr lang="en-US"/>
          </a:p>
        </p:txBody>
      </p:sp>
      <p:sp>
        <p:nvSpPr>
          <p:cNvPr id="4" name="Footer Placeholder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6462F37D-2B21-4C7E-8731-25F66C7B8A66}" type="slidenum">
              <a:rPr lang="en-US" smtClean="0"/>
              <a:t>‹#›</a:t>
            </a:fld>
            <a:endParaRPr lang="en-US"/>
          </a:p>
        </p:txBody>
      </p:sp>
    </p:spTree>
    <p:extLst>
      <p:ext uri="{BB962C8B-B14F-4D97-AF65-F5344CB8AC3E}">
        <p14:creationId xmlns:p14="http://schemas.microsoft.com/office/powerpoint/2010/main" val="24120517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0C211C2B-B76C-473A-8D2B-6DABEB6B30D5}" type="datetimeFigureOut">
              <a:rPr lang="en-US" smtClean="0"/>
              <a:t>8/9/2026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584EE60F-CEC3-4580-80DD-C282C8ABA789}" type="slidenum">
              <a:rPr lang="en-US" smtClean="0"/>
              <a:t>‹#›</a:t>
            </a:fld>
            <a:endParaRPr lang="en-US"/>
          </a:p>
        </p:txBody>
      </p:sp>
    </p:spTree>
    <p:extLst>
      <p:ext uri="{BB962C8B-B14F-4D97-AF65-F5344CB8AC3E}">
        <p14:creationId xmlns:p14="http://schemas.microsoft.com/office/powerpoint/2010/main" val="3607967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TEXTUR~21"/>
          <p:cNvPicPr>
            <a:picLocks noChangeAspect="1" noChangeArrowheads="1"/>
          </p:cNvPicPr>
          <p:nvPr/>
        </p:nvPicPr>
        <p:blipFill>
          <a:blip r:embed="rId2" cstate="print"/>
          <a:srcRect/>
          <a:stretch>
            <a:fillRect/>
          </a:stretch>
        </p:blipFill>
        <p:spPr bwMode="auto">
          <a:xfrm>
            <a:off x="0" y="1690689"/>
            <a:ext cx="12192000" cy="3475037"/>
          </a:xfrm>
          <a:prstGeom prst="rect">
            <a:avLst/>
          </a:prstGeom>
          <a:noFill/>
          <a:ln w="9525">
            <a:noFill/>
            <a:miter lim="800000"/>
            <a:headEnd/>
            <a:tailEnd/>
          </a:ln>
        </p:spPr>
      </p:pic>
      <p:sp>
        <p:nvSpPr>
          <p:cNvPr id="5" name="Rectangle 3"/>
          <p:cNvSpPr>
            <a:spLocks noChangeArrowheads="1"/>
          </p:cNvSpPr>
          <p:nvPr/>
        </p:nvSpPr>
        <p:spPr bwMode="blackWhite">
          <a:xfrm>
            <a:off x="1" y="1"/>
            <a:ext cx="12187767" cy="1692275"/>
          </a:xfrm>
          <a:prstGeom prst="rect">
            <a:avLst/>
          </a:prstGeom>
          <a:solidFill>
            <a:schemeClr val="accent1"/>
          </a:solidFill>
          <a:ln w="3175">
            <a:solidFill>
              <a:schemeClr val="accent1"/>
            </a:solidFill>
            <a:miter lim="800000"/>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6" name="Rectangle 4"/>
          <p:cNvSpPr>
            <a:spLocks noChangeArrowheads="1"/>
          </p:cNvSpPr>
          <p:nvPr/>
        </p:nvSpPr>
        <p:spPr bwMode="blackWhite">
          <a:xfrm>
            <a:off x="1" y="5164139"/>
            <a:ext cx="12187767" cy="1692275"/>
          </a:xfrm>
          <a:prstGeom prst="rect">
            <a:avLst/>
          </a:prstGeom>
          <a:solidFill>
            <a:schemeClr val="accent1"/>
          </a:solidFill>
          <a:ln w="3175">
            <a:solidFill>
              <a:schemeClr val="accent1"/>
            </a:solidFill>
            <a:miter lim="800000"/>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7" name="Rectangle 8"/>
          <p:cNvSpPr>
            <a:spLocks noChangeArrowheads="1"/>
          </p:cNvSpPr>
          <p:nvPr/>
        </p:nvSpPr>
        <p:spPr bwMode="black">
          <a:xfrm>
            <a:off x="2675467" y="1287464"/>
            <a:ext cx="5471584" cy="306387"/>
          </a:xfrm>
          <a:prstGeom prst="rect">
            <a:avLst/>
          </a:prstGeom>
          <a:noFill/>
          <a:ln w="9525" algn="ctr">
            <a:noFill/>
            <a:miter lim="800000"/>
            <a:headEnd/>
            <a:tailEnd/>
          </a:ln>
          <a:effectLst/>
        </p:spPr>
        <p:txBody>
          <a:bodyPr lIns="18284" tIns="18284" rIns="18284" bIns="18284" anchor="ctr"/>
          <a:lstStyle/>
          <a:p>
            <a:pPr marL="342900" indent="-342900">
              <a:lnSpc>
                <a:spcPct val="98000"/>
              </a:lnSpc>
              <a:spcBef>
                <a:spcPct val="20000"/>
              </a:spcBef>
              <a:defRPr/>
            </a:pPr>
            <a:r>
              <a:rPr lang="en-US" sz="1800" dirty="0" err="1">
                <a:solidFill>
                  <a:srgbClr val="FFFFFF"/>
                </a:solidFill>
                <a:ea typeface="MS PGothic" pitchFamily="34" charset="-128"/>
                <a:cs typeface="+mn-cs"/>
              </a:rPr>
              <a:t>Phát</a:t>
            </a:r>
            <a:r>
              <a:rPr lang="en-US" sz="1800" baseline="0" dirty="0">
                <a:solidFill>
                  <a:srgbClr val="FFFFFF"/>
                </a:solidFill>
                <a:ea typeface="MS PGothic" pitchFamily="34" charset="-128"/>
                <a:cs typeface="+mn-cs"/>
              </a:rPr>
              <a:t> </a:t>
            </a:r>
            <a:r>
              <a:rPr lang="en-US" sz="1800" baseline="0" dirty="0" err="1">
                <a:solidFill>
                  <a:srgbClr val="FFFFFF"/>
                </a:solidFill>
                <a:ea typeface="MS PGothic" pitchFamily="34" charset="-128"/>
                <a:cs typeface="+mn-cs"/>
              </a:rPr>
              <a:t>triển</a:t>
            </a:r>
            <a:r>
              <a:rPr lang="en-US" sz="1800" baseline="0" dirty="0">
                <a:solidFill>
                  <a:srgbClr val="FFFFFF"/>
                </a:solidFill>
                <a:ea typeface="MS PGothic" pitchFamily="34" charset="-128"/>
                <a:cs typeface="+mn-cs"/>
              </a:rPr>
              <a:t> Web Back-End</a:t>
            </a:r>
            <a:endParaRPr lang="en-US" sz="1800" dirty="0">
              <a:solidFill>
                <a:srgbClr val="FFFFFF"/>
              </a:solidFill>
              <a:ea typeface="MS PGothic" pitchFamily="34" charset="-128"/>
              <a:cs typeface="+mn-cs"/>
            </a:endParaRPr>
          </a:p>
        </p:txBody>
      </p:sp>
      <p:sp>
        <p:nvSpPr>
          <p:cNvPr id="8" name="Line 11"/>
          <p:cNvSpPr>
            <a:spLocks noChangeShapeType="1"/>
          </p:cNvSpPr>
          <p:nvPr/>
        </p:nvSpPr>
        <p:spPr bwMode="black">
          <a:xfrm flipV="1">
            <a:off x="2484967" y="4217988"/>
            <a:ext cx="0" cy="933450"/>
          </a:xfrm>
          <a:prstGeom prst="line">
            <a:avLst/>
          </a:prstGeom>
          <a:noFill/>
          <a:ln w="12700">
            <a:solidFill>
              <a:schemeClr val="bg2"/>
            </a:solidFill>
            <a:round/>
            <a:headEnd/>
            <a:tailEnd/>
          </a:ln>
          <a:effectLst/>
        </p:spPr>
        <p:txBody>
          <a:bodyP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9" name="Line 12"/>
          <p:cNvSpPr>
            <a:spLocks noChangeShapeType="1"/>
          </p:cNvSpPr>
          <p:nvPr/>
        </p:nvSpPr>
        <p:spPr bwMode="black">
          <a:xfrm flipV="1">
            <a:off x="2482851" y="1362076"/>
            <a:ext cx="0" cy="328613"/>
          </a:xfrm>
          <a:prstGeom prst="line">
            <a:avLst/>
          </a:prstGeom>
          <a:noFill/>
          <a:ln w="12700">
            <a:solidFill>
              <a:srgbClr val="FFFFFF"/>
            </a:solidFill>
            <a:round/>
            <a:headEnd/>
            <a:tailEnd/>
          </a:ln>
          <a:effectLst/>
        </p:spPr>
        <p:txBody>
          <a:bodyP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11" name="TextBox 10"/>
          <p:cNvSpPr txBox="1"/>
          <p:nvPr/>
        </p:nvSpPr>
        <p:spPr>
          <a:xfrm>
            <a:off x="3556000" y="5410201"/>
            <a:ext cx="7620000" cy="436563"/>
          </a:xfrm>
          <a:prstGeom prst="rect">
            <a:avLst/>
          </a:prstGeom>
          <a:noFill/>
        </p:spPr>
        <p:txBody>
          <a:bodyPr>
            <a:spAutoFit/>
          </a:bodyPr>
          <a:lstStyle/>
          <a:p>
            <a:pPr algn="r">
              <a:lnSpc>
                <a:spcPct val="80000"/>
              </a:lnSpc>
              <a:spcBef>
                <a:spcPct val="25000"/>
              </a:spcBef>
              <a:spcAft>
                <a:spcPct val="15000"/>
              </a:spcAft>
              <a:buClr>
                <a:srgbClr val="6CA6B8"/>
              </a:buClr>
              <a:buFont typeface="Arial" charset="0"/>
              <a:buNone/>
              <a:defRPr/>
            </a:pPr>
            <a:r>
              <a:rPr lang="en-US" sz="2800" b="1" i="1" dirty="0" err="1">
                <a:solidFill>
                  <a:schemeClr val="bg1"/>
                </a:solidFill>
                <a:effectLst>
                  <a:outerShdw blurRad="38100" dist="38100" dir="2700000" algn="tl">
                    <a:srgbClr val="000000">
                      <a:alpha val="43137"/>
                    </a:srgbClr>
                  </a:outerShdw>
                </a:effectLst>
                <a:ea typeface="MS PGothic" pitchFamily="34" charset="-128"/>
                <a:cs typeface="+mn-cs"/>
              </a:rPr>
              <a:t>Khoa</a:t>
            </a:r>
            <a:r>
              <a:rPr lang="en-US" sz="2800" b="1" i="1" dirty="0">
                <a:solidFill>
                  <a:schemeClr val="bg1"/>
                </a:solidFill>
                <a:effectLst>
                  <a:outerShdw blurRad="38100" dist="38100" dir="2700000" algn="tl">
                    <a:srgbClr val="000000">
                      <a:alpha val="43137"/>
                    </a:srgbClr>
                  </a:outerShdw>
                </a:effectLst>
                <a:ea typeface="MS PGothic" pitchFamily="34" charset="-128"/>
                <a:cs typeface="+mn-cs"/>
              </a:rPr>
              <a:t> CNTT – HVNNVN</a:t>
            </a:r>
          </a:p>
        </p:txBody>
      </p:sp>
      <p:sp>
        <p:nvSpPr>
          <p:cNvPr id="8197" name="Rectangle 5"/>
          <p:cNvSpPr>
            <a:spLocks noGrp="1" noChangeArrowheads="1"/>
          </p:cNvSpPr>
          <p:nvPr>
            <p:ph type="ctrTitle"/>
          </p:nvPr>
        </p:nvSpPr>
        <p:spPr bwMode="black">
          <a:xfrm>
            <a:off x="520701" y="2291645"/>
            <a:ext cx="10606617" cy="1672344"/>
          </a:xfrm>
        </p:spPr>
        <p:txBody>
          <a:bodyPr anchor="t"/>
          <a:lstStyle>
            <a:lvl1pPr>
              <a:lnSpc>
                <a:spcPct val="150000"/>
              </a:lnSpc>
              <a:defRPr>
                <a:solidFill>
                  <a:schemeClr val="tx1"/>
                </a:solidFill>
              </a:defRPr>
            </a:lvl1pPr>
          </a:lstStyle>
          <a:p>
            <a:r>
              <a:rPr lang="en-US"/>
              <a:t>Click to edit Master title style</a:t>
            </a:r>
          </a:p>
        </p:txBody>
      </p:sp>
      <p:sp>
        <p:nvSpPr>
          <p:cNvPr id="8198" name="Rectangle 6"/>
          <p:cNvSpPr>
            <a:spLocks noGrp="1" noChangeArrowheads="1"/>
          </p:cNvSpPr>
          <p:nvPr>
            <p:ph type="subTitle" idx="1"/>
          </p:nvPr>
        </p:nvSpPr>
        <p:spPr bwMode="black">
          <a:xfrm>
            <a:off x="2599267" y="4106864"/>
            <a:ext cx="8534400" cy="998537"/>
          </a:xfrm>
        </p:spPr>
        <p:txBody>
          <a:bodyPr/>
          <a:lstStyle>
            <a:lvl1pPr marL="0" indent="0">
              <a:lnSpc>
                <a:spcPct val="90000"/>
              </a:lnSpc>
              <a:spcBef>
                <a:spcPct val="0"/>
              </a:spcBef>
              <a:spcAft>
                <a:spcPct val="0"/>
              </a:spcAft>
              <a:buFont typeface="Wingdings" pitchFamily="2" charset="2"/>
              <a:buNone/>
              <a:defRPr b="0">
                <a:solidFill>
                  <a:srgbClr val="6CA6B8"/>
                </a:solidFill>
              </a:defRPr>
            </a:lvl1pPr>
          </a:lstStyle>
          <a:p>
            <a:r>
              <a:rPr lang="en-US"/>
              <a:t>Click to edit Master subtitle style</a:t>
            </a:r>
          </a:p>
        </p:txBody>
      </p:sp>
      <p:sp>
        <p:nvSpPr>
          <p:cNvPr id="12" name="Rectangle 9"/>
          <p:cNvSpPr>
            <a:spLocks noGrp="1" noChangeArrowheads="1"/>
          </p:cNvSpPr>
          <p:nvPr>
            <p:ph type="ftr" sz="quarter" idx="10"/>
          </p:nvPr>
        </p:nvSpPr>
        <p:spPr>
          <a:xfrm>
            <a:off x="2698751" y="6221413"/>
            <a:ext cx="3862916" cy="311150"/>
          </a:xfrm>
        </p:spPr>
        <p:txBody>
          <a:bodyPr/>
          <a:lstStyle>
            <a:lvl1pPr>
              <a:defRPr sz="1300"/>
            </a:lvl1pPr>
          </a:lstStyle>
          <a:p>
            <a:endParaRPr lang="en-US"/>
          </a:p>
        </p:txBody>
      </p:sp>
    </p:spTree>
    <p:extLst>
      <p:ext uri="{BB962C8B-B14F-4D97-AF65-F5344CB8AC3E}">
        <p14:creationId xmlns:p14="http://schemas.microsoft.com/office/powerpoint/2010/main" val="3699720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ffectLst>
                  <a:outerShdw blurRad="50800" dist="38100" dir="2700000" algn="tl" rotWithShape="0">
                    <a:schemeClr val="bg1">
                      <a:lumMod val="65000"/>
                      <a:alpha val="40000"/>
                    </a:schemeClr>
                  </a:outerShdw>
                </a:effectLst>
              </a:defRPr>
            </a:lvl1p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sldNum" sz="quarter" idx="10"/>
          </p:nvPr>
        </p:nvSpPr>
        <p:spPr>
          <a:ln/>
        </p:spPr>
        <p:txBody>
          <a:bodyPr/>
          <a:lstStyle>
            <a:lvl1pPr>
              <a:defRPr/>
            </a:lvl1pPr>
          </a:lstStyle>
          <a:p>
            <a:fld id="{2AEE2371-D0CC-4967-BE28-70407D2A399D}"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3119390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9"/>
          <p:cNvSpPr>
            <a:spLocks noGrp="1" noChangeArrowheads="1"/>
          </p:cNvSpPr>
          <p:nvPr>
            <p:ph type="sldNum" sz="quarter" idx="10"/>
          </p:nvPr>
        </p:nvSpPr>
        <p:spPr>
          <a:ln/>
        </p:spPr>
        <p:txBody>
          <a:bodyPr/>
          <a:lstStyle>
            <a:lvl1pPr>
              <a:defRPr/>
            </a:lvl1pPr>
          </a:lstStyle>
          <a:p>
            <a:fld id="{2AEE2371-D0CC-4967-BE28-70407D2A399D}"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3665725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776414"/>
            <a:ext cx="5082117" cy="3902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9718" y="1776414"/>
            <a:ext cx="5082116" cy="3902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sldNum" sz="quarter" idx="10"/>
          </p:nvPr>
        </p:nvSpPr>
        <p:spPr>
          <a:ln/>
        </p:spPr>
        <p:txBody>
          <a:bodyPr/>
          <a:lstStyle>
            <a:lvl1pPr>
              <a:defRPr/>
            </a:lvl1pPr>
          </a:lstStyle>
          <a:p>
            <a:fld id="{2AEE2371-D0CC-4967-BE28-70407D2A399D}"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1594271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p:cNvSpPr>
            <a:spLocks noGrp="1" noChangeArrowheads="1"/>
          </p:cNvSpPr>
          <p:nvPr>
            <p:ph type="sldNum" sz="quarter" idx="10"/>
          </p:nvPr>
        </p:nvSpPr>
        <p:spPr>
          <a:ln/>
        </p:spPr>
        <p:txBody>
          <a:bodyPr/>
          <a:lstStyle>
            <a:lvl1pPr>
              <a:defRPr/>
            </a:lvl1pPr>
          </a:lstStyle>
          <a:p>
            <a:fld id="{2AEE2371-D0CC-4967-BE28-70407D2A399D}" type="slidenum">
              <a:rPr lang="en-US" smtClean="0"/>
              <a:t>‹#›</a:t>
            </a:fld>
            <a:endParaRPr lang="en-US"/>
          </a:p>
        </p:txBody>
      </p:sp>
      <p:sp>
        <p:nvSpPr>
          <p:cNvPr id="8"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34644885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p:cNvSpPr>
            <a:spLocks noGrp="1" noChangeArrowheads="1"/>
          </p:cNvSpPr>
          <p:nvPr>
            <p:ph type="sldNum" sz="quarter" idx="10"/>
          </p:nvPr>
        </p:nvSpPr>
        <p:spPr>
          <a:ln/>
        </p:spPr>
        <p:txBody>
          <a:bodyPr/>
          <a:lstStyle>
            <a:lvl1pPr>
              <a:defRPr/>
            </a:lvl1pPr>
          </a:lstStyle>
          <a:p>
            <a:fld id="{2AEE2371-D0CC-4967-BE28-70407D2A399D}" type="slidenum">
              <a:rPr lang="en-US" smtClean="0"/>
              <a:t>‹#›</a:t>
            </a:fld>
            <a:endParaRPr lang="en-US"/>
          </a:p>
        </p:txBody>
      </p:sp>
      <p:sp>
        <p:nvSpPr>
          <p:cNvPr id="4"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519074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p:cNvSpPr>
            <a:spLocks noGrp="1" noChangeArrowheads="1"/>
          </p:cNvSpPr>
          <p:nvPr>
            <p:ph type="sldNum" sz="quarter" idx="10"/>
          </p:nvPr>
        </p:nvSpPr>
        <p:spPr>
          <a:ln/>
        </p:spPr>
        <p:txBody>
          <a:bodyPr/>
          <a:lstStyle>
            <a:lvl1pPr>
              <a:defRPr/>
            </a:lvl1pPr>
          </a:lstStyle>
          <a:p>
            <a:fld id="{2AEE2371-D0CC-4967-BE28-70407D2A399D}" type="slidenum">
              <a:rPr lang="en-US" smtClean="0"/>
              <a:t>‹#›</a:t>
            </a:fld>
            <a:endParaRPr lang="en-US"/>
          </a:p>
        </p:txBody>
      </p:sp>
      <p:sp>
        <p:nvSpPr>
          <p:cNvPr id="3"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1541055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9"/>
          <p:cNvSpPr>
            <a:spLocks noGrp="1" noChangeArrowheads="1"/>
          </p:cNvSpPr>
          <p:nvPr>
            <p:ph type="sldNum" sz="quarter" idx="10"/>
          </p:nvPr>
        </p:nvSpPr>
        <p:spPr>
          <a:ln/>
        </p:spPr>
        <p:txBody>
          <a:bodyPr/>
          <a:lstStyle>
            <a:lvl1pPr>
              <a:defRPr/>
            </a:lvl1pPr>
          </a:lstStyle>
          <a:p>
            <a:fld id="{2AEE2371-D0CC-4967-BE28-70407D2A399D}"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3266685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9"/>
          <p:cNvSpPr>
            <a:spLocks noGrp="1" noChangeArrowheads="1"/>
          </p:cNvSpPr>
          <p:nvPr>
            <p:ph type="sldNum" sz="quarter" idx="10"/>
          </p:nvPr>
        </p:nvSpPr>
        <p:spPr>
          <a:ln/>
        </p:spPr>
        <p:txBody>
          <a:bodyPr/>
          <a:lstStyle>
            <a:lvl1pPr>
              <a:defRPr/>
            </a:lvl1pPr>
          </a:lstStyle>
          <a:p>
            <a:fld id="{2AEE2371-D0CC-4967-BE28-70407D2A399D}"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123696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sldNum" sz="quarter" idx="10"/>
          </p:nvPr>
        </p:nvSpPr>
        <p:spPr>
          <a:ln/>
        </p:spPr>
        <p:txBody>
          <a:bodyPr/>
          <a:lstStyle>
            <a:lvl1pPr>
              <a:defRPr/>
            </a:lvl1pPr>
          </a:lstStyle>
          <a:p>
            <a:fld id="{2AEE2371-D0CC-4967-BE28-70407D2A399D}"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355352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513233" y="871538"/>
            <a:ext cx="2768600" cy="48069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05318" y="871538"/>
            <a:ext cx="8104716" cy="48069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sldNum" sz="quarter" idx="10"/>
          </p:nvPr>
        </p:nvSpPr>
        <p:spPr>
          <a:ln/>
        </p:spPr>
        <p:txBody>
          <a:bodyPr/>
          <a:lstStyle>
            <a:lvl1pPr>
              <a:defRPr/>
            </a:lvl1pPr>
          </a:lstStyle>
          <a:p>
            <a:fld id="{2AEE2371-D0CC-4967-BE28-70407D2A399D}"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6094785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5318" y="871539"/>
            <a:ext cx="10993967" cy="498475"/>
          </a:xfrm>
        </p:spPr>
        <p:txBody>
          <a:bodyPr/>
          <a:lstStyle/>
          <a:p>
            <a:r>
              <a:rPr lang="en-US"/>
              <a:t>Click to edit Master title style</a:t>
            </a:r>
          </a:p>
        </p:txBody>
      </p:sp>
      <p:sp>
        <p:nvSpPr>
          <p:cNvPr id="3" name="Text Placeholder 2"/>
          <p:cNvSpPr>
            <a:spLocks noGrp="1"/>
          </p:cNvSpPr>
          <p:nvPr>
            <p:ph type="body" sz="half" idx="1"/>
          </p:nvPr>
        </p:nvSpPr>
        <p:spPr>
          <a:xfrm>
            <a:off x="914400" y="1776414"/>
            <a:ext cx="5082117" cy="39020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9718" y="1776414"/>
            <a:ext cx="5082116" cy="39020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sldNum" sz="quarter" idx="10"/>
          </p:nvPr>
        </p:nvSpPr>
        <p:spPr>
          <a:ln/>
        </p:spPr>
        <p:txBody>
          <a:bodyPr/>
          <a:lstStyle>
            <a:lvl1pPr>
              <a:defRPr/>
            </a:lvl1pPr>
          </a:lstStyle>
          <a:p>
            <a:fld id="{2AEE2371-D0CC-4967-BE28-70407D2A399D}"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940561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21"/>
          <p:cNvPicPr>
            <a:picLocks noChangeArrowheads="1"/>
          </p:cNvPicPr>
          <p:nvPr/>
        </p:nvPicPr>
        <p:blipFill>
          <a:blip r:embed="rId14" cstate="print"/>
          <a:srcRect b="467"/>
          <a:stretch>
            <a:fillRect/>
          </a:stretch>
        </p:blipFill>
        <p:spPr bwMode="auto">
          <a:xfrm>
            <a:off x="0" y="6470651"/>
            <a:ext cx="12192000" cy="385763"/>
          </a:xfrm>
          <a:prstGeom prst="rect">
            <a:avLst/>
          </a:prstGeom>
          <a:noFill/>
          <a:ln w="9525">
            <a:noFill/>
            <a:miter lim="800000"/>
            <a:headEnd/>
            <a:tailEnd/>
          </a:ln>
        </p:spPr>
      </p:pic>
      <p:pic>
        <p:nvPicPr>
          <p:cNvPr id="1027" name="Picture 3" descr="21"/>
          <p:cNvPicPr>
            <a:picLocks noChangeAspect="1" noChangeArrowheads="1"/>
          </p:cNvPicPr>
          <p:nvPr/>
        </p:nvPicPr>
        <p:blipFill>
          <a:blip r:embed="rId15" cstate="print"/>
          <a:srcRect/>
          <a:stretch>
            <a:fillRect/>
          </a:stretch>
        </p:blipFill>
        <p:spPr bwMode="auto">
          <a:xfrm>
            <a:off x="0" y="1"/>
            <a:ext cx="12192000" cy="384175"/>
          </a:xfrm>
          <a:prstGeom prst="rect">
            <a:avLst/>
          </a:prstGeom>
          <a:noFill/>
          <a:ln w="9525">
            <a:noFill/>
            <a:miter lim="800000"/>
            <a:headEnd/>
            <a:tailEnd/>
          </a:ln>
        </p:spPr>
      </p:pic>
      <p:sp>
        <p:nvSpPr>
          <p:cNvPr id="1028" name="Rectangle 4"/>
          <p:cNvSpPr>
            <a:spLocks noGrp="1" noChangeArrowheads="1"/>
          </p:cNvSpPr>
          <p:nvPr>
            <p:ph type="title"/>
          </p:nvPr>
        </p:nvSpPr>
        <p:spPr bwMode="auto">
          <a:xfrm>
            <a:off x="205318" y="871539"/>
            <a:ext cx="10993967" cy="498475"/>
          </a:xfrm>
          <a:prstGeom prst="rect">
            <a:avLst/>
          </a:prstGeom>
          <a:noFill/>
          <a:ln w="9525" algn="ctr">
            <a:noFill/>
            <a:miter lim="800000"/>
            <a:headEnd/>
            <a:tailEnd/>
          </a:ln>
        </p:spPr>
        <p:txBody>
          <a:bodyPr vert="horz" wrap="square" lIns="91424" tIns="45712" rIns="91424" bIns="45712" numCol="1" anchor="b" anchorCtr="0" compatLnSpc="1">
            <a:prstTxWarp prst="textNoShape">
              <a:avLst/>
            </a:prstTxWarp>
          </a:bodyPr>
          <a:lstStyle/>
          <a:p>
            <a:pPr lvl="0"/>
            <a:r>
              <a:rPr lang="en-US"/>
              <a:t>Click to edit Master title style</a:t>
            </a:r>
          </a:p>
        </p:txBody>
      </p:sp>
      <p:sp>
        <p:nvSpPr>
          <p:cNvPr id="1029" name="Rectangle 5"/>
          <p:cNvSpPr>
            <a:spLocks noGrp="1" noChangeArrowheads="1"/>
          </p:cNvSpPr>
          <p:nvPr>
            <p:ph type="body" idx="1"/>
          </p:nvPr>
        </p:nvSpPr>
        <p:spPr bwMode="auto">
          <a:xfrm>
            <a:off x="914401" y="1776414"/>
            <a:ext cx="10367433" cy="3902075"/>
          </a:xfrm>
          <a:prstGeom prst="rect">
            <a:avLst/>
          </a:prstGeom>
          <a:noFill/>
          <a:ln w="9525">
            <a:noFill/>
            <a:miter lim="800000"/>
            <a:headEnd/>
            <a:tailEnd/>
          </a:ln>
        </p:spPr>
        <p:txBody>
          <a:bodyPr vert="horz" wrap="square" lIns="91424" tIns="45712" rIns="91424" bIns="45712"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174" name="Text Box 6"/>
          <p:cNvSpPr txBox="1">
            <a:spLocks noChangeArrowheads="1"/>
          </p:cNvSpPr>
          <p:nvPr/>
        </p:nvSpPr>
        <p:spPr bwMode="black">
          <a:xfrm>
            <a:off x="1320801" y="52389"/>
            <a:ext cx="9912351" cy="307975"/>
          </a:xfrm>
          <a:prstGeom prst="rect">
            <a:avLst/>
          </a:prstGeom>
          <a:noFill/>
          <a:ln w="9525">
            <a:noFill/>
            <a:miter lim="800000"/>
            <a:headEnd/>
            <a:tailEnd/>
          </a:ln>
          <a:effectLst/>
        </p:spPr>
        <p:txBody>
          <a:bodyPr lIns="91424" tIns="45712" rIns="91424" bIns="45712">
            <a:spAutoFit/>
          </a:bodyPr>
          <a:lstStyle/>
          <a:p>
            <a:pPr eaLnBrk="0" hangingPunct="0">
              <a:defRPr/>
            </a:pPr>
            <a:r>
              <a:rPr lang="en-US" sz="1400" baseline="0" dirty="0" err="1">
                <a:solidFill>
                  <a:srgbClr val="FFFFFF"/>
                </a:solidFill>
                <a:ea typeface="MS PGothic" pitchFamily="34" charset="-128"/>
                <a:cs typeface="+mn-cs"/>
              </a:rPr>
              <a:t>Chương</a:t>
            </a:r>
            <a:r>
              <a:rPr lang="en-US" sz="1400" baseline="0" dirty="0">
                <a:solidFill>
                  <a:srgbClr val="FFFFFF"/>
                </a:solidFill>
                <a:ea typeface="MS PGothic" pitchFamily="34" charset="-128"/>
                <a:cs typeface="+mn-cs"/>
              </a:rPr>
              <a:t> 3: </a:t>
            </a:r>
            <a:r>
              <a:rPr lang="en-US" sz="1400" dirty="0" err="1">
                <a:solidFill>
                  <a:srgbClr val="FFFFFF"/>
                </a:solidFill>
                <a:ea typeface="MS PGothic" pitchFamily="34" charset="-128"/>
                <a:cs typeface="+mn-cs"/>
              </a:rPr>
              <a:t>Tương</a:t>
            </a:r>
            <a:r>
              <a:rPr lang="en-US" sz="1400" baseline="0" dirty="0">
                <a:solidFill>
                  <a:srgbClr val="FFFFFF"/>
                </a:solidFill>
                <a:ea typeface="MS PGothic" pitchFamily="34" charset="-128"/>
                <a:cs typeface="+mn-cs"/>
              </a:rPr>
              <a:t> </a:t>
            </a:r>
            <a:r>
              <a:rPr lang="en-US" sz="1400" baseline="0" dirty="0" err="1">
                <a:solidFill>
                  <a:srgbClr val="FFFFFF"/>
                </a:solidFill>
                <a:ea typeface="MS PGothic" pitchFamily="34" charset="-128"/>
                <a:cs typeface="+mn-cs"/>
              </a:rPr>
              <a:t>tác</a:t>
            </a:r>
            <a:r>
              <a:rPr lang="en-US" sz="1400" baseline="0" dirty="0">
                <a:solidFill>
                  <a:srgbClr val="FFFFFF"/>
                </a:solidFill>
                <a:ea typeface="MS PGothic" pitchFamily="34" charset="-128"/>
                <a:cs typeface="+mn-cs"/>
              </a:rPr>
              <a:t> </a:t>
            </a:r>
            <a:r>
              <a:rPr lang="en-US" sz="1400" baseline="0" dirty="0" err="1">
                <a:solidFill>
                  <a:srgbClr val="FFFFFF"/>
                </a:solidFill>
                <a:ea typeface="MS PGothic" pitchFamily="34" charset="-128"/>
                <a:cs typeface="+mn-cs"/>
              </a:rPr>
              <a:t>với</a:t>
            </a:r>
            <a:r>
              <a:rPr lang="en-US" sz="1400" baseline="0" dirty="0">
                <a:solidFill>
                  <a:srgbClr val="FFFFFF"/>
                </a:solidFill>
                <a:ea typeface="MS PGothic" pitchFamily="34" charset="-128"/>
                <a:cs typeface="+mn-cs"/>
              </a:rPr>
              <a:t> CSDL</a:t>
            </a:r>
            <a:endParaRPr lang="en-US" sz="1400" dirty="0">
              <a:solidFill>
                <a:srgbClr val="FFFFFF"/>
              </a:solidFill>
              <a:ea typeface="MS PGothic" pitchFamily="34" charset="-128"/>
              <a:cs typeface="+mn-cs"/>
            </a:endParaRPr>
          </a:p>
        </p:txBody>
      </p:sp>
      <p:sp>
        <p:nvSpPr>
          <p:cNvPr id="7175" name="Rectangle 7"/>
          <p:cNvSpPr>
            <a:spLocks noChangeArrowheads="1"/>
          </p:cNvSpPr>
          <p:nvPr/>
        </p:nvSpPr>
        <p:spPr bwMode="black">
          <a:xfrm>
            <a:off x="4991101" y="6546851"/>
            <a:ext cx="3136900" cy="246063"/>
          </a:xfrm>
          <a:prstGeom prst="rect">
            <a:avLst/>
          </a:prstGeom>
          <a:noFill/>
          <a:ln w="9525">
            <a:noFill/>
            <a:miter lim="800000"/>
            <a:headEnd/>
            <a:tailEnd/>
          </a:ln>
          <a:effectLst/>
        </p:spPr>
        <p:txBody>
          <a:bodyPr lIns="91424" tIns="45712" rIns="91424" bIns="45712">
            <a:spAutoFit/>
          </a:bodyPr>
          <a:lstStyle/>
          <a:p>
            <a:pPr algn="ctr" eaLnBrk="0" hangingPunct="0">
              <a:defRPr/>
            </a:pPr>
            <a:r>
              <a:rPr lang="en-US" sz="1000" dirty="0" err="1">
                <a:solidFill>
                  <a:srgbClr val="FFFFFF"/>
                </a:solidFill>
                <a:ea typeface="MS PGothic" pitchFamily="34" charset="-128"/>
                <a:cs typeface="+mn-cs"/>
              </a:rPr>
              <a:t>Khoa</a:t>
            </a:r>
            <a:r>
              <a:rPr lang="en-US" sz="1000" dirty="0">
                <a:solidFill>
                  <a:srgbClr val="FFFFFF"/>
                </a:solidFill>
                <a:ea typeface="MS PGothic" pitchFamily="34" charset="-128"/>
                <a:cs typeface="+mn-cs"/>
              </a:rPr>
              <a:t> CNTT - HVNNVN</a:t>
            </a:r>
          </a:p>
        </p:txBody>
      </p:sp>
      <p:sp>
        <p:nvSpPr>
          <p:cNvPr id="7177" name="Rectangle 9"/>
          <p:cNvSpPr>
            <a:spLocks noGrp="1" noChangeArrowheads="1"/>
          </p:cNvSpPr>
          <p:nvPr>
            <p:ph type="sldNum" sz="quarter" idx="4"/>
          </p:nvPr>
        </p:nvSpPr>
        <p:spPr bwMode="black">
          <a:xfrm>
            <a:off x="205318" y="6500814"/>
            <a:ext cx="1341967" cy="320675"/>
          </a:xfrm>
          <a:prstGeom prst="rect">
            <a:avLst/>
          </a:prstGeom>
          <a:noFill/>
          <a:ln w="9525" algn="ctr">
            <a:noFill/>
            <a:miter lim="800000"/>
            <a:headEnd/>
            <a:tailEnd/>
          </a:ln>
          <a:effectLst/>
        </p:spPr>
        <p:txBody>
          <a:bodyPr vert="horz" wrap="square" lIns="91424" tIns="45712" rIns="91424" bIns="45712" numCol="1" anchor="t" anchorCtr="0" compatLnSpc="1">
            <a:prstTxWarp prst="textNoShape">
              <a:avLst/>
            </a:prstTxWarp>
          </a:bodyPr>
          <a:lstStyle>
            <a:lvl1pPr algn="l">
              <a:lnSpc>
                <a:spcPct val="100000"/>
              </a:lnSpc>
              <a:spcBef>
                <a:spcPct val="50000"/>
              </a:spcBef>
              <a:spcAft>
                <a:spcPct val="0"/>
              </a:spcAft>
              <a:buClrTx/>
              <a:buFontTx/>
              <a:buNone/>
              <a:defRPr sz="1000" b="1">
                <a:solidFill>
                  <a:srgbClr val="FFFFFF"/>
                </a:solidFill>
                <a:ea typeface="MS PGothic" pitchFamily="34" charset="-128"/>
                <a:cs typeface="+mn-cs"/>
              </a:defRPr>
            </a:lvl1pPr>
          </a:lstStyle>
          <a:p>
            <a:fld id="{2AEE2371-D0CC-4967-BE28-70407D2A399D}" type="slidenum">
              <a:rPr lang="en-US" smtClean="0"/>
              <a:t>‹#›</a:t>
            </a:fld>
            <a:endParaRPr lang="en-US"/>
          </a:p>
        </p:txBody>
      </p:sp>
      <p:sp>
        <p:nvSpPr>
          <p:cNvPr id="7178" name="Rectangle 10"/>
          <p:cNvSpPr>
            <a:spLocks noGrp="1" noChangeArrowheads="1"/>
          </p:cNvSpPr>
          <p:nvPr>
            <p:ph type="ftr" sz="quarter" idx="3"/>
          </p:nvPr>
        </p:nvSpPr>
        <p:spPr bwMode="auto">
          <a:xfrm>
            <a:off x="1725085" y="6510338"/>
            <a:ext cx="2542116" cy="304800"/>
          </a:xfrm>
          <a:prstGeom prst="rect">
            <a:avLst/>
          </a:prstGeom>
          <a:noFill/>
          <a:ln w="9525">
            <a:noFill/>
            <a:miter lim="800000"/>
            <a:headEnd/>
            <a:tailEnd/>
          </a:ln>
          <a:effectLst/>
        </p:spPr>
        <p:txBody>
          <a:bodyPr vert="horz" wrap="square" lIns="91424" tIns="45712" rIns="91424" bIns="45712" numCol="1" anchor="t" anchorCtr="0" compatLnSpc="1">
            <a:prstTxWarp prst="textNoShape">
              <a:avLst/>
            </a:prstTxWarp>
          </a:bodyPr>
          <a:lstStyle>
            <a:lvl1pPr algn="l">
              <a:lnSpc>
                <a:spcPct val="100000"/>
              </a:lnSpc>
              <a:spcBef>
                <a:spcPct val="0"/>
              </a:spcBef>
              <a:spcAft>
                <a:spcPct val="0"/>
              </a:spcAft>
              <a:buClrTx/>
              <a:buFontTx/>
              <a:buNone/>
              <a:defRPr sz="1000">
                <a:solidFill>
                  <a:srgbClr val="FFFFFF"/>
                </a:solidFill>
                <a:ea typeface="MS PGothic" pitchFamily="34" charset="-128"/>
                <a:cs typeface="+mn-cs"/>
              </a:defRPr>
            </a:lvl1pPr>
          </a:lstStyle>
          <a:p>
            <a:endParaRPr lang="en-US"/>
          </a:p>
        </p:txBody>
      </p:sp>
      <p:sp>
        <p:nvSpPr>
          <p:cNvPr id="7179" name="Line 11"/>
          <p:cNvSpPr>
            <a:spLocks noChangeShapeType="1"/>
          </p:cNvSpPr>
          <p:nvPr/>
        </p:nvSpPr>
        <p:spPr bwMode="black">
          <a:xfrm>
            <a:off x="1320800" y="147638"/>
            <a:ext cx="0" cy="234950"/>
          </a:xfrm>
          <a:prstGeom prst="line">
            <a:avLst/>
          </a:prstGeom>
          <a:noFill/>
          <a:ln w="9525">
            <a:solidFill>
              <a:srgbClr val="FFFFFF"/>
            </a:solidFill>
            <a:round/>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7180" name="Line 12"/>
          <p:cNvSpPr>
            <a:spLocks noChangeShapeType="1"/>
          </p:cNvSpPr>
          <p:nvPr/>
        </p:nvSpPr>
        <p:spPr bwMode="black">
          <a:xfrm>
            <a:off x="1320800" y="6470650"/>
            <a:ext cx="0" cy="192088"/>
          </a:xfrm>
          <a:prstGeom prst="line">
            <a:avLst/>
          </a:prstGeom>
          <a:noFill/>
          <a:ln w="9525">
            <a:solidFill>
              <a:srgbClr val="FFFFFF"/>
            </a:solidFill>
            <a:round/>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Tree>
    <p:extLst>
      <p:ext uri="{BB962C8B-B14F-4D97-AF65-F5344CB8AC3E}">
        <p14:creationId xmlns:p14="http://schemas.microsoft.com/office/powerpoint/2010/main" val="35289862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lnSpc>
          <a:spcPct val="90000"/>
        </a:lnSpc>
        <a:spcBef>
          <a:spcPct val="0"/>
        </a:spcBef>
        <a:spcAft>
          <a:spcPct val="0"/>
        </a:spcAft>
        <a:defRPr sz="2800">
          <a:solidFill>
            <a:srgbClr val="6CA6B8"/>
          </a:solidFill>
          <a:latin typeface="+mj-lt"/>
          <a:ea typeface="+mj-ea"/>
          <a:cs typeface="+mj-cs"/>
        </a:defRPr>
      </a:lvl1pPr>
      <a:lvl2pPr algn="l" rtl="0" eaLnBrk="1" fontAlgn="base" hangingPunct="1">
        <a:lnSpc>
          <a:spcPct val="90000"/>
        </a:lnSpc>
        <a:spcBef>
          <a:spcPct val="0"/>
        </a:spcBef>
        <a:spcAft>
          <a:spcPct val="0"/>
        </a:spcAft>
        <a:defRPr sz="2800">
          <a:solidFill>
            <a:srgbClr val="6CA6B8"/>
          </a:solidFill>
          <a:latin typeface="Arial" charset="0"/>
          <a:cs typeface="Arial" charset="0"/>
        </a:defRPr>
      </a:lvl2pPr>
      <a:lvl3pPr algn="l" rtl="0" eaLnBrk="1" fontAlgn="base" hangingPunct="1">
        <a:lnSpc>
          <a:spcPct val="90000"/>
        </a:lnSpc>
        <a:spcBef>
          <a:spcPct val="0"/>
        </a:spcBef>
        <a:spcAft>
          <a:spcPct val="0"/>
        </a:spcAft>
        <a:defRPr sz="2800">
          <a:solidFill>
            <a:srgbClr val="6CA6B8"/>
          </a:solidFill>
          <a:latin typeface="Arial" charset="0"/>
          <a:cs typeface="Arial" charset="0"/>
        </a:defRPr>
      </a:lvl3pPr>
      <a:lvl4pPr algn="l" rtl="0" eaLnBrk="1" fontAlgn="base" hangingPunct="1">
        <a:lnSpc>
          <a:spcPct val="90000"/>
        </a:lnSpc>
        <a:spcBef>
          <a:spcPct val="0"/>
        </a:spcBef>
        <a:spcAft>
          <a:spcPct val="0"/>
        </a:spcAft>
        <a:defRPr sz="2800">
          <a:solidFill>
            <a:srgbClr val="6CA6B8"/>
          </a:solidFill>
          <a:latin typeface="Arial" charset="0"/>
          <a:cs typeface="Arial" charset="0"/>
        </a:defRPr>
      </a:lvl4pPr>
      <a:lvl5pPr algn="l" rtl="0" eaLnBrk="1" fontAlgn="base" hangingPunct="1">
        <a:lnSpc>
          <a:spcPct val="90000"/>
        </a:lnSpc>
        <a:spcBef>
          <a:spcPct val="0"/>
        </a:spcBef>
        <a:spcAft>
          <a:spcPct val="0"/>
        </a:spcAft>
        <a:defRPr sz="2800">
          <a:solidFill>
            <a:srgbClr val="6CA6B8"/>
          </a:solidFill>
          <a:latin typeface="Arial" charset="0"/>
          <a:cs typeface="Arial" charset="0"/>
        </a:defRPr>
      </a:lvl5pPr>
      <a:lvl6pPr marL="457200" algn="l" rtl="0" eaLnBrk="1" fontAlgn="base" hangingPunct="1">
        <a:lnSpc>
          <a:spcPct val="90000"/>
        </a:lnSpc>
        <a:spcBef>
          <a:spcPct val="0"/>
        </a:spcBef>
        <a:spcAft>
          <a:spcPct val="0"/>
        </a:spcAft>
        <a:defRPr sz="2800">
          <a:solidFill>
            <a:srgbClr val="6CA6B8"/>
          </a:solidFill>
          <a:latin typeface="Arial" charset="0"/>
          <a:cs typeface="Arial" charset="0"/>
        </a:defRPr>
      </a:lvl6pPr>
      <a:lvl7pPr marL="914400" algn="l" rtl="0" eaLnBrk="1" fontAlgn="base" hangingPunct="1">
        <a:lnSpc>
          <a:spcPct val="90000"/>
        </a:lnSpc>
        <a:spcBef>
          <a:spcPct val="0"/>
        </a:spcBef>
        <a:spcAft>
          <a:spcPct val="0"/>
        </a:spcAft>
        <a:defRPr sz="2800">
          <a:solidFill>
            <a:srgbClr val="6CA6B8"/>
          </a:solidFill>
          <a:latin typeface="Arial" charset="0"/>
          <a:cs typeface="Arial" charset="0"/>
        </a:defRPr>
      </a:lvl7pPr>
      <a:lvl8pPr marL="1371600" algn="l" rtl="0" eaLnBrk="1" fontAlgn="base" hangingPunct="1">
        <a:lnSpc>
          <a:spcPct val="90000"/>
        </a:lnSpc>
        <a:spcBef>
          <a:spcPct val="0"/>
        </a:spcBef>
        <a:spcAft>
          <a:spcPct val="0"/>
        </a:spcAft>
        <a:defRPr sz="2800">
          <a:solidFill>
            <a:srgbClr val="6CA6B8"/>
          </a:solidFill>
          <a:latin typeface="Arial" charset="0"/>
          <a:cs typeface="Arial" charset="0"/>
        </a:defRPr>
      </a:lvl8pPr>
      <a:lvl9pPr marL="1828800" algn="l" rtl="0" eaLnBrk="1" fontAlgn="base" hangingPunct="1">
        <a:lnSpc>
          <a:spcPct val="90000"/>
        </a:lnSpc>
        <a:spcBef>
          <a:spcPct val="0"/>
        </a:spcBef>
        <a:spcAft>
          <a:spcPct val="0"/>
        </a:spcAft>
        <a:defRPr sz="2800">
          <a:solidFill>
            <a:srgbClr val="6CA6B8"/>
          </a:solidFill>
          <a:latin typeface="Arial" charset="0"/>
          <a:cs typeface="Arial" charset="0"/>
        </a:defRPr>
      </a:lvl9pPr>
    </p:titleStyle>
    <p:bodyStyle>
      <a:lvl1pPr marL="228600" indent="-228600" algn="l" rtl="0" eaLnBrk="1" fontAlgn="base" hangingPunct="1">
        <a:spcBef>
          <a:spcPct val="35000"/>
        </a:spcBef>
        <a:spcAft>
          <a:spcPct val="15000"/>
        </a:spcAft>
        <a:buClr>
          <a:srgbClr val="6CA6B8"/>
        </a:buClr>
        <a:buFont typeface="Wingdings" pitchFamily="2" charset="2"/>
        <a:buChar char="§"/>
        <a:defRPr sz="2400">
          <a:solidFill>
            <a:schemeClr val="tx1"/>
          </a:solidFill>
          <a:latin typeface="+mn-lt"/>
          <a:ea typeface="+mn-ea"/>
          <a:cs typeface="+mn-cs"/>
        </a:defRPr>
      </a:lvl1pPr>
      <a:lvl2pPr marL="457200" indent="-227013" algn="l" rtl="0" eaLnBrk="1" fontAlgn="base" hangingPunct="1">
        <a:spcBef>
          <a:spcPct val="25000"/>
        </a:spcBef>
        <a:spcAft>
          <a:spcPct val="15000"/>
        </a:spcAft>
        <a:buClr>
          <a:srgbClr val="6CA6B8"/>
        </a:buClr>
        <a:buFont typeface="Arial" charset="0"/>
        <a:buChar char="–"/>
        <a:defRPr sz="2200">
          <a:solidFill>
            <a:schemeClr val="tx1"/>
          </a:solidFill>
          <a:latin typeface="+mn-lt"/>
          <a:cs typeface="+mn-cs"/>
        </a:defRPr>
      </a:lvl2pPr>
      <a:lvl3pPr marL="682625" indent="-223838" algn="l" rtl="0" eaLnBrk="1" fontAlgn="base" hangingPunct="1">
        <a:spcBef>
          <a:spcPct val="20000"/>
        </a:spcBef>
        <a:spcAft>
          <a:spcPct val="0"/>
        </a:spcAft>
        <a:buClr>
          <a:srgbClr val="6CA6B8"/>
        </a:buClr>
        <a:buChar char="•"/>
        <a:defRPr sz="2000">
          <a:solidFill>
            <a:schemeClr val="tx1"/>
          </a:solidFill>
          <a:latin typeface="+mn-lt"/>
          <a:cs typeface="+mn-cs"/>
        </a:defRPr>
      </a:lvl3pPr>
      <a:lvl4pPr marL="912813" indent="-228600" algn="l" rtl="0" eaLnBrk="1" fontAlgn="base" hangingPunct="1">
        <a:spcBef>
          <a:spcPct val="20000"/>
        </a:spcBef>
        <a:spcAft>
          <a:spcPct val="0"/>
        </a:spcAft>
        <a:buClr>
          <a:srgbClr val="6CA6B8"/>
        </a:buClr>
        <a:buFont typeface="Arial" charset="0"/>
        <a:buChar char="–"/>
        <a:defRPr sz="2000">
          <a:solidFill>
            <a:schemeClr val="tx1"/>
          </a:solidFill>
          <a:latin typeface="+mn-lt"/>
          <a:cs typeface="+mn-cs"/>
        </a:defRPr>
      </a:lvl4pPr>
      <a:lvl5pPr marL="1143000" indent="-228600" algn="l" rtl="0" eaLnBrk="1" fontAlgn="base" hangingPunct="1">
        <a:spcBef>
          <a:spcPct val="20000"/>
        </a:spcBef>
        <a:spcAft>
          <a:spcPct val="0"/>
        </a:spcAft>
        <a:buClr>
          <a:srgbClr val="6CA6B8"/>
        </a:buClr>
        <a:buFont typeface="Arial" charset="0"/>
        <a:buChar char="&gt;"/>
        <a:defRPr sz="2000">
          <a:solidFill>
            <a:schemeClr val="tx1"/>
          </a:solidFill>
          <a:latin typeface="+mn-lt"/>
          <a:cs typeface="+mn-cs"/>
        </a:defRPr>
      </a:lvl5pPr>
      <a:lvl6pPr marL="16002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6pPr>
      <a:lvl7pPr marL="20574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7pPr>
      <a:lvl8pPr marL="25146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8pPr>
      <a:lvl9pPr marL="29718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de-DE" dirty="0"/>
              <a:t>Chương 3: </a:t>
            </a:r>
            <a:r>
              <a:rPr lang="en-US" dirty="0" err="1"/>
              <a:t>Tương</a:t>
            </a:r>
            <a:r>
              <a:rPr lang="en-US" dirty="0"/>
              <a:t> </a:t>
            </a:r>
            <a:r>
              <a:rPr lang="en-US" dirty="0" err="1"/>
              <a:t>tác</a:t>
            </a:r>
            <a:r>
              <a:rPr lang="en-US" dirty="0"/>
              <a:t> </a:t>
            </a:r>
            <a:r>
              <a:rPr lang="en-US" dirty="0" err="1"/>
              <a:t>với</a:t>
            </a:r>
            <a:r>
              <a:rPr lang="en-US" dirty="0"/>
              <a:t> CSDL</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896348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Nội</a:t>
            </a:r>
            <a:r>
              <a:rPr lang="en-US" dirty="0"/>
              <a:t> dung</a:t>
            </a:r>
          </a:p>
        </p:txBody>
      </p:sp>
      <p:sp>
        <p:nvSpPr>
          <p:cNvPr id="3" name="Content Placeholder 2"/>
          <p:cNvSpPr>
            <a:spLocks noGrp="1"/>
          </p:cNvSpPr>
          <p:nvPr>
            <p:ph idx="1"/>
          </p:nvPr>
        </p:nvSpPr>
        <p:spPr/>
        <p:txBody>
          <a:bodyPr/>
          <a:lstStyle/>
          <a:p>
            <a:r>
              <a:rPr lang="en-US" dirty="0" err="1"/>
              <a:t>Tổng</a:t>
            </a:r>
            <a:r>
              <a:rPr lang="en-US" dirty="0"/>
              <a:t> </a:t>
            </a:r>
            <a:r>
              <a:rPr lang="en-US" dirty="0" err="1"/>
              <a:t>quan</a:t>
            </a:r>
            <a:r>
              <a:rPr lang="en-US" dirty="0"/>
              <a:t> ADO.NET</a:t>
            </a:r>
          </a:p>
          <a:p>
            <a:r>
              <a:rPr lang="en-US" dirty="0" err="1"/>
              <a:t>Trình</a:t>
            </a:r>
            <a:r>
              <a:rPr lang="en-US" dirty="0"/>
              <a:t> </a:t>
            </a:r>
            <a:r>
              <a:rPr lang="en-US" dirty="0" err="1"/>
              <a:t>cung</a:t>
            </a:r>
            <a:r>
              <a:rPr lang="en-US" dirty="0"/>
              <a:t> </a:t>
            </a:r>
            <a:r>
              <a:rPr lang="en-US" dirty="0" err="1"/>
              <a:t>cấp</a:t>
            </a:r>
            <a:r>
              <a:rPr lang="en-US" dirty="0"/>
              <a:t> </a:t>
            </a:r>
            <a:r>
              <a:rPr lang="en-US" dirty="0" err="1"/>
              <a:t>dữ</a:t>
            </a:r>
            <a:r>
              <a:rPr lang="en-US" dirty="0"/>
              <a:t> </a:t>
            </a:r>
            <a:r>
              <a:rPr lang="en-US" dirty="0" err="1"/>
              <a:t>liệu</a:t>
            </a:r>
            <a:r>
              <a:rPr lang="en-US" dirty="0"/>
              <a:t> </a:t>
            </a:r>
            <a:r>
              <a:rPr lang="en-US" dirty="0" err="1"/>
              <a:t>của</a:t>
            </a:r>
            <a:r>
              <a:rPr lang="en-US" dirty="0"/>
              <a:t> ADO.NET</a:t>
            </a:r>
          </a:p>
          <a:p>
            <a:r>
              <a:rPr lang="en-US" dirty="0" err="1"/>
              <a:t>Kết</a:t>
            </a:r>
            <a:r>
              <a:rPr lang="en-US" dirty="0"/>
              <a:t> </a:t>
            </a:r>
            <a:r>
              <a:rPr lang="en-US" dirty="0" err="1"/>
              <a:t>nối</a:t>
            </a:r>
            <a:r>
              <a:rPr lang="en-US" dirty="0"/>
              <a:t> </a:t>
            </a:r>
            <a:r>
              <a:rPr lang="en-US" dirty="0" err="1"/>
              <a:t>csdl</a:t>
            </a:r>
            <a:r>
              <a:rPr lang="en-US" dirty="0"/>
              <a:t> qua connected layer</a:t>
            </a:r>
          </a:p>
          <a:p>
            <a:r>
              <a:rPr lang="en-US" dirty="0" err="1"/>
              <a:t>Tìm</a:t>
            </a:r>
            <a:r>
              <a:rPr lang="en-US" dirty="0"/>
              <a:t> </a:t>
            </a:r>
            <a:r>
              <a:rPr lang="en-US" dirty="0" err="1"/>
              <a:t>hiểu</a:t>
            </a:r>
            <a:r>
              <a:rPr lang="en-US" dirty="0"/>
              <a:t> </a:t>
            </a:r>
            <a:r>
              <a:rPr lang="en-US" dirty="0" err="1"/>
              <a:t>đối</a:t>
            </a:r>
            <a:r>
              <a:rPr lang="en-US" dirty="0"/>
              <a:t> </a:t>
            </a:r>
            <a:r>
              <a:rPr lang="en-US" dirty="0" err="1"/>
              <a:t>tượng</a:t>
            </a:r>
            <a:r>
              <a:rPr lang="en-US" dirty="0"/>
              <a:t> Dataset</a:t>
            </a:r>
          </a:p>
          <a:p>
            <a:r>
              <a:rPr lang="en-US" dirty="0" err="1"/>
              <a:t>Cơ</a:t>
            </a:r>
            <a:r>
              <a:rPr lang="en-US" dirty="0"/>
              <a:t> </a:t>
            </a:r>
            <a:r>
              <a:rPr lang="en-US" dirty="0" err="1"/>
              <a:t>chế</a:t>
            </a:r>
            <a:r>
              <a:rPr lang="en-US" dirty="0"/>
              <a:t> Data Binding</a:t>
            </a:r>
          </a:p>
          <a:p>
            <a:pPr marL="0" indent="0">
              <a:buNone/>
            </a:pPr>
            <a:endParaRPr lang="en-US" dirty="0"/>
          </a:p>
          <a:p>
            <a:endParaRPr lang="en-US" dirty="0"/>
          </a:p>
        </p:txBody>
      </p:sp>
      <p:sp>
        <p:nvSpPr>
          <p:cNvPr id="4" name="Slide Number Placeholder 3"/>
          <p:cNvSpPr>
            <a:spLocks noGrp="1"/>
          </p:cNvSpPr>
          <p:nvPr>
            <p:ph type="sldNum" sz="quarter" idx="10"/>
          </p:nvPr>
        </p:nvSpPr>
        <p:spPr/>
        <p:txBody>
          <a:bodyPr/>
          <a:lstStyle/>
          <a:p>
            <a:fld id="{2AEE2371-D0CC-4967-BE28-70407D2A399D}" type="slidenum">
              <a:rPr lang="en-US" smtClean="0"/>
              <a:t>2</a:t>
            </a:fld>
            <a:endParaRPr lang="en-US"/>
          </a:p>
        </p:txBody>
      </p:sp>
    </p:spTree>
    <p:extLst>
      <p:ext uri="{BB962C8B-B14F-4D97-AF65-F5344CB8AC3E}">
        <p14:creationId xmlns:p14="http://schemas.microsoft.com/office/powerpoint/2010/main" val="3603278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err="1"/>
              <a:t>Tổng</a:t>
            </a:r>
            <a:r>
              <a:rPr lang="en-US" dirty="0"/>
              <a:t> </a:t>
            </a:r>
            <a:r>
              <a:rPr lang="en-US" dirty="0" err="1"/>
              <a:t>quan</a:t>
            </a:r>
            <a:r>
              <a:rPr lang="en-US" dirty="0"/>
              <a:t> ADO.NET</a:t>
            </a:r>
          </a:p>
        </p:txBody>
      </p:sp>
      <p:sp>
        <p:nvSpPr>
          <p:cNvPr id="3" name="Content Placeholder 2"/>
          <p:cNvSpPr>
            <a:spLocks noGrp="1"/>
          </p:cNvSpPr>
          <p:nvPr>
            <p:ph idx="1"/>
          </p:nvPr>
        </p:nvSpPr>
        <p:spPr>
          <a:xfrm>
            <a:off x="953589" y="1370014"/>
            <a:ext cx="10367433" cy="3902075"/>
          </a:xfrm>
        </p:spPr>
        <p:txBody>
          <a:bodyPr/>
          <a:lstStyle/>
          <a:p>
            <a:r>
              <a:rPr lang="vi-VN" sz="2000" dirty="0"/>
              <a:t>ADO.NET là một phần của .NET Framework, được xem là “bộ thư viện lớp” chịu trách nhiệm xử lý dữ liệu trong ngôn ngữ MS .NET</a:t>
            </a:r>
            <a:endParaRPr lang="en-US" sz="2000" dirty="0"/>
          </a:p>
          <a:p>
            <a:r>
              <a:rPr lang="en-US" sz="2000" dirty="0"/>
              <a:t>ADO.NET </a:t>
            </a:r>
            <a:r>
              <a:rPr lang="en-US" sz="2000" dirty="0" err="1"/>
              <a:t>gồm</a:t>
            </a:r>
            <a:r>
              <a:rPr lang="en-US" sz="2000" dirty="0"/>
              <a:t> </a:t>
            </a:r>
            <a:r>
              <a:rPr lang="en-US" sz="2000" dirty="0" err="1"/>
              <a:t>hai</a:t>
            </a:r>
            <a:r>
              <a:rPr lang="en-US" sz="2000" dirty="0"/>
              <a:t> </a:t>
            </a:r>
            <a:r>
              <a:rPr lang="en-US" sz="2000" dirty="0" err="1"/>
              <a:t>thành</a:t>
            </a:r>
            <a:r>
              <a:rPr lang="en-US" sz="2000" dirty="0"/>
              <a:t> </a:t>
            </a:r>
            <a:r>
              <a:rPr lang="en-US" sz="2000" dirty="0" err="1"/>
              <a:t>phần</a:t>
            </a:r>
            <a:r>
              <a:rPr lang="en-US" sz="2000" dirty="0"/>
              <a:t> </a:t>
            </a:r>
            <a:r>
              <a:rPr lang="en-US" sz="2000" dirty="0" err="1"/>
              <a:t>chính</a:t>
            </a:r>
            <a:r>
              <a:rPr lang="en-US" sz="2000" dirty="0"/>
              <a:t> </a:t>
            </a:r>
            <a:r>
              <a:rPr lang="en-US" sz="2000" dirty="0" err="1"/>
              <a:t>cho</a:t>
            </a:r>
            <a:r>
              <a:rPr lang="en-US" sz="2000" dirty="0"/>
              <a:t> </a:t>
            </a:r>
            <a:r>
              <a:rPr lang="en-US" sz="2000" dirty="0" err="1"/>
              <a:t>việc</a:t>
            </a:r>
            <a:r>
              <a:rPr lang="en-US" sz="2000" dirty="0"/>
              <a:t> </a:t>
            </a:r>
            <a:r>
              <a:rPr lang="en-US" sz="2000" dirty="0" err="1"/>
              <a:t>truy</a:t>
            </a:r>
            <a:r>
              <a:rPr lang="en-US" sz="2000" dirty="0"/>
              <a:t> </a:t>
            </a:r>
            <a:r>
              <a:rPr lang="en-US" sz="2000" dirty="0" err="1"/>
              <a:t>xuất</a:t>
            </a:r>
            <a:r>
              <a:rPr lang="en-US" sz="2000" dirty="0"/>
              <a:t> </a:t>
            </a:r>
            <a:r>
              <a:rPr lang="en-US" sz="2000" dirty="0" err="1"/>
              <a:t>và</a:t>
            </a:r>
            <a:r>
              <a:rPr lang="en-US" sz="2000" dirty="0"/>
              <a:t> </a:t>
            </a:r>
            <a:r>
              <a:rPr lang="en-US" sz="2000" dirty="0" err="1"/>
              <a:t>điều</a:t>
            </a:r>
            <a:r>
              <a:rPr lang="en-US" sz="2000" dirty="0"/>
              <a:t> </a:t>
            </a:r>
            <a:r>
              <a:rPr lang="en-US" sz="2000" dirty="0" err="1"/>
              <a:t>khiển</a:t>
            </a:r>
            <a:r>
              <a:rPr lang="en-US" sz="2000" dirty="0"/>
              <a:t> </a:t>
            </a:r>
            <a:r>
              <a:rPr lang="en-US" sz="2000" dirty="0" err="1"/>
              <a:t>dữ</a:t>
            </a:r>
            <a:r>
              <a:rPr lang="en-US" sz="2000" dirty="0"/>
              <a:t> </a:t>
            </a:r>
            <a:r>
              <a:rPr lang="en-US" sz="2000" dirty="0" err="1"/>
              <a:t>liệu</a:t>
            </a:r>
            <a:r>
              <a:rPr lang="en-US" sz="2000" dirty="0"/>
              <a:t> </a:t>
            </a:r>
            <a:r>
              <a:rPr lang="en-US" sz="2000" dirty="0" err="1"/>
              <a:t>đó</a:t>
            </a:r>
            <a:r>
              <a:rPr lang="en-US" sz="2000" dirty="0"/>
              <a:t> </a:t>
            </a:r>
            <a:r>
              <a:rPr lang="en-US" sz="2000" dirty="0" err="1"/>
              <a:t>là</a:t>
            </a:r>
            <a:r>
              <a:rPr lang="en-US" sz="2000" dirty="0"/>
              <a:t> </a:t>
            </a:r>
            <a:r>
              <a:rPr lang="en-US" sz="2000" dirty="0" err="1"/>
              <a:t>các</a:t>
            </a:r>
            <a:r>
              <a:rPr lang="en-US" sz="2000" dirty="0"/>
              <a:t> </a:t>
            </a:r>
            <a:r>
              <a:rPr lang="en-US" sz="2000" dirty="0" err="1"/>
              <a:t>trình</a:t>
            </a:r>
            <a:r>
              <a:rPr lang="en-US" sz="2000" dirty="0"/>
              <a:t> </a:t>
            </a:r>
            <a:r>
              <a:rPr lang="en-US" sz="2000" dirty="0" err="1"/>
              <a:t>cung</a:t>
            </a:r>
            <a:r>
              <a:rPr lang="en-US" sz="2000" dirty="0"/>
              <a:t> </a:t>
            </a:r>
            <a:r>
              <a:rPr lang="en-US" sz="2000" dirty="0" err="1"/>
              <a:t>cấp</a:t>
            </a:r>
            <a:r>
              <a:rPr lang="en-US" sz="2000" dirty="0"/>
              <a:t> </a:t>
            </a:r>
            <a:r>
              <a:rPr lang="en-US" sz="2000" dirty="0" err="1"/>
              <a:t>dữ</a:t>
            </a:r>
            <a:r>
              <a:rPr lang="en-US" sz="2000" dirty="0"/>
              <a:t> </a:t>
            </a:r>
            <a:r>
              <a:rPr lang="en-US" sz="2000" dirty="0" err="1"/>
              <a:t>liệu</a:t>
            </a:r>
            <a:r>
              <a:rPr lang="en-US" sz="2000" dirty="0"/>
              <a:t> .NET Framework (.NET Framework Data Provider) </a:t>
            </a:r>
            <a:r>
              <a:rPr lang="en-US" sz="2000" dirty="0" err="1"/>
              <a:t>và</a:t>
            </a:r>
            <a:r>
              <a:rPr lang="en-US" sz="2000" dirty="0"/>
              <a:t> </a:t>
            </a:r>
            <a:r>
              <a:rPr lang="en-US" sz="2000" dirty="0" err="1"/>
              <a:t>DataSet</a:t>
            </a:r>
            <a:endParaRPr lang="en-US" sz="2000" dirty="0"/>
          </a:p>
        </p:txBody>
      </p:sp>
      <p:pic>
        <p:nvPicPr>
          <p:cNvPr id="4" name="Picture 3"/>
          <p:cNvPicPr>
            <a:picLocks noChangeAspect="1"/>
          </p:cNvPicPr>
          <p:nvPr/>
        </p:nvPicPr>
        <p:blipFill>
          <a:blip r:embed="rId2"/>
          <a:stretch>
            <a:fillRect/>
          </a:stretch>
        </p:blipFill>
        <p:spPr>
          <a:xfrm>
            <a:off x="1918983" y="2866936"/>
            <a:ext cx="6857564" cy="3742869"/>
          </a:xfrm>
          <a:prstGeom prst="rect">
            <a:avLst/>
          </a:prstGeom>
        </p:spPr>
      </p:pic>
      <p:sp>
        <p:nvSpPr>
          <p:cNvPr id="5" name="Slide Number Placeholder 4"/>
          <p:cNvSpPr>
            <a:spLocks noGrp="1"/>
          </p:cNvSpPr>
          <p:nvPr>
            <p:ph type="sldNum" sz="quarter" idx="10"/>
          </p:nvPr>
        </p:nvSpPr>
        <p:spPr/>
        <p:txBody>
          <a:bodyPr/>
          <a:lstStyle/>
          <a:p>
            <a:fld id="{2AEE2371-D0CC-4967-BE28-70407D2A399D}" type="slidenum">
              <a:rPr lang="en-US" smtClean="0"/>
              <a:t>3</a:t>
            </a:fld>
            <a:endParaRPr lang="en-US"/>
          </a:p>
        </p:txBody>
      </p:sp>
    </p:spTree>
    <p:extLst>
      <p:ext uri="{BB962C8B-B14F-4D97-AF65-F5344CB8AC3E}">
        <p14:creationId xmlns:p14="http://schemas.microsoft.com/office/powerpoint/2010/main" val="2679491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err="1"/>
              <a:t>Tổng</a:t>
            </a:r>
            <a:r>
              <a:rPr lang="en-US" dirty="0"/>
              <a:t> </a:t>
            </a:r>
            <a:r>
              <a:rPr lang="en-US" dirty="0" err="1"/>
              <a:t>quan</a:t>
            </a:r>
            <a:r>
              <a:rPr lang="en-US" dirty="0"/>
              <a:t> ADO.NET</a:t>
            </a:r>
          </a:p>
        </p:txBody>
      </p:sp>
      <p:sp>
        <p:nvSpPr>
          <p:cNvPr id="3" name="Content Placeholder 2"/>
          <p:cNvSpPr>
            <a:spLocks noGrp="1"/>
          </p:cNvSpPr>
          <p:nvPr>
            <p:ph idx="1"/>
          </p:nvPr>
        </p:nvSpPr>
        <p:spPr>
          <a:xfrm>
            <a:off x="953589" y="1370014"/>
            <a:ext cx="10367433" cy="3902075"/>
          </a:xfrm>
        </p:spPr>
        <p:txBody>
          <a:bodyPr/>
          <a:lstStyle/>
          <a:p>
            <a:r>
              <a:rPr lang="vi-VN" sz="2000" dirty="0"/>
              <a:t> ADO.NET </a:t>
            </a:r>
            <a:r>
              <a:rPr lang="en-US" sz="2000" dirty="0" err="1"/>
              <a:t>kết</a:t>
            </a:r>
            <a:r>
              <a:rPr lang="en-US" sz="2000" dirty="0"/>
              <a:t> </a:t>
            </a:r>
            <a:r>
              <a:rPr lang="en-US" sz="2000" dirty="0" err="1"/>
              <a:t>nối</a:t>
            </a:r>
            <a:r>
              <a:rPr lang="en-US" sz="2000" dirty="0"/>
              <a:t> </a:t>
            </a:r>
            <a:r>
              <a:rPr lang="en-US" sz="2000" dirty="0" err="1"/>
              <a:t>đến</a:t>
            </a:r>
            <a:r>
              <a:rPr lang="en-US" sz="2000" dirty="0"/>
              <a:t> CSDL </a:t>
            </a:r>
            <a:r>
              <a:rPr lang="vi-VN" sz="2000" dirty="0"/>
              <a:t>theo hai hướng</a:t>
            </a:r>
            <a:r>
              <a:rPr lang="en-US" sz="2000" dirty="0"/>
              <a:t>:</a:t>
            </a:r>
          </a:p>
          <a:p>
            <a:r>
              <a:rPr lang="vi-VN" sz="2200" dirty="0"/>
              <a:t>Connected Layer: cơ chế này yêu cầu phải thực hiện kết nối với Database trong khi đang thực hiện các thao tác với dữ liệu. Các đối tượng của cơ chế này là: </a:t>
            </a:r>
            <a:endParaRPr lang="en-US" sz="2200" dirty="0"/>
          </a:p>
          <a:p>
            <a:pPr lvl="1"/>
            <a:r>
              <a:rPr lang="vi-VN" sz="2000" dirty="0"/>
              <a:t>Connection: Đối tượng quản lý đóng/mở kết nối tới Database.  </a:t>
            </a:r>
            <a:endParaRPr lang="en-US" sz="2000" dirty="0"/>
          </a:p>
          <a:p>
            <a:pPr lvl="1"/>
            <a:r>
              <a:rPr lang="vi-VN" sz="2000" dirty="0"/>
              <a:t>Command: Đối tượng thực hiện các câu lệnh tương tác truy vấn, rút trích dữ liệu từ database sau khi đã thiết lập kết nối tới dữ liệu và trả về kết quả. </a:t>
            </a:r>
            <a:endParaRPr lang="en-US" sz="2000" dirty="0"/>
          </a:p>
          <a:p>
            <a:pPr lvl="1"/>
            <a:r>
              <a:rPr lang="vi-VN" sz="2000" dirty="0"/>
              <a:t> DataReader: Đối tượng xử lý đọc dữ liệu t</a:t>
            </a:r>
            <a:r>
              <a:rPr lang="en-US" sz="2000" dirty="0"/>
              <a:t>ừ</a:t>
            </a:r>
            <a:r>
              <a:rPr lang="vi-VN" sz="2000" dirty="0"/>
              <a:t> CSDL.  </a:t>
            </a:r>
            <a:endParaRPr lang="en-US" sz="2000" dirty="0"/>
          </a:p>
          <a:p>
            <a:pPr lvl="1"/>
            <a:r>
              <a:rPr lang="vi-VN" sz="2000" dirty="0"/>
              <a:t>DataAdapter: Đây là đối tượng rất quan trọng của ADO.NET, là cầu nối của Database và Dataset (Dataset là đối tượng ngắt kết nối), bởi vì đối tượng “ngắt kết nối” Dataset không thể tương tác trực tiếp với Database nên cần một đối tượng trung gian lấy dữ liệu từ Database</a:t>
            </a:r>
            <a:endParaRPr lang="en-US" sz="2000" dirty="0"/>
          </a:p>
        </p:txBody>
      </p:sp>
      <p:sp>
        <p:nvSpPr>
          <p:cNvPr id="4" name="Slide Number Placeholder 3"/>
          <p:cNvSpPr>
            <a:spLocks noGrp="1"/>
          </p:cNvSpPr>
          <p:nvPr>
            <p:ph type="sldNum" sz="quarter" idx="10"/>
          </p:nvPr>
        </p:nvSpPr>
        <p:spPr/>
        <p:txBody>
          <a:bodyPr/>
          <a:lstStyle/>
          <a:p>
            <a:fld id="{2AEE2371-D0CC-4967-BE28-70407D2A399D}" type="slidenum">
              <a:rPr lang="en-US" smtClean="0"/>
              <a:t>4</a:t>
            </a:fld>
            <a:endParaRPr lang="en-US"/>
          </a:p>
        </p:txBody>
      </p:sp>
    </p:spTree>
    <p:extLst>
      <p:ext uri="{BB962C8B-B14F-4D97-AF65-F5344CB8AC3E}">
        <p14:creationId xmlns:p14="http://schemas.microsoft.com/office/powerpoint/2010/main" val="1146624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err="1"/>
              <a:t>Tổng</a:t>
            </a:r>
            <a:r>
              <a:rPr lang="en-US" dirty="0"/>
              <a:t> </a:t>
            </a:r>
            <a:r>
              <a:rPr lang="en-US" dirty="0" err="1"/>
              <a:t>quan</a:t>
            </a:r>
            <a:r>
              <a:rPr lang="en-US" dirty="0"/>
              <a:t> ADO.NET</a:t>
            </a:r>
          </a:p>
        </p:txBody>
      </p:sp>
      <p:sp>
        <p:nvSpPr>
          <p:cNvPr id="3" name="Content Placeholder 2"/>
          <p:cNvSpPr>
            <a:spLocks noGrp="1"/>
          </p:cNvSpPr>
          <p:nvPr>
            <p:ph idx="1"/>
          </p:nvPr>
        </p:nvSpPr>
        <p:spPr>
          <a:xfrm>
            <a:off x="953589" y="1370014"/>
            <a:ext cx="10367433" cy="3902075"/>
          </a:xfrm>
        </p:spPr>
        <p:txBody>
          <a:bodyPr/>
          <a:lstStyle/>
          <a:p>
            <a:r>
              <a:rPr lang="vi-VN" sz="2200" dirty="0"/>
              <a:t>Disconnected Layer : chỉ có một đối tượng chịu trách nhiệm ngắt kết nối đó chính là DataSet</a:t>
            </a:r>
            <a:r>
              <a:rPr lang="en-US" sz="2200" dirty="0"/>
              <a:t>.</a:t>
            </a:r>
          </a:p>
          <a:p>
            <a:r>
              <a:rPr lang="vi-VN" sz="2200" dirty="0"/>
              <a:t>Nhiệm vụ của DataSet là nhận dữ liệu về từ DataAdapter và xử lý nó.</a:t>
            </a:r>
            <a:endParaRPr lang="en-US" sz="2200" dirty="0"/>
          </a:p>
          <a:p>
            <a:r>
              <a:rPr lang="vi-VN" sz="2200" dirty="0"/>
              <a:t>DataSet có thể được xem như một Database trong bộ nhớ gồm tất cả các bảng, quan hệ….. </a:t>
            </a:r>
            <a:endParaRPr lang="en-US" sz="2200" dirty="0"/>
          </a:p>
          <a:p>
            <a:r>
              <a:rPr lang="vi-VN" sz="2200" dirty="0"/>
              <a:t>DataSet có nhiều đối tượng được xem là “con” như: DataTable, cấp thấp hơn của DataTable có các đối tượng DataRow, DataColumn, DataRelation</a:t>
            </a:r>
            <a:endParaRPr lang="en-US" sz="2200" dirty="0"/>
          </a:p>
        </p:txBody>
      </p:sp>
      <p:sp>
        <p:nvSpPr>
          <p:cNvPr id="4" name="Slide Number Placeholder 3"/>
          <p:cNvSpPr>
            <a:spLocks noGrp="1"/>
          </p:cNvSpPr>
          <p:nvPr>
            <p:ph type="sldNum" sz="quarter" idx="10"/>
          </p:nvPr>
        </p:nvSpPr>
        <p:spPr/>
        <p:txBody>
          <a:bodyPr/>
          <a:lstStyle/>
          <a:p>
            <a:fld id="{2AEE2371-D0CC-4967-BE28-70407D2A399D}" type="slidenum">
              <a:rPr lang="en-US" smtClean="0"/>
              <a:t>5</a:t>
            </a:fld>
            <a:endParaRPr lang="en-US"/>
          </a:p>
        </p:txBody>
      </p:sp>
    </p:spTree>
    <p:extLst>
      <p:ext uri="{BB962C8B-B14F-4D97-AF65-F5344CB8AC3E}">
        <p14:creationId xmlns:p14="http://schemas.microsoft.com/office/powerpoint/2010/main" val="2994849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err="1"/>
              <a:t>Tổng</a:t>
            </a:r>
            <a:r>
              <a:rPr lang="en-US" dirty="0"/>
              <a:t> </a:t>
            </a:r>
            <a:r>
              <a:rPr lang="en-US" dirty="0" err="1"/>
              <a:t>quan</a:t>
            </a:r>
            <a:r>
              <a:rPr lang="en-US" dirty="0"/>
              <a:t> ADO.NET</a:t>
            </a:r>
          </a:p>
        </p:txBody>
      </p:sp>
      <p:sp>
        <p:nvSpPr>
          <p:cNvPr id="3" name="Content Placeholder 2"/>
          <p:cNvSpPr>
            <a:spLocks noGrp="1"/>
          </p:cNvSpPr>
          <p:nvPr>
            <p:ph idx="1"/>
          </p:nvPr>
        </p:nvSpPr>
        <p:spPr>
          <a:xfrm>
            <a:off x="953589" y="1370014"/>
            <a:ext cx="10367433" cy="3902075"/>
          </a:xfrm>
        </p:spPr>
        <p:txBody>
          <a:bodyPr/>
          <a:lstStyle/>
          <a:p>
            <a:r>
              <a:rPr lang="en-US" sz="2200" dirty="0" err="1"/>
              <a:t>Cơ</a:t>
            </a:r>
            <a:r>
              <a:rPr lang="en-US" sz="2200" dirty="0"/>
              <a:t> </a:t>
            </a:r>
            <a:r>
              <a:rPr lang="en-US" sz="2200" dirty="0" err="1"/>
              <a:t>chế</a:t>
            </a:r>
            <a:r>
              <a:rPr lang="en-US" sz="2200" dirty="0"/>
              <a:t> </a:t>
            </a:r>
            <a:r>
              <a:rPr lang="en-US" sz="2200" dirty="0" err="1"/>
              <a:t>kết</a:t>
            </a:r>
            <a:r>
              <a:rPr lang="en-US" sz="2200" dirty="0"/>
              <a:t> </a:t>
            </a:r>
            <a:r>
              <a:rPr lang="en-US" sz="2200" dirty="0" err="1"/>
              <a:t>nối</a:t>
            </a:r>
            <a:r>
              <a:rPr lang="en-US" sz="2200" dirty="0"/>
              <a:t> ADO</a:t>
            </a:r>
          </a:p>
          <a:p>
            <a:endParaRPr lang="en-US" sz="2200" dirty="0"/>
          </a:p>
        </p:txBody>
      </p:sp>
      <p:pic>
        <p:nvPicPr>
          <p:cNvPr id="4" name="Picture 3"/>
          <p:cNvPicPr>
            <a:picLocks noChangeAspect="1"/>
          </p:cNvPicPr>
          <p:nvPr/>
        </p:nvPicPr>
        <p:blipFill>
          <a:blip r:embed="rId2"/>
          <a:stretch>
            <a:fillRect/>
          </a:stretch>
        </p:blipFill>
        <p:spPr>
          <a:xfrm>
            <a:off x="2982605" y="1868489"/>
            <a:ext cx="5926264" cy="4264286"/>
          </a:xfrm>
          <a:prstGeom prst="rect">
            <a:avLst/>
          </a:prstGeom>
        </p:spPr>
      </p:pic>
      <p:sp>
        <p:nvSpPr>
          <p:cNvPr id="5" name="Slide Number Placeholder 4"/>
          <p:cNvSpPr>
            <a:spLocks noGrp="1"/>
          </p:cNvSpPr>
          <p:nvPr>
            <p:ph type="sldNum" sz="quarter" idx="10"/>
          </p:nvPr>
        </p:nvSpPr>
        <p:spPr/>
        <p:txBody>
          <a:bodyPr/>
          <a:lstStyle/>
          <a:p>
            <a:fld id="{2AEE2371-D0CC-4967-BE28-70407D2A399D}" type="slidenum">
              <a:rPr lang="en-US" smtClean="0"/>
              <a:t>6</a:t>
            </a:fld>
            <a:endParaRPr lang="en-US"/>
          </a:p>
        </p:txBody>
      </p:sp>
    </p:spTree>
    <p:extLst>
      <p:ext uri="{BB962C8B-B14F-4D97-AF65-F5344CB8AC3E}">
        <p14:creationId xmlns:p14="http://schemas.microsoft.com/office/powerpoint/2010/main" val="609237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Trình</a:t>
            </a:r>
            <a:r>
              <a:rPr lang="en-US" dirty="0"/>
              <a:t> </a:t>
            </a:r>
            <a:r>
              <a:rPr lang="en-US" dirty="0" err="1"/>
              <a:t>cung</a:t>
            </a:r>
            <a:r>
              <a:rPr lang="en-US" dirty="0"/>
              <a:t> </a:t>
            </a:r>
            <a:r>
              <a:rPr lang="en-US" dirty="0" err="1"/>
              <a:t>cấp</a:t>
            </a:r>
            <a:r>
              <a:rPr lang="en-US" dirty="0"/>
              <a:t> </a:t>
            </a:r>
            <a:r>
              <a:rPr lang="en-US" dirty="0" err="1"/>
              <a:t>dữ</a:t>
            </a:r>
            <a:r>
              <a:rPr lang="en-US" dirty="0"/>
              <a:t> </a:t>
            </a:r>
            <a:r>
              <a:rPr lang="en-US" dirty="0" err="1"/>
              <a:t>liệu</a:t>
            </a:r>
            <a:r>
              <a:rPr lang="en-US" dirty="0"/>
              <a:t> </a:t>
            </a:r>
            <a:r>
              <a:rPr lang="en-US" dirty="0" err="1"/>
              <a:t>của</a:t>
            </a:r>
            <a:r>
              <a:rPr lang="en-US" dirty="0"/>
              <a:t> ADO.NET</a:t>
            </a:r>
          </a:p>
        </p:txBody>
      </p:sp>
      <p:sp>
        <p:nvSpPr>
          <p:cNvPr id="3" name="Content Placeholder 2"/>
          <p:cNvSpPr>
            <a:spLocks noGrp="1"/>
          </p:cNvSpPr>
          <p:nvPr>
            <p:ph idx="1"/>
          </p:nvPr>
        </p:nvSpPr>
        <p:spPr/>
        <p:txBody>
          <a:bodyPr/>
          <a:lstStyle/>
          <a:p>
            <a:r>
              <a:rPr lang="vi-VN" dirty="0"/>
              <a:t>ADO.NET hỗ trợ nhiều trình cung cấp dữ liệu, mỗi trình cung cấp tương tác với một DBMS cụ thể</a:t>
            </a:r>
            <a:endParaRPr lang="en-US" dirty="0"/>
          </a:p>
          <a:p>
            <a:endParaRPr lang="en-US" dirty="0"/>
          </a:p>
        </p:txBody>
      </p:sp>
      <p:pic>
        <p:nvPicPr>
          <p:cNvPr id="4" name="Picture 3"/>
          <p:cNvPicPr>
            <a:picLocks noChangeAspect="1"/>
          </p:cNvPicPr>
          <p:nvPr/>
        </p:nvPicPr>
        <p:blipFill>
          <a:blip r:embed="rId2"/>
          <a:stretch>
            <a:fillRect/>
          </a:stretch>
        </p:blipFill>
        <p:spPr>
          <a:xfrm>
            <a:off x="2352126" y="2636928"/>
            <a:ext cx="6596612" cy="3763872"/>
          </a:xfrm>
          <a:prstGeom prst="rect">
            <a:avLst/>
          </a:prstGeom>
        </p:spPr>
      </p:pic>
      <p:sp>
        <p:nvSpPr>
          <p:cNvPr id="5" name="Slide Number Placeholder 4"/>
          <p:cNvSpPr>
            <a:spLocks noGrp="1"/>
          </p:cNvSpPr>
          <p:nvPr>
            <p:ph type="sldNum" sz="quarter" idx="10"/>
          </p:nvPr>
        </p:nvSpPr>
        <p:spPr/>
        <p:txBody>
          <a:bodyPr/>
          <a:lstStyle/>
          <a:p>
            <a:fld id="{2AEE2371-D0CC-4967-BE28-70407D2A399D}" type="slidenum">
              <a:rPr lang="en-US" smtClean="0"/>
              <a:t>7</a:t>
            </a:fld>
            <a:endParaRPr lang="en-US"/>
          </a:p>
        </p:txBody>
      </p:sp>
    </p:spTree>
    <p:extLst>
      <p:ext uri="{BB962C8B-B14F-4D97-AF65-F5344CB8AC3E}">
        <p14:creationId xmlns:p14="http://schemas.microsoft.com/office/powerpoint/2010/main" val="602263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Trình</a:t>
            </a:r>
            <a:r>
              <a:rPr lang="en-US" dirty="0"/>
              <a:t> </a:t>
            </a:r>
            <a:r>
              <a:rPr lang="en-US" dirty="0" err="1"/>
              <a:t>cung</a:t>
            </a:r>
            <a:r>
              <a:rPr lang="en-US" dirty="0"/>
              <a:t> </a:t>
            </a:r>
            <a:r>
              <a:rPr lang="en-US" dirty="0" err="1"/>
              <a:t>cấp</a:t>
            </a:r>
            <a:r>
              <a:rPr lang="en-US" dirty="0"/>
              <a:t> </a:t>
            </a:r>
            <a:r>
              <a:rPr lang="en-US" dirty="0" err="1"/>
              <a:t>dữ</a:t>
            </a:r>
            <a:r>
              <a:rPr lang="en-US" dirty="0"/>
              <a:t> </a:t>
            </a:r>
            <a:r>
              <a:rPr lang="en-US" dirty="0" err="1"/>
              <a:t>liệu</a:t>
            </a:r>
            <a:r>
              <a:rPr lang="en-US" dirty="0"/>
              <a:t> </a:t>
            </a:r>
            <a:r>
              <a:rPr lang="en-US" dirty="0" err="1"/>
              <a:t>của</a:t>
            </a:r>
            <a:r>
              <a:rPr lang="en-US" dirty="0"/>
              <a:t> ADO.NET</a:t>
            </a:r>
          </a:p>
        </p:txBody>
      </p:sp>
      <p:sp>
        <p:nvSpPr>
          <p:cNvPr id="3" name="Content Placeholder 2"/>
          <p:cNvSpPr>
            <a:spLocks noGrp="1"/>
          </p:cNvSpPr>
          <p:nvPr>
            <p:ph idx="1"/>
          </p:nvPr>
        </p:nvSpPr>
        <p:spPr/>
        <p:txBody>
          <a:bodyPr/>
          <a:lstStyle/>
          <a:p>
            <a:r>
              <a:rPr lang="vi-VN" dirty="0"/>
              <a:t>Các trình cung cấp dữ liệu ADO.NET  của Microsoft </a:t>
            </a:r>
            <a:endParaRPr lang="en-US" dirty="0"/>
          </a:p>
        </p:txBody>
      </p:sp>
      <p:pic>
        <p:nvPicPr>
          <p:cNvPr id="5" name="Picture 4"/>
          <p:cNvPicPr>
            <a:picLocks noChangeAspect="1"/>
          </p:cNvPicPr>
          <p:nvPr/>
        </p:nvPicPr>
        <p:blipFill>
          <a:blip r:embed="rId2"/>
          <a:stretch>
            <a:fillRect/>
          </a:stretch>
        </p:blipFill>
        <p:spPr>
          <a:xfrm>
            <a:off x="914401" y="2368709"/>
            <a:ext cx="9626338" cy="2717483"/>
          </a:xfrm>
          <a:prstGeom prst="rect">
            <a:avLst/>
          </a:prstGeom>
        </p:spPr>
      </p:pic>
      <p:sp>
        <p:nvSpPr>
          <p:cNvPr id="4" name="Slide Number Placeholder 3"/>
          <p:cNvSpPr>
            <a:spLocks noGrp="1"/>
          </p:cNvSpPr>
          <p:nvPr>
            <p:ph type="sldNum" sz="quarter" idx="10"/>
          </p:nvPr>
        </p:nvSpPr>
        <p:spPr/>
        <p:txBody>
          <a:bodyPr/>
          <a:lstStyle/>
          <a:p>
            <a:fld id="{2AEE2371-D0CC-4967-BE28-70407D2A399D}" type="slidenum">
              <a:rPr lang="en-US" smtClean="0"/>
              <a:t>8</a:t>
            </a:fld>
            <a:endParaRPr lang="en-US"/>
          </a:p>
        </p:txBody>
      </p:sp>
    </p:spTree>
    <p:extLst>
      <p:ext uri="{BB962C8B-B14F-4D97-AF65-F5344CB8AC3E}">
        <p14:creationId xmlns:p14="http://schemas.microsoft.com/office/powerpoint/2010/main" val="1939569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Trình</a:t>
            </a:r>
            <a:r>
              <a:rPr lang="en-US" dirty="0"/>
              <a:t> </a:t>
            </a:r>
            <a:r>
              <a:rPr lang="en-US" dirty="0" err="1"/>
              <a:t>cung</a:t>
            </a:r>
            <a:r>
              <a:rPr lang="en-US" dirty="0"/>
              <a:t> </a:t>
            </a:r>
            <a:r>
              <a:rPr lang="en-US" dirty="0" err="1"/>
              <a:t>cấp</a:t>
            </a:r>
            <a:r>
              <a:rPr lang="en-US" dirty="0"/>
              <a:t> </a:t>
            </a:r>
            <a:r>
              <a:rPr lang="en-US" dirty="0" err="1"/>
              <a:t>dữ</a:t>
            </a:r>
            <a:r>
              <a:rPr lang="en-US" dirty="0"/>
              <a:t> </a:t>
            </a:r>
            <a:r>
              <a:rPr lang="en-US" dirty="0" err="1"/>
              <a:t>liệu</a:t>
            </a:r>
            <a:r>
              <a:rPr lang="en-US" dirty="0"/>
              <a:t> </a:t>
            </a:r>
            <a:r>
              <a:rPr lang="en-US" dirty="0" err="1"/>
              <a:t>của</a:t>
            </a:r>
            <a:r>
              <a:rPr lang="en-US" dirty="0"/>
              <a:t> ADO.NET</a:t>
            </a:r>
          </a:p>
        </p:txBody>
      </p:sp>
      <p:sp>
        <p:nvSpPr>
          <p:cNvPr id="3" name="Content Placeholder 2"/>
          <p:cNvSpPr>
            <a:spLocks noGrp="1"/>
          </p:cNvSpPr>
          <p:nvPr>
            <p:ph idx="1"/>
          </p:nvPr>
        </p:nvSpPr>
        <p:spPr/>
        <p:txBody>
          <a:bodyPr/>
          <a:lstStyle/>
          <a:p>
            <a:r>
              <a:rPr lang="vi-VN" dirty="0"/>
              <a:t>Các đối tượng cơ bản của một trình cung cấp dữ liệu ADO.NET</a:t>
            </a:r>
            <a:endParaRPr lang="en-US" dirty="0"/>
          </a:p>
          <a:p>
            <a:pPr lvl="1"/>
            <a:r>
              <a:rPr lang="vi-VN" dirty="0"/>
              <a:t>Dùng đối tượng Connection</a:t>
            </a:r>
            <a:r>
              <a:rPr lang="en-US" dirty="0"/>
              <a:t>:</a:t>
            </a:r>
            <a:r>
              <a:rPr lang="vi-VN" dirty="0"/>
              <a:t> Kết nối tới một Database </a:t>
            </a:r>
            <a:endParaRPr lang="en-US" dirty="0"/>
          </a:p>
          <a:p>
            <a:pPr lvl="1"/>
            <a:r>
              <a:rPr lang="vi-VN" dirty="0"/>
              <a:t>Dùng đối tượng Command</a:t>
            </a:r>
            <a:r>
              <a:rPr lang="en-US" dirty="0"/>
              <a:t>: </a:t>
            </a:r>
            <a:r>
              <a:rPr lang="vi-VN" dirty="0"/>
              <a:t>Thực thi các câu lệnh q Dùng đối tượng Command với các Stored Procedure </a:t>
            </a:r>
            <a:endParaRPr lang="en-US" dirty="0"/>
          </a:p>
          <a:p>
            <a:pPr lvl="1"/>
            <a:r>
              <a:rPr lang="vi-VN" dirty="0"/>
              <a:t>Dùng đối tượng DataReader</a:t>
            </a:r>
            <a:r>
              <a:rPr lang="en-US" dirty="0"/>
              <a:t>: </a:t>
            </a:r>
            <a:r>
              <a:rPr lang="vi-VN" dirty="0"/>
              <a:t>Tạo một luồng dữ liệu chỉ đọc </a:t>
            </a:r>
            <a:endParaRPr lang="en-US" dirty="0"/>
          </a:p>
          <a:p>
            <a:pPr lvl="1"/>
            <a:r>
              <a:rPr lang="vi-VN" dirty="0"/>
              <a:t>Dùng đối tượng DataAdapter</a:t>
            </a:r>
            <a:r>
              <a:rPr lang="en-US" dirty="0"/>
              <a:t>:</a:t>
            </a:r>
            <a:r>
              <a:rPr lang="vi-VN" dirty="0"/>
              <a:t> để thay đổi dữ liệu nguồn và một DataSet  </a:t>
            </a:r>
            <a:endParaRPr lang="en-US" dirty="0"/>
          </a:p>
        </p:txBody>
      </p:sp>
      <p:sp>
        <p:nvSpPr>
          <p:cNvPr id="4" name="Slide Number Placeholder 3"/>
          <p:cNvSpPr>
            <a:spLocks noGrp="1"/>
          </p:cNvSpPr>
          <p:nvPr>
            <p:ph type="sldNum" sz="quarter" idx="10"/>
          </p:nvPr>
        </p:nvSpPr>
        <p:spPr/>
        <p:txBody>
          <a:bodyPr/>
          <a:lstStyle/>
          <a:p>
            <a:fld id="{2AEE2371-D0CC-4967-BE28-70407D2A399D}" type="slidenum">
              <a:rPr lang="en-US" smtClean="0"/>
              <a:t>9</a:t>
            </a:fld>
            <a:endParaRPr lang="en-US"/>
          </a:p>
        </p:txBody>
      </p:sp>
    </p:spTree>
    <p:extLst>
      <p:ext uri="{BB962C8B-B14F-4D97-AF65-F5344CB8AC3E}">
        <p14:creationId xmlns:p14="http://schemas.microsoft.com/office/powerpoint/2010/main" val="3685414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a:t>
            </a:r>
            <a:r>
              <a:rPr lang="en-US" dirty="0" err="1"/>
              <a:t>Kết</a:t>
            </a:r>
            <a:r>
              <a:rPr lang="en-US" dirty="0"/>
              <a:t> </a:t>
            </a:r>
            <a:r>
              <a:rPr lang="en-US" dirty="0" err="1"/>
              <a:t>nối</a:t>
            </a:r>
            <a:r>
              <a:rPr lang="en-US" dirty="0"/>
              <a:t> </a:t>
            </a:r>
            <a:r>
              <a:rPr lang="en-US" dirty="0" err="1"/>
              <a:t>csdl</a:t>
            </a:r>
            <a:r>
              <a:rPr lang="en-US" dirty="0"/>
              <a:t> qua connected layer</a:t>
            </a:r>
          </a:p>
        </p:txBody>
      </p:sp>
      <p:sp>
        <p:nvSpPr>
          <p:cNvPr id="3" name="Content Placeholder 2"/>
          <p:cNvSpPr>
            <a:spLocks noGrp="1"/>
          </p:cNvSpPr>
          <p:nvPr>
            <p:ph idx="1"/>
          </p:nvPr>
        </p:nvSpPr>
        <p:spPr/>
        <p:txBody>
          <a:bodyPr/>
          <a:lstStyle/>
          <a:p>
            <a:r>
              <a:rPr lang="en-US" dirty="0" err="1"/>
              <a:t>Giả</a:t>
            </a:r>
            <a:r>
              <a:rPr lang="en-US" dirty="0"/>
              <a:t> </a:t>
            </a:r>
            <a:r>
              <a:rPr lang="en-US" dirty="0" err="1"/>
              <a:t>sử</a:t>
            </a:r>
            <a:r>
              <a:rPr lang="en-US" dirty="0"/>
              <a:t> ta </a:t>
            </a:r>
            <a:r>
              <a:rPr lang="en-US" dirty="0" err="1"/>
              <a:t>cần</a:t>
            </a:r>
            <a:r>
              <a:rPr lang="en-US" dirty="0"/>
              <a:t> </a:t>
            </a:r>
            <a:r>
              <a:rPr lang="en-US" dirty="0" err="1"/>
              <a:t>truy</a:t>
            </a:r>
            <a:r>
              <a:rPr lang="en-US" dirty="0"/>
              <a:t> </a:t>
            </a:r>
            <a:r>
              <a:rPr lang="en-US" dirty="0" err="1"/>
              <a:t>vấn</a:t>
            </a:r>
            <a:r>
              <a:rPr lang="en-US" dirty="0"/>
              <a:t> </a:t>
            </a:r>
            <a:r>
              <a:rPr lang="en-US" dirty="0" err="1"/>
              <a:t>dữ</a:t>
            </a:r>
            <a:r>
              <a:rPr lang="en-US" dirty="0"/>
              <a:t> </a:t>
            </a:r>
            <a:r>
              <a:rPr lang="en-US" dirty="0" err="1"/>
              <a:t>liệu</a:t>
            </a:r>
            <a:r>
              <a:rPr lang="en-US" dirty="0"/>
              <a:t> </a:t>
            </a:r>
            <a:r>
              <a:rPr lang="en-US" dirty="0" err="1"/>
              <a:t>trong</a:t>
            </a:r>
            <a:r>
              <a:rPr lang="en-US" dirty="0"/>
              <a:t> </a:t>
            </a:r>
            <a:r>
              <a:rPr lang="en-US" dirty="0" err="1"/>
              <a:t>một</a:t>
            </a:r>
            <a:r>
              <a:rPr lang="en-US" dirty="0"/>
              <a:t> </a:t>
            </a:r>
            <a:r>
              <a:rPr lang="en-US" dirty="0" err="1"/>
              <a:t>bảng</a:t>
            </a:r>
            <a:r>
              <a:rPr lang="en-US" dirty="0"/>
              <a:t> </a:t>
            </a:r>
            <a:r>
              <a:rPr lang="en-US" dirty="0" err="1"/>
              <a:t>để</a:t>
            </a:r>
            <a:r>
              <a:rPr lang="en-US" dirty="0"/>
              <a:t> </a:t>
            </a:r>
            <a:r>
              <a:rPr lang="en-US" dirty="0" err="1"/>
              <a:t>hiển</a:t>
            </a:r>
            <a:r>
              <a:rPr lang="en-US" dirty="0"/>
              <a:t> </a:t>
            </a:r>
            <a:r>
              <a:rPr lang="en-US" dirty="0" err="1"/>
              <a:t>thị</a:t>
            </a:r>
            <a:r>
              <a:rPr lang="en-US" dirty="0"/>
              <a:t> </a:t>
            </a:r>
            <a:r>
              <a:rPr lang="en-US" dirty="0" err="1"/>
              <a:t>dữ</a:t>
            </a:r>
            <a:r>
              <a:rPr lang="en-US" dirty="0"/>
              <a:t> </a:t>
            </a:r>
            <a:r>
              <a:rPr lang="en-US" dirty="0" err="1"/>
              <a:t>liệu</a:t>
            </a:r>
            <a:r>
              <a:rPr lang="en-US" dirty="0"/>
              <a:t> </a:t>
            </a:r>
            <a:r>
              <a:rPr lang="en-US" dirty="0" err="1"/>
              <a:t>ra</a:t>
            </a:r>
            <a:r>
              <a:rPr lang="en-US" dirty="0"/>
              <a:t> </a:t>
            </a:r>
            <a:r>
              <a:rPr lang="en-US" dirty="0" err="1"/>
              <a:t>màn</a:t>
            </a:r>
            <a:r>
              <a:rPr lang="en-US" dirty="0"/>
              <a:t> </a:t>
            </a:r>
            <a:r>
              <a:rPr lang="en-US" dirty="0" err="1"/>
              <a:t>hình</a:t>
            </a:r>
            <a:r>
              <a:rPr lang="en-US" dirty="0"/>
              <a:t> </a:t>
            </a:r>
            <a:r>
              <a:rPr lang="en-US" dirty="0" err="1"/>
              <a:t>thì</a:t>
            </a:r>
            <a:r>
              <a:rPr lang="en-US" dirty="0"/>
              <a:t> </a:t>
            </a:r>
            <a:r>
              <a:rPr lang="en-US" dirty="0" err="1"/>
              <a:t>trước</a:t>
            </a:r>
            <a:r>
              <a:rPr lang="en-US" dirty="0"/>
              <a:t> h</a:t>
            </a:r>
            <a:r>
              <a:rPr lang="vi-VN" dirty="0"/>
              <a:t>ết </a:t>
            </a:r>
            <a:r>
              <a:rPr lang="en-US" dirty="0"/>
              <a:t>ta </a:t>
            </a:r>
            <a:r>
              <a:rPr lang="en-US" dirty="0" err="1"/>
              <a:t>cần</a:t>
            </a:r>
            <a:r>
              <a:rPr lang="en-US" dirty="0"/>
              <a:t> </a:t>
            </a:r>
            <a:r>
              <a:rPr lang="en-US" dirty="0" err="1"/>
              <a:t>kết</a:t>
            </a:r>
            <a:r>
              <a:rPr lang="en-US" dirty="0"/>
              <a:t> </a:t>
            </a:r>
            <a:r>
              <a:rPr lang="vi-VN" dirty="0"/>
              <a:t>nối với CSDL và đọc các mẫu tin sử dụng đối tượng DataReader, thực hiện các bước sau: </a:t>
            </a:r>
            <a:endParaRPr lang="en-US" dirty="0"/>
          </a:p>
          <a:p>
            <a:pPr lvl="1"/>
            <a:r>
              <a:rPr lang="vi-VN" dirty="0"/>
              <a:t>B1. Chỉ định, cấu hình và mở đối tượng kết nối.</a:t>
            </a:r>
            <a:endParaRPr lang="en-US" dirty="0"/>
          </a:p>
          <a:p>
            <a:pPr lvl="1"/>
            <a:r>
              <a:rPr lang="vi-VN" dirty="0"/>
              <a:t>B2. Chỉ định và cấu hình đối tượng Command, chỉ rõ đối tượng Connection như một Constructor có đối số hoặc qua thuộc tính Connection.  </a:t>
            </a:r>
            <a:endParaRPr lang="en-US" dirty="0"/>
          </a:p>
          <a:p>
            <a:pPr lvl="1"/>
            <a:r>
              <a:rPr lang="vi-VN" dirty="0"/>
              <a:t>B3. Gọi ExecuteReader() trên đối tượng Command đã được cấu hình. </a:t>
            </a:r>
            <a:endParaRPr lang="en-US" dirty="0"/>
          </a:p>
          <a:p>
            <a:pPr lvl="1"/>
            <a:r>
              <a:rPr lang="vi-VN" dirty="0"/>
              <a:t>B4. Xử lý mỗi mẫu tin sử dụng phương thức Read() của DataReader</a:t>
            </a:r>
            <a:endParaRPr lang="en-US" dirty="0"/>
          </a:p>
        </p:txBody>
      </p:sp>
      <p:sp>
        <p:nvSpPr>
          <p:cNvPr id="4" name="Slide Number Placeholder 3"/>
          <p:cNvSpPr>
            <a:spLocks noGrp="1"/>
          </p:cNvSpPr>
          <p:nvPr>
            <p:ph type="sldNum" sz="quarter" idx="10"/>
          </p:nvPr>
        </p:nvSpPr>
        <p:spPr/>
        <p:txBody>
          <a:bodyPr/>
          <a:lstStyle/>
          <a:p>
            <a:fld id="{2AEE2371-D0CC-4967-BE28-70407D2A399D}" type="slidenum">
              <a:rPr lang="en-US" smtClean="0"/>
              <a:t>10</a:t>
            </a:fld>
            <a:endParaRPr lang="en-US"/>
          </a:p>
        </p:txBody>
      </p:sp>
    </p:spTree>
    <p:extLst>
      <p:ext uri="{BB962C8B-B14F-4D97-AF65-F5344CB8AC3E}">
        <p14:creationId xmlns:p14="http://schemas.microsoft.com/office/powerpoint/2010/main" val="891962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380" y="505779"/>
            <a:ext cx="10993967" cy="498475"/>
          </a:xfrm>
        </p:spPr>
        <p:txBody>
          <a:bodyPr/>
          <a:lstStyle/>
          <a:p>
            <a:r>
              <a:rPr lang="en-US" dirty="0"/>
              <a:t>3.1. </a:t>
            </a:r>
            <a:r>
              <a:rPr lang="en-US" dirty="0" err="1"/>
              <a:t>Mở</a:t>
            </a:r>
            <a:r>
              <a:rPr lang="en-US" dirty="0"/>
              <a:t> </a:t>
            </a:r>
            <a:r>
              <a:rPr lang="en-US" dirty="0" err="1"/>
              <a:t>kết</a:t>
            </a:r>
            <a:r>
              <a:rPr lang="en-US" dirty="0"/>
              <a:t> </a:t>
            </a:r>
            <a:r>
              <a:rPr lang="en-US" dirty="0" err="1"/>
              <a:t>nối</a:t>
            </a:r>
            <a:r>
              <a:rPr lang="en-US" dirty="0"/>
              <a:t> </a:t>
            </a:r>
            <a:r>
              <a:rPr lang="en-US" dirty="0" err="1"/>
              <a:t>dùng</a:t>
            </a:r>
            <a:r>
              <a:rPr lang="en-US" dirty="0"/>
              <a:t> </a:t>
            </a:r>
            <a:r>
              <a:rPr lang="en-US" dirty="0" err="1"/>
              <a:t>đối</a:t>
            </a:r>
            <a:r>
              <a:rPr lang="en-US" dirty="0"/>
              <a:t> </a:t>
            </a:r>
            <a:r>
              <a:rPr lang="en-US" dirty="0" err="1"/>
              <a:t>tượng</a:t>
            </a:r>
            <a:r>
              <a:rPr lang="en-US" dirty="0"/>
              <a:t> Connection </a:t>
            </a:r>
          </a:p>
        </p:txBody>
      </p:sp>
      <p:sp>
        <p:nvSpPr>
          <p:cNvPr id="3" name="Content Placeholder 2"/>
          <p:cNvSpPr>
            <a:spLocks noGrp="1"/>
          </p:cNvSpPr>
          <p:nvPr>
            <p:ph idx="1"/>
          </p:nvPr>
        </p:nvSpPr>
        <p:spPr>
          <a:xfrm>
            <a:off x="844914" y="1004254"/>
            <a:ext cx="10367433" cy="4247015"/>
          </a:xfrm>
        </p:spPr>
        <p:txBody>
          <a:bodyPr/>
          <a:lstStyle/>
          <a:p>
            <a:r>
              <a:rPr lang="en-US" dirty="0" err="1"/>
              <a:t>Các</a:t>
            </a:r>
            <a:r>
              <a:rPr lang="en-US" dirty="0"/>
              <a:t> </a:t>
            </a:r>
            <a:r>
              <a:rPr lang="en-US" dirty="0" err="1"/>
              <a:t>dạng</a:t>
            </a:r>
            <a:r>
              <a:rPr lang="en-US" dirty="0"/>
              <a:t> </a:t>
            </a:r>
            <a:r>
              <a:rPr lang="en-US" dirty="0" err="1"/>
              <a:t>khai</a:t>
            </a:r>
            <a:r>
              <a:rPr lang="en-US" dirty="0"/>
              <a:t> </a:t>
            </a:r>
            <a:r>
              <a:rPr lang="en-US" dirty="0" err="1"/>
              <a:t>báo</a:t>
            </a:r>
            <a:r>
              <a:rPr lang="en-US" dirty="0"/>
              <a:t> </a:t>
            </a:r>
            <a:r>
              <a:rPr lang="en-US" dirty="0" err="1"/>
              <a:t>chuỗi</a:t>
            </a:r>
            <a:r>
              <a:rPr lang="en-US" dirty="0"/>
              <a:t> </a:t>
            </a:r>
            <a:r>
              <a:rPr lang="en-US" dirty="0" err="1"/>
              <a:t>kết</a:t>
            </a:r>
            <a:r>
              <a:rPr lang="en-US" dirty="0"/>
              <a:t> </a:t>
            </a:r>
            <a:r>
              <a:rPr lang="en-US" dirty="0" err="1"/>
              <a:t>nối</a:t>
            </a:r>
            <a:r>
              <a:rPr lang="en-US" dirty="0"/>
              <a:t> </a:t>
            </a:r>
            <a:r>
              <a:rPr lang="en-US" dirty="0" err="1"/>
              <a:t>tuỳ</a:t>
            </a:r>
            <a:r>
              <a:rPr lang="en-US" dirty="0"/>
              <a:t> </a:t>
            </a:r>
            <a:r>
              <a:rPr lang="en-US" dirty="0" err="1"/>
              <a:t>theo</a:t>
            </a:r>
            <a:r>
              <a:rPr lang="en-US" dirty="0"/>
              <a:t> </a:t>
            </a:r>
            <a:r>
              <a:rPr lang="en-US" dirty="0" err="1"/>
              <a:t>loại</a:t>
            </a:r>
            <a:r>
              <a:rPr lang="en-US" dirty="0"/>
              <a:t> Database Provider </a:t>
            </a:r>
          </a:p>
          <a:p>
            <a:r>
              <a:rPr lang="en-US" dirty="0" err="1"/>
              <a:t>SqlConnection</a:t>
            </a:r>
            <a:r>
              <a:rPr lang="en-US" dirty="0"/>
              <a:t> </a:t>
            </a:r>
          </a:p>
          <a:p>
            <a:pPr marL="455612" lvl="2" indent="0">
              <a:buNone/>
            </a:pPr>
            <a:r>
              <a:rPr lang="en-US" dirty="0">
                <a:solidFill>
                  <a:schemeClr val="accent1"/>
                </a:solidFill>
              </a:rPr>
              <a:t>string </a:t>
            </a:r>
            <a:r>
              <a:rPr lang="en-US" dirty="0" err="1">
                <a:solidFill>
                  <a:schemeClr val="accent1"/>
                </a:solidFill>
              </a:rPr>
              <a:t>connString</a:t>
            </a:r>
            <a:r>
              <a:rPr lang="en-US" dirty="0">
                <a:solidFill>
                  <a:schemeClr val="accent1"/>
                </a:solidFill>
              </a:rPr>
              <a:t> = @"</a:t>
            </a:r>
            <a:r>
              <a:rPr lang="en-US" dirty="0"/>
              <a:t> </a:t>
            </a:r>
            <a:r>
              <a:rPr lang="en-US" dirty="0">
                <a:solidFill>
                  <a:schemeClr val="accent1"/>
                </a:solidFill>
                <a:latin typeface="+mj-lt"/>
              </a:rPr>
              <a:t>Data Source= </a:t>
            </a:r>
            <a:r>
              <a:rPr lang="en-US" dirty="0" err="1">
                <a:solidFill>
                  <a:schemeClr val="accent1"/>
                </a:solidFill>
                <a:latin typeface="+mj-lt"/>
              </a:rPr>
              <a:t>Tên_Server_SQL_Server;Initial</a:t>
            </a:r>
            <a:r>
              <a:rPr lang="en-US" dirty="0">
                <a:solidFill>
                  <a:schemeClr val="accent1"/>
                </a:solidFill>
                <a:latin typeface="+mj-lt"/>
              </a:rPr>
              <a:t> Catalog=</a:t>
            </a:r>
            <a:r>
              <a:rPr lang="en-US" dirty="0" err="1">
                <a:solidFill>
                  <a:schemeClr val="accent1"/>
                </a:solidFill>
                <a:latin typeface="+mj-lt"/>
              </a:rPr>
              <a:t>Tên_CSDL</a:t>
            </a:r>
            <a:r>
              <a:rPr lang="en-US" dirty="0">
                <a:solidFill>
                  <a:schemeClr val="accent1"/>
                </a:solidFill>
              </a:rPr>
              <a:t>; </a:t>
            </a:r>
            <a:r>
              <a:rPr lang="en-US" altLang="en-US" dirty="0">
                <a:solidFill>
                  <a:schemeClr val="accent1"/>
                </a:solidFill>
                <a:latin typeface="+mj-lt"/>
              </a:rPr>
              <a:t>User ID=</a:t>
            </a:r>
            <a:r>
              <a:rPr lang="en-US" altLang="en-US" dirty="0" err="1">
                <a:solidFill>
                  <a:schemeClr val="accent1"/>
                </a:solidFill>
                <a:latin typeface="+mj-lt"/>
              </a:rPr>
              <a:t>username;Password</a:t>
            </a:r>
            <a:r>
              <a:rPr lang="en-US" altLang="en-US" dirty="0">
                <a:solidFill>
                  <a:schemeClr val="accent1"/>
                </a:solidFill>
                <a:latin typeface="+mj-lt"/>
              </a:rPr>
              <a:t>=password</a:t>
            </a:r>
            <a:r>
              <a:rPr lang="en-US" altLang="en-US" sz="2800" dirty="0">
                <a:solidFill>
                  <a:schemeClr val="accent1"/>
                </a:solidFill>
                <a:latin typeface="+mj-lt"/>
              </a:rPr>
              <a:t> </a:t>
            </a:r>
            <a:r>
              <a:rPr lang="en-US" dirty="0">
                <a:solidFill>
                  <a:schemeClr val="accent1"/>
                </a:solidFill>
                <a:latin typeface="+mj-lt"/>
              </a:rPr>
              <a:t>"; //</a:t>
            </a:r>
            <a:r>
              <a:rPr lang="en-US" dirty="0" err="1">
                <a:solidFill>
                  <a:schemeClr val="accent1"/>
                </a:solidFill>
                <a:latin typeface="+mj-lt"/>
              </a:rPr>
              <a:t>Tạo</a:t>
            </a:r>
            <a:r>
              <a:rPr lang="en-US" dirty="0">
                <a:solidFill>
                  <a:schemeClr val="accent1"/>
                </a:solidFill>
                <a:latin typeface="+mj-lt"/>
              </a:rPr>
              <a:t> </a:t>
            </a:r>
            <a:r>
              <a:rPr lang="en-US" dirty="0" err="1">
                <a:solidFill>
                  <a:schemeClr val="accent1"/>
                </a:solidFill>
                <a:latin typeface="+mj-lt"/>
              </a:rPr>
              <a:t>chuỗi</a:t>
            </a:r>
            <a:r>
              <a:rPr lang="en-US" dirty="0">
                <a:solidFill>
                  <a:schemeClr val="accent1"/>
                </a:solidFill>
                <a:latin typeface="+mj-lt"/>
              </a:rPr>
              <a:t> </a:t>
            </a:r>
            <a:r>
              <a:rPr lang="en-US" dirty="0" err="1">
                <a:solidFill>
                  <a:schemeClr val="accent1"/>
                </a:solidFill>
                <a:latin typeface="+mj-lt"/>
              </a:rPr>
              <a:t>kết</a:t>
            </a:r>
            <a:r>
              <a:rPr lang="en-US" dirty="0">
                <a:solidFill>
                  <a:schemeClr val="accent1"/>
                </a:solidFill>
                <a:latin typeface="+mj-lt"/>
              </a:rPr>
              <a:t> </a:t>
            </a:r>
            <a:r>
              <a:rPr lang="en-US" dirty="0" err="1">
                <a:solidFill>
                  <a:schemeClr val="accent1"/>
                </a:solidFill>
                <a:latin typeface="+mj-lt"/>
              </a:rPr>
              <a:t>nối</a:t>
            </a:r>
            <a:r>
              <a:rPr lang="en-US" dirty="0">
                <a:solidFill>
                  <a:schemeClr val="accent1"/>
                </a:solidFill>
                <a:latin typeface="+mj-lt"/>
              </a:rPr>
              <a:t> </a:t>
            </a:r>
          </a:p>
          <a:p>
            <a:pPr marL="455612" lvl="2" indent="0">
              <a:buNone/>
            </a:pPr>
            <a:r>
              <a:rPr lang="en-US" dirty="0">
                <a:solidFill>
                  <a:schemeClr val="accent1"/>
                </a:solidFill>
              </a:rPr>
              <a:t>// </a:t>
            </a:r>
            <a:r>
              <a:rPr lang="en-US" dirty="0" err="1">
                <a:solidFill>
                  <a:schemeClr val="accent1"/>
                </a:solidFill>
              </a:rPr>
              <a:t>Định</a:t>
            </a:r>
            <a:r>
              <a:rPr lang="en-US" dirty="0">
                <a:solidFill>
                  <a:schemeClr val="accent1"/>
                </a:solidFill>
              </a:rPr>
              <a:t> </a:t>
            </a:r>
            <a:r>
              <a:rPr lang="en-US" dirty="0" err="1">
                <a:solidFill>
                  <a:schemeClr val="accent1"/>
                </a:solidFill>
              </a:rPr>
              <a:t>nghĩa</a:t>
            </a:r>
            <a:r>
              <a:rPr lang="en-US" dirty="0">
                <a:solidFill>
                  <a:schemeClr val="accent1"/>
                </a:solidFill>
              </a:rPr>
              <a:t> </a:t>
            </a:r>
            <a:r>
              <a:rPr lang="en-US" dirty="0" err="1">
                <a:solidFill>
                  <a:schemeClr val="accent1"/>
                </a:solidFill>
              </a:rPr>
              <a:t>một</a:t>
            </a:r>
            <a:r>
              <a:rPr lang="en-US" dirty="0">
                <a:solidFill>
                  <a:schemeClr val="accent1"/>
                </a:solidFill>
              </a:rPr>
              <a:t> </a:t>
            </a:r>
            <a:r>
              <a:rPr lang="en-US" dirty="0" err="1">
                <a:solidFill>
                  <a:schemeClr val="accent1"/>
                </a:solidFill>
              </a:rPr>
              <a:t>đối</a:t>
            </a:r>
            <a:r>
              <a:rPr lang="en-US" dirty="0">
                <a:solidFill>
                  <a:schemeClr val="accent1"/>
                </a:solidFill>
              </a:rPr>
              <a:t> </a:t>
            </a:r>
            <a:r>
              <a:rPr lang="en-US" dirty="0" err="1">
                <a:solidFill>
                  <a:schemeClr val="accent1"/>
                </a:solidFill>
              </a:rPr>
              <a:t>tượng</a:t>
            </a:r>
            <a:r>
              <a:rPr lang="en-US" dirty="0">
                <a:solidFill>
                  <a:schemeClr val="accent1"/>
                </a:solidFill>
              </a:rPr>
              <a:t> Connection.        </a:t>
            </a:r>
          </a:p>
          <a:p>
            <a:pPr marL="455612" lvl="2" indent="0">
              <a:buNone/>
            </a:pPr>
            <a:r>
              <a:rPr lang="en-US" dirty="0" err="1">
                <a:solidFill>
                  <a:schemeClr val="accent1"/>
                </a:solidFill>
              </a:rPr>
              <a:t>SqlConnection</a:t>
            </a:r>
            <a:r>
              <a:rPr lang="en-US" dirty="0">
                <a:solidFill>
                  <a:schemeClr val="accent1"/>
                </a:solidFill>
              </a:rPr>
              <a:t> </a:t>
            </a:r>
            <a:r>
              <a:rPr lang="en-US" dirty="0" err="1">
                <a:solidFill>
                  <a:schemeClr val="accent1"/>
                </a:solidFill>
              </a:rPr>
              <a:t>myConn</a:t>
            </a:r>
            <a:r>
              <a:rPr lang="en-US" dirty="0">
                <a:solidFill>
                  <a:schemeClr val="accent1"/>
                </a:solidFill>
              </a:rPr>
              <a:t> = new </a:t>
            </a:r>
            <a:r>
              <a:rPr lang="en-US" dirty="0" err="1">
                <a:solidFill>
                  <a:schemeClr val="accent1"/>
                </a:solidFill>
              </a:rPr>
              <a:t>SqlConnection</a:t>
            </a:r>
            <a:r>
              <a:rPr lang="en-US" dirty="0">
                <a:solidFill>
                  <a:schemeClr val="accent1"/>
                </a:solidFill>
              </a:rPr>
              <a:t>(</a:t>
            </a:r>
            <a:r>
              <a:rPr lang="en-US" dirty="0" err="1">
                <a:solidFill>
                  <a:schemeClr val="accent1"/>
                </a:solidFill>
              </a:rPr>
              <a:t>connString</a:t>
            </a:r>
            <a:r>
              <a:rPr lang="en-US" dirty="0">
                <a:solidFill>
                  <a:schemeClr val="accent1"/>
                </a:solidFill>
              </a:rPr>
              <a:t>);</a:t>
            </a:r>
          </a:p>
          <a:p>
            <a:pPr marL="455612" lvl="2" indent="0">
              <a:buNone/>
            </a:pPr>
            <a:r>
              <a:rPr lang="en-US" dirty="0" err="1">
                <a:solidFill>
                  <a:schemeClr val="accent1"/>
                </a:solidFill>
              </a:rPr>
              <a:t>myConn.Open</a:t>
            </a:r>
            <a:r>
              <a:rPr lang="en-US" dirty="0">
                <a:solidFill>
                  <a:schemeClr val="accent1"/>
                </a:solidFill>
              </a:rPr>
              <a:t>(); //</a:t>
            </a:r>
            <a:r>
              <a:rPr lang="en-US" dirty="0" err="1">
                <a:solidFill>
                  <a:schemeClr val="accent1"/>
                </a:solidFill>
              </a:rPr>
              <a:t>Mở</a:t>
            </a:r>
            <a:r>
              <a:rPr lang="en-US" dirty="0">
                <a:solidFill>
                  <a:schemeClr val="accent1"/>
                </a:solidFill>
              </a:rPr>
              <a:t> </a:t>
            </a:r>
            <a:r>
              <a:rPr lang="en-US" dirty="0" err="1">
                <a:solidFill>
                  <a:schemeClr val="accent1"/>
                </a:solidFill>
              </a:rPr>
              <a:t>kết</a:t>
            </a:r>
            <a:r>
              <a:rPr lang="en-US" dirty="0">
                <a:solidFill>
                  <a:schemeClr val="accent1"/>
                </a:solidFill>
              </a:rPr>
              <a:t> </a:t>
            </a:r>
            <a:r>
              <a:rPr lang="en-US" dirty="0" err="1">
                <a:solidFill>
                  <a:schemeClr val="accent1"/>
                </a:solidFill>
              </a:rPr>
              <a:t>nối</a:t>
            </a:r>
            <a:endParaRPr lang="en-US" dirty="0">
              <a:solidFill>
                <a:schemeClr val="accent1"/>
              </a:solidFill>
            </a:endParaRPr>
          </a:p>
          <a:p>
            <a:r>
              <a:rPr lang="en-US" dirty="0" err="1"/>
              <a:t>OleDbConnection</a:t>
            </a:r>
            <a:r>
              <a:rPr lang="en-US" dirty="0"/>
              <a:t> </a:t>
            </a:r>
          </a:p>
          <a:p>
            <a:pPr marL="455612" lvl="2" indent="0">
              <a:buNone/>
            </a:pPr>
            <a:r>
              <a:rPr lang="en-US" dirty="0">
                <a:solidFill>
                  <a:schemeClr val="accent1"/>
                </a:solidFill>
              </a:rPr>
              <a:t>//</a:t>
            </a:r>
            <a:r>
              <a:rPr lang="en-US" dirty="0" err="1">
                <a:solidFill>
                  <a:schemeClr val="accent1"/>
                </a:solidFill>
              </a:rPr>
              <a:t>Tạo</a:t>
            </a:r>
            <a:r>
              <a:rPr lang="en-US" dirty="0">
                <a:solidFill>
                  <a:schemeClr val="accent1"/>
                </a:solidFill>
              </a:rPr>
              <a:t> </a:t>
            </a:r>
            <a:r>
              <a:rPr lang="en-US" dirty="0" err="1">
                <a:solidFill>
                  <a:schemeClr val="accent1"/>
                </a:solidFill>
              </a:rPr>
              <a:t>chuỗi</a:t>
            </a:r>
            <a:r>
              <a:rPr lang="en-US" dirty="0">
                <a:solidFill>
                  <a:schemeClr val="accent1"/>
                </a:solidFill>
              </a:rPr>
              <a:t> </a:t>
            </a:r>
            <a:r>
              <a:rPr lang="en-US" dirty="0" err="1">
                <a:solidFill>
                  <a:schemeClr val="accent1"/>
                </a:solidFill>
              </a:rPr>
              <a:t>kết</a:t>
            </a:r>
            <a:r>
              <a:rPr lang="en-US" dirty="0">
                <a:solidFill>
                  <a:schemeClr val="accent1"/>
                </a:solidFill>
              </a:rPr>
              <a:t> </a:t>
            </a:r>
            <a:r>
              <a:rPr lang="en-US" dirty="0" err="1">
                <a:solidFill>
                  <a:schemeClr val="accent1"/>
                </a:solidFill>
              </a:rPr>
              <a:t>nối</a:t>
            </a:r>
            <a:endParaRPr lang="en-US" dirty="0">
              <a:solidFill>
                <a:schemeClr val="accent1"/>
              </a:solidFill>
            </a:endParaRPr>
          </a:p>
          <a:p>
            <a:pPr marL="455612" lvl="2" indent="0">
              <a:buNone/>
            </a:pPr>
            <a:r>
              <a:rPr lang="en-US" dirty="0">
                <a:solidFill>
                  <a:schemeClr val="accent1"/>
                </a:solidFill>
              </a:rPr>
              <a:t>string </a:t>
            </a:r>
            <a:r>
              <a:rPr lang="en-US" dirty="0" err="1">
                <a:solidFill>
                  <a:schemeClr val="accent1"/>
                </a:solidFill>
              </a:rPr>
              <a:t>connString</a:t>
            </a:r>
            <a:r>
              <a:rPr lang="en-US" dirty="0">
                <a:solidFill>
                  <a:schemeClr val="accent1"/>
                </a:solidFill>
              </a:rPr>
              <a:t> = </a:t>
            </a:r>
            <a:r>
              <a:rPr lang="en-US" dirty="0">
                <a:solidFill>
                  <a:schemeClr val="accent5">
                    <a:lumMod val="75000"/>
                  </a:schemeClr>
                </a:solidFill>
              </a:rPr>
              <a:t>"Provider= Microsoft.Jet.OLEDB.4.0;Data Source=c:\NWind.MDB"</a:t>
            </a:r>
            <a:r>
              <a:rPr lang="en-US" dirty="0">
                <a:solidFill>
                  <a:schemeClr val="accent1"/>
                </a:solidFill>
              </a:rPr>
              <a:t>; // </a:t>
            </a:r>
            <a:r>
              <a:rPr lang="en-US" dirty="0" err="1">
                <a:solidFill>
                  <a:schemeClr val="accent1"/>
                </a:solidFill>
              </a:rPr>
              <a:t>Định</a:t>
            </a:r>
            <a:r>
              <a:rPr lang="en-US" dirty="0">
                <a:solidFill>
                  <a:schemeClr val="accent1"/>
                </a:solidFill>
              </a:rPr>
              <a:t> </a:t>
            </a:r>
            <a:r>
              <a:rPr lang="en-US" dirty="0" err="1">
                <a:solidFill>
                  <a:schemeClr val="accent1"/>
                </a:solidFill>
              </a:rPr>
              <a:t>nghĩa</a:t>
            </a:r>
            <a:r>
              <a:rPr lang="en-US" dirty="0">
                <a:solidFill>
                  <a:schemeClr val="accent1"/>
                </a:solidFill>
              </a:rPr>
              <a:t> </a:t>
            </a:r>
            <a:r>
              <a:rPr lang="en-US" dirty="0" err="1">
                <a:solidFill>
                  <a:schemeClr val="accent1"/>
                </a:solidFill>
              </a:rPr>
              <a:t>một</a:t>
            </a:r>
            <a:r>
              <a:rPr lang="en-US" dirty="0">
                <a:solidFill>
                  <a:schemeClr val="accent1"/>
                </a:solidFill>
              </a:rPr>
              <a:t> </a:t>
            </a:r>
            <a:r>
              <a:rPr lang="en-US" dirty="0" err="1">
                <a:solidFill>
                  <a:schemeClr val="accent1"/>
                </a:solidFill>
              </a:rPr>
              <a:t>đối</a:t>
            </a:r>
            <a:r>
              <a:rPr lang="en-US" dirty="0">
                <a:solidFill>
                  <a:schemeClr val="accent1"/>
                </a:solidFill>
              </a:rPr>
              <a:t> </a:t>
            </a:r>
            <a:r>
              <a:rPr lang="en-US" dirty="0" err="1">
                <a:solidFill>
                  <a:schemeClr val="accent1"/>
                </a:solidFill>
              </a:rPr>
              <a:t>tượng</a:t>
            </a:r>
            <a:r>
              <a:rPr lang="en-US" dirty="0">
                <a:solidFill>
                  <a:schemeClr val="accent1"/>
                </a:solidFill>
              </a:rPr>
              <a:t> Connection.        </a:t>
            </a:r>
          </a:p>
          <a:p>
            <a:pPr marL="455612" lvl="2" indent="0">
              <a:buNone/>
            </a:pPr>
            <a:r>
              <a:rPr lang="en-US" dirty="0" err="1">
                <a:solidFill>
                  <a:schemeClr val="accent1"/>
                </a:solidFill>
              </a:rPr>
              <a:t>OleDbConnection</a:t>
            </a:r>
            <a:r>
              <a:rPr lang="en-US" dirty="0">
                <a:solidFill>
                  <a:schemeClr val="accent1"/>
                </a:solidFill>
              </a:rPr>
              <a:t> </a:t>
            </a:r>
            <a:r>
              <a:rPr lang="en-US" dirty="0" err="1">
                <a:solidFill>
                  <a:schemeClr val="accent1"/>
                </a:solidFill>
              </a:rPr>
              <a:t>myConn</a:t>
            </a:r>
            <a:r>
              <a:rPr lang="en-US" dirty="0">
                <a:solidFill>
                  <a:schemeClr val="accent1"/>
                </a:solidFill>
              </a:rPr>
              <a:t> = new </a:t>
            </a:r>
            <a:r>
              <a:rPr lang="en-US" dirty="0" err="1">
                <a:solidFill>
                  <a:schemeClr val="accent1"/>
                </a:solidFill>
              </a:rPr>
              <a:t>OleDbConnection</a:t>
            </a:r>
            <a:r>
              <a:rPr lang="en-US" dirty="0">
                <a:solidFill>
                  <a:schemeClr val="accent1"/>
                </a:solidFill>
              </a:rPr>
              <a:t>(); </a:t>
            </a:r>
          </a:p>
          <a:p>
            <a:pPr marL="455612" lvl="2" indent="0">
              <a:buNone/>
            </a:pPr>
            <a:r>
              <a:rPr lang="en-US" dirty="0" err="1">
                <a:solidFill>
                  <a:schemeClr val="accent1"/>
                </a:solidFill>
              </a:rPr>
              <a:t>myConn.Open</a:t>
            </a:r>
            <a:r>
              <a:rPr lang="en-US" dirty="0">
                <a:solidFill>
                  <a:schemeClr val="accent1"/>
                </a:solidFill>
              </a:rPr>
              <a:t>(); //</a:t>
            </a:r>
            <a:r>
              <a:rPr lang="en-US" dirty="0" err="1">
                <a:solidFill>
                  <a:schemeClr val="accent1"/>
                </a:solidFill>
              </a:rPr>
              <a:t>Mở</a:t>
            </a:r>
            <a:r>
              <a:rPr lang="en-US" dirty="0">
                <a:solidFill>
                  <a:schemeClr val="accent1"/>
                </a:solidFill>
              </a:rPr>
              <a:t> </a:t>
            </a:r>
            <a:r>
              <a:rPr lang="en-US" dirty="0" err="1">
                <a:solidFill>
                  <a:schemeClr val="accent1"/>
                </a:solidFill>
              </a:rPr>
              <a:t>kết</a:t>
            </a:r>
            <a:r>
              <a:rPr lang="en-US" dirty="0">
                <a:solidFill>
                  <a:schemeClr val="accent1"/>
                </a:solidFill>
              </a:rPr>
              <a:t> </a:t>
            </a:r>
            <a:r>
              <a:rPr lang="en-US" dirty="0" err="1">
                <a:solidFill>
                  <a:schemeClr val="accent1"/>
                </a:solidFill>
              </a:rPr>
              <a:t>nối</a:t>
            </a:r>
            <a:endParaRPr lang="en-US" dirty="0">
              <a:solidFill>
                <a:schemeClr val="accent1"/>
              </a:solidFill>
            </a:endParaRPr>
          </a:p>
          <a:p>
            <a:pPr marL="454025" lvl="2" indent="0">
              <a:buNone/>
            </a:pPr>
            <a:endParaRPr lang="en-US" dirty="0">
              <a:solidFill>
                <a:schemeClr val="accent5">
                  <a:lumMod val="75000"/>
                </a:schemeClr>
              </a:solidFill>
            </a:endParaRPr>
          </a:p>
        </p:txBody>
      </p:sp>
      <p:sp>
        <p:nvSpPr>
          <p:cNvPr id="4" name="Slide Number Placeholder 3"/>
          <p:cNvSpPr>
            <a:spLocks noGrp="1"/>
          </p:cNvSpPr>
          <p:nvPr>
            <p:ph type="sldNum" sz="quarter" idx="10"/>
          </p:nvPr>
        </p:nvSpPr>
        <p:spPr/>
        <p:txBody>
          <a:bodyPr/>
          <a:lstStyle/>
          <a:p>
            <a:fld id="{2AEE2371-D0CC-4967-BE28-70407D2A399D}" type="slidenum">
              <a:rPr lang="en-US" smtClean="0"/>
              <a:t>11</a:t>
            </a:fld>
            <a:endParaRPr lang="en-US"/>
          </a:p>
        </p:txBody>
      </p:sp>
    </p:spTree>
    <p:extLst>
      <p:ext uri="{BB962C8B-B14F-4D97-AF65-F5344CB8AC3E}">
        <p14:creationId xmlns:p14="http://schemas.microsoft.com/office/powerpoint/2010/main" val="4252720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Hướng</a:t>
            </a:r>
            <a:r>
              <a:rPr lang="en-US" dirty="0"/>
              <a:t> </a:t>
            </a:r>
            <a:r>
              <a:rPr lang="en-US" dirty="0" err="1"/>
              <a:t>dẫn</a:t>
            </a:r>
            <a:r>
              <a:rPr lang="en-US" dirty="0"/>
              <a:t> </a:t>
            </a:r>
            <a:r>
              <a:rPr lang="en-US" dirty="0" err="1"/>
              <a:t>cấu</a:t>
            </a:r>
            <a:r>
              <a:rPr lang="en-US" dirty="0"/>
              <a:t> </a:t>
            </a:r>
            <a:r>
              <a:rPr lang="en-US" dirty="0" err="1"/>
              <a:t>hình</a:t>
            </a:r>
            <a:r>
              <a:rPr lang="en-US" dirty="0"/>
              <a:t> </a:t>
            </a:r>
            <a:r>
              <a:rPr lang="en-US" dirty="0" err="1"/>
              <a:t>kết</a:t>
            </a:r>
            <a:r>
              <a:rPr lang="en-US" dirty="0"/>
              <a:t> </a:t>
            </a:r>
            <a:r>
              <a:rPr lang="en-US" dirty="0" err="1"/>
              <a:t>nối</a:t>
            </a:r>
            <a:r>
              <a:rPr lang="en-US" dirty="0"/>
              <a:t> CSDL </a:t>
            </a:r>
            <a:r>
              <a:rPr lang="en-US" dirty="0" err="1"/>
              <a:t>trong</a:t>
            </a:r>
            <a:r>
              <a:rPr lang="en-US" dirty="0"/>
              <a:t> </a:t>
            </a:r>
            <a:r>
              <a:rPr lang="en-US" dirty="0" err="1"/>
              <a:t>web.config</a:t>
            </a:r>
            <a:endParaRPr lang="en-US" dirty="0"/>
          </a:p>
        </p:txBody>
      </p:sp>
      <p:sp>
        <p:nvSpPr>
          <p:cNvPr id="3" name="Content Placeholder 2"/>
          <p:cNvSpPr>
            <a:spLocks noGrp="1"/>
          </p:cNvSpPr>
          <p:nvPr>
            <p:ph idx="1"/>
          </p:nvPr>
        </p:nvSpPr>
        <p:spPr>
          <a:xfrm>
            <a:off x="627017" y="1489166"/>
            <a:ext cx="10933612" cy="4872445"/>
          </a:xfrm>
        </p:spPr>
        <p:txBody>
          <a:bodyPr/>
          <a:lstStyle/>
          <a:p>
            <a:r>
              <a:rPr lang="en-US" dirty="0" err="1"/>
              <a:t>Nếu</a:t>
            </a:r>
            <a:r>
              <a:rPr lang="en-US" dirty="0"/>
              <a:t> </a:t>
            </a:r>
            <a:r>
              <a:rPr lang="en-US" dirty="0" err="1"/>
              <a:t>có</a:t>
            </a:r>
            <a:r>
              <a:rPr lang="en-US" dirty="0"/>
              <a:t> 20 </a:t>
            </a:r>
            <a:r>
              <a:rPr lang="en-US" dirty="0" err="1"/>
              <a:t>trang</a:t>
            </a:r>
            <a:r>
              <a:rPr lang="en-US" dirty="0"/>
              <a:t> </a:t>
            </a:r>
            <a:r>
              <a:rPr lang="en-US" dirty="0" err="1"/>
              <a:t>WebForm</a:t>
            </a:r>
            <a:r>
              <a:rPr lang="en-US" dirty="0"/>
              <a:t> </a:t>
            </a:r>
            <a:r>
              <a:rPr lang="en-US" dirty="0" err="1"/>
              <a:t>cần</a:t>
            </a:r>
            <a:r>
              <a:rPr lang="en-US" dirty="0"/>
              <a:t> </a:t>
            </a:r>
            <a:r>
              <a:rPr lang="en-US" dirty="0" err="1"/>
              <a:t>truy</a:t>
            </a:r>
            <a:r>
              <a:rPr lang="en-US" dirty="0"/>
              <a:t> </a:t>
            </a:r>
            <a:r>
              <a:rPr lang="en-US" dirty="0" err="1"/>
              <a:t>cập</a:t>
            </a:r>
            <a:r>
              <a:rPr lang="en-US" dirty="0"/>
              <a:t> Database, ta </a:t>
            </a:r>
            <a:r>
              <a:rPr lang="en-US" dirty="0" err="1"/>
              <a:t>có</a:t>
            </a:r>
            <a:r>
              <a:rPr lang="en-US" dirty="0"/>
              <a:t> </a:t>
            </a:r>
            <a:r>
              <a:rPr lang="en-US" dirty="0" err="1"/>
              <a:t>thể</a:t>
            </a:r>
            <a:r>
              <a:rPr lang="en-US" dirty="0"/>
              <a:t> </a:t>
            </a:r>
            <a:r>
              <a:rPr lang="en-US" dirty="0" err="1"/>
              <a:t>phải</a:t>
            </a:r>
            <a:r>
              <a:rPr lang="en-US" dirty="0"/>
              <a:t> </a:t>
            </a:r>
            <a:r>
              <a:rPr lang="en-US" dirty="0" err="1"/>
              <a:t>viết</a:t>
            </a:r>
            <a:r>
              <a:rPr lang="en-US" dirty="0"/>
              <a:t> </a:t>
            </a:r>
            <a:r>
              <a:rPr lang="en-US" dirty="0" err="1"/>
              <a:t>lại</a:t>
            </a:r>
            <a:r>
              <a:rPr lang="en-US" dirty="0"/>
              <a:t> </a:t>
            </a:r>
            <a:r>
              <a:rPr lang="en-US" dirty="0" err="1"/>
              <a:t>chuỗi</a:t>
            </a:r>
            <a:r>
              <a:rPr lang="en-US" dirty="0"/>
              <a:t> </a:t>
            </a:r>
            <a:r>
              <a:rPr lang="en-US" dirty="0" err="1"/>
              <a:t>kết</a:t>
            </a:r>
            <a:r>
              <a:rPr lang="en-US" dirty="0"/>
              <a:t> </a:t>
            </a:r>
            <a:r>
              <a:rPr lang="en-US" dirty="0" err="1"/>
              <a:t>nối</a:t>
            </a:r>
            <a:r>
              <a:rPr lang="en-US" dirty="0"/>
              <a:t> </a:t>
            </a:r>
            <a:r>
              <a:rPr lang="en-US" dirty="0" err="1"/>
              <a:t>đến</a:t>
            </a:r>
            <a:r>
              <a:rPr lang="en-US" dirty="0"/>
              <a:t> CSDL </a:t>
            </a:r>
            <a:r>
              <a:rPr lang="en-US" dirty="0" err="1"/>
              <a:t>này</a:t>
            </a:r>
            <a:r>
              <a:rPr lang="en-US" dirty="0"/>
              <a:t> ở </a:t>
            </a:r>
            <a:r>
              <a:rPr lang="en-US" dirty="0" err="1"/>
              <a:t>rất</a:t>
            </a:r>
            <a:r>
              <a:rPr lang="en-US" dirty="0"/>
              <a:t> </a:t>
            </a:r>
            <a:r>
              <a:rPr lang="en-US" dirty="0" err="1"/>
              <a:t>nhiều</a:t>
            </a:r>
            <a:r>
              <a:rPr lang="en-US" dirty="0"/>
              <a:t> </a:t>
            </a:r>
            <a:r>
              <a:rPr lang="en-US" dirty="0" err="1"/>
              <a:t>nơi</a:t>
            </a:r>
            <a:r>
              <a:rPr lang="en-US" dirty="0"/>
              <a:t>.</a:t>
            </a:r>
          </a:p>
          <a:p>
            <a:r>
              <a:rPr lang="en-US" dirty="0" err="1"/>
              <a:t>Điều</a:t>
            </a:r>
            <a:r>
              <a:rPr lang="en-US" dirty="0"/>
              <a:t> </a:t>
            </a:r>
            <a:r>
              <a:rPr lang="en-US" dirty="0" err="1"/>
              <a:t>này</a:t>
            </a:r>
            <a:r>
              <a:rPr lang="en-US" dirty="0"/>
              <a:t> </a:t>
            </a:r>
            <a:r>
              <a:rPr lang="en-US" dirty="0" err="1"/>
              <a:t>gây</a:t>
            </a:r>
            <a:r>
              <a:rPr lang="en-US" dirty="0"/>
              <a:t> </a:t>
            </a:r>
            <a:r>
              <a:rPr lang="en-US" dirty="0" err="1"/>
              <a:t>ra</a:t>
            </a:r>
            <a:r>
              <a:rPr lang="en-US" dirty="0"/>
              <a:t> code </a:t>
            </a:r>
            <a:r>
              <a:rPr lang="en-US" dirty="0" err="1"/>
              <a:t>trùng</a:t>
            </a:r>
            <a:r>
              <a:rPr lang="en-US" dirty="0"/>
              <a:t> </a:t>
            </a:r>
            <a:r>
              <a:rPr lang="en-US" dirty="0" err="1"/>
              <a:t>lặp</a:t>
            </a:r>
            <a:r>
              <a:rPr lang="en-US" dirty="0"/>
              <a:t> </a:t>
            </a:r>
            <a:r>
              <a:rPr lang="en-US" dirty="0" err="1"/>
              <a:t>và</a:t>
            </a:r>
            <a:r>
              <a:rPr lang="en-US" dirty="0"/>
              <a:t> </a:t>
            </a:r>
            <a:r>
              <a:rPr lang="en-US" dirty="0" err="1"/>
              <a:t>khó</a:t>
            </a:r>
            <a:r>
              <a:rPr lang="en-US" dirty="0"/>
              <a:t> </a:t>
            </a:r>
            <a:r>
              <a:rPr lang="en-US" dirty="0" err="1"/>
              <a:t>bảo</a:t>
            </a:r>
            <a:r>
              <a:rPr lang="en-US" dirty="0"/>
              <a:t> </a:t>
            </a:r>
            <a:r>
              <a:rPr lang="en-US" dirty="0" err="1"/>
              <a:t>trì</a:t>
            </a:r>
            <a:r>
              <a:rPr lang="en-US" dirty="0"/>
              <a:t>, </a:t>
            </a:r>
            <a:r>
              <a:rPr lang="en-US" dirty="0" err="1"/>
              <a:t>ví</a:t>
            </a:r>
            <a:r>
              <a:rPr lang="en-US" dirty="0"/>
              <a:t> </a:t>
            </a:r>
            <a:r>
              <a:rPr lang="en-US" dirty="0" err="1"/>
              <a:t>dụ</a:t>
            </a:r>
            <a:r>
              <a:rPr lang="en-US" dirty="0"/>
              <a:t> </a:t>
            </a:r>
            <a:r>
              <a:rPr lang="en-US" dirty="0" err="1"/>
              <a:t>nếu</a:t>
            </a:r>
            <a:r>
              <a:rPr lang="en-US" dirty="0"/>
              <a:t> ta </a:t>
            </a:r>
            <a:r>
              <a:rPr lang="en-US" dirty="0" err="1"/>
              <a:t>thay</a:t>
            </a:r>
            <a:r>
              <a:rPr lang="en-US" dirty="0"/>
              <a:t> </a:t>
            </a:r>
            <a:r>
              <a:rPr lang="en-US" dirty="0" err="1"/>
              <a:t>đổi</a:t>
            </a:r>
            <a:r>
              <a:rPr lang="en-US" dirty="0"/>
              <a:t> </a:t>
            </a:r>
            <a:r>
              <a:rPr lang="en-US" dirty="0" err="1"/>
              <a:t>tên</a:t>
            </a:r>
            <a:r>
              <a:rPr lang="en-US" dirty="0"/>
              <a:t> </a:t>
            </a:r>
            <a:r>
              <a:rPr lang="en-US" dirty="0" err="1"/>
              <a:t>của</a:t>
            </a:r>
            <a:r>
              <a:rPr lang="en-US" dirty="0"/>
              <a:t> Server SQL Server (</a:t>
            </a:r>
            <a:r>
              <a:rPr lang="en-US" dirty="0" err="1"/>
              <a:t>chuyển</a:t>
            </a:r>
            <a:r>
              <a:rPr lang="en-US" dirty="0"/>
              <a:t> CSDL sang </a:t>
            </a:r>
            <a:r>
              <a:rPr lang="en-US" dirty="0" err="1"/>
              <a:t>máy</a:t>
            </a:r>
            <a:r>
              <a:rPr lang="en-US" dirty="0"/>
              <a:t> </a:t>
            </a:r>
            <a:r>
              <a:rPr lang="en-US" dirty="0" err="1"/>
              <a:t>chủ</a:t>
            </a:r>
            <a:r>
              <a:rPr lang="en-US" dirty="0"/>
              <a:t> </a:t>
            </a:r>
            <a:r>
              <a:rPr lang="en-US" dirty="0" err="1"/>
              <a:t>khác</a:t>
            </a:r>
            <a:r>
              <a:rPr lang="en-US" dirty="0"/>
              <a:t> </a:t>
            </a:r>
            <a:r>
              <a:rPr lang="en-US" dirty="0" err="1"/>
              <a:t>chẳng</a:t>
            </a:r>
            <a:r>
              <a:rPr lang="en-US" dirty="0"/>
              <a:t> </a:t>
            </a:r>
            <a:r>
              <a:rPr lang="en-US" dirty="0" err="1"/>
              <a:t>hạn</a:t>
            </a:r>
            <a:r>
              <a:rPr lang="en-US" dirty="0"/>
              <a:t>) </a:t>
            </a:r>
            <a:r>
              <a:rPr lang="en-US" dirty="0" err="1"/>
              <a:t>thì</a:t>
            </a:r>
            <a:r>
              <a:rPr lang="en-US" dirty="0"/>
              <a:t> </a:t>
            </a:r>
            <a:r>
              <a:rPr lang="en-US" dirty="0" err="1"/>
              <a:t>sẽ</a:t>
            </a:r>
            <a:r>
              <a:rPr lang="en-US" dirty="0"/>
              <a:t> </a:t>
            </a:r>
            <a:r>
              <a:rPr lang="en-US" dirty="0" err="1"/>
              <a:t>phải</a:t>
            </a:r>
            <a:r>
              <a:rPr lang="en-US" dirty="0"/>
              <a:t> </a:t>
            </a:r>
            <a:r>
              <a:rPr lang="en-US" dirty="0" err="1"/>
              <a:t>sửa</a:t>
            </a:r>
            <a:r>
              <a:rPr lang="en-US" dirty="0"/>
              <a:t> </a:t>
            </a:r>
            <a:r>
              <a:rPr lang="en-US" dirty="0" err="1"/>
              <a:t>lại</a:t>
            </a:r>
            <a:r>
              <a:rPr lang="en-US" dirty="0"/>
              <a:t> </a:t>
            </a:r>
            <a:r>
              <a:rPr lang="en-US" dirty="0" err="1"/>
              <a:t>choỗi</a:t>
            </a:r>
            <a:r>
              <a:rPr lang="en-US" dirty="0"/>
              <a:t> </a:t>
            </a:r>
            <a:r>
              <a:rPr lang="en-US" dirty="0" err="1"/>
              <a:t>kết</a:t>
            </a:r>
            <a:r>
              <a:rPr lang="en-US" dirty="0"/>
              <a:t> </a:t>
            </a:r>
            <a:r>
              <a:rPr lang="en-US" dirty="0" err="1"/>
              <a:t>nối</a:t>
            </a:r>
            <a:r>
              <a:rPr lang="en-US" dirty="0"/>
              <a:t> ở </a:t>
            </a:r>
            <a:r>
              <a:rPr lang="en-US" dirty="0" err="1"/>
              <a:t>cả</a:t>
            </a:r>
            <a:r>
              <a:rPr lang="en-US" dirty="0"/>
              <a:t> 20 </a:t>
            </a:r>
            <a:r>
              <a:rPr lang="en-US" dirty="0" err="1"/>
              <a:t>trang</a:t>
            </a:r>
            <a:r>
              <a:rPr lang="en-US" dirty="0"/>
              <a:t> </a:t>
            </a:r>
            <a:r>
              <a:rPr lang="en-US" dirty="0" err="1"/>
              <a:t>WebForm</a:t>
            </a:r>
            <a:endParaRPr lang="en-US" dirty="0"/>
          </a:p>
          <a:p>
            <a:r>
              <a:rPr lang="en-US" dirty="0" err="1"/>
              <a:t>Để</a:t>
            </a:r>
            <a:r>
              <a:rPr lang="en-US" dirty="0"/>
              <a:t> </a:t>
            </a:r>
            <a:r>
              <a:rPr lang="en-US" dirty="0" err="1"/>
              <a:t>khắc</a:t>
            </a:r>
            <a:r>
              <a:rPr lang="en-US" dirty="0"/>
              <a:t> </a:t>
            </a:r>
            <a:r>
              <a:rPr lang="en-US" dirty="0" err="1"/>
              <a:t>phục</a:t>
            </a:r>
            <a:r>
              <a:rPr lang="en-US" dirty="0"/>
              <a:t> </a:t>
            </a:r>
            <a:r>
              <a:rPr lang="en-US" dirty="0" err="1"/>
              <a:t>điều</a:t>
            </a:r>
            <a:r>
              <a:rPr lang="en-US" dirty="0"/>
              <a:t> </a:t>
            </a:r>
            <a:r>
              <a:rPr lang="en-US" dirty="0" err="1"/>
              <a:t>này</a:t>
            </a:r>
            <a:r>
              <a:rPr lang="en-US" dirty="0"/>
              <a:t>, ta </a:t>
            </a:r>
            <a:r>
              <a:rPr lang="en-US" dirty="0" err="1"/>
              <a:t>sẽ</a:t>
            </a:r>
            <a:r>
              <a:rPr lang="en-US" dirty="0"/>
              <a:t> </a:t>
            </a:r>
            <a:r>
              <a:rPr lang="en-US" dirty="0" err="1"/>
              <a:t>khai</a:t>
            </a:r>
            <a:r>
              <a:rPr lang="en-US" dirty="0"/>
              <a:t> </a:t>
            </a:r>
            <a:r>
              <a:rPr lang="en-US" dirty="0" err="1"/>
              <a:t>báo</a:t>
            </a:r>
            <a:r>
              <a:rPr lang="en-US" dirty="0"/>
              <a:t> </a:t>
            </a:r>
            <a:r>
              <a:rPr lang="en-US" dirty="0" err="1"/>
              <a:t>chuỗi</a:t>
            </a:r>
            <a:r>
              <a:rPr lang="en-US" dirty="0"/>
              <a:t> </a:t>
            </a:r>
            <a:r>
              <a:rPr lang="en-US" dirty="0" err="1"/>
              <a:t>kết</a:t>
            </a:r>
            <a:r>
              <a:rPr lang="en-US" dirty="0"/>
              <a:t> </a:t>
            </a:r>
            <a:r>
              <a:rPr lang="en-US" dirty="0" err="1"/>
              <a:t>nối</a:t>
            </a:r>
            <a:r>
              <a:rPr lang="en-US" dirty="0"/>
              <a:t> </a:t>
            </a:r>
            <a:r>
              <a:rPr lang="en-US" dirty="0" err="1"/>
              <a:t>này</a:t>
            </a:r>
            <a:r>
              <a:rPr lang="en-US" dirty="0"/>
              <a:t> </a:t>
            </a:r>
            <a:r>
              <a:rPr lang="en-US" dirty="0" err="1"/>
              <a:t>một</a:t>
            </a:r>
            <a:r>
              <a:rPr lang="en-US" dirty="0"/>
              <a:t> </a:t>
            </a:r>
            <a:r>
              <a:rPr lang="en-US" dirty="0" err="1"/>
              <a:t>lần</a:t>
            </a:r>
            <a:r>
              <a:rPr lang="en-US" dirty="0"/>
              <a:t> </a:t>
            </a:r>
            <a:r>
              <a:rPr lang="en-US" dirty="0" err="1"/>
              <a:t>tại</a:t>
            </a:r>
            <a:r>
              <a:rPr lang="en-US" dirty="0"/>
              <a:t> file </a:t>
            </a:r>
            <a:r>
              <a:rPr lang="en-US" dirty="0" err="1"/>
              <a:t>Web.config</a:t>
            </a:r>
            <a:r>
              <a:rPr lang="en-US" dirty="0"/>
              <a:t>. Các </a:t>
            </a:r>
            <a:r>
              <a:rPr lang="en-US" dirty="0" err="1"/>
              <a:t>trang</a:t>
            </a:r>
            <a:r>
              <a:rPr lang="en-US" dirty="0"/>
              <a:t> Webform </a:t>
            </a:r>
            <a:r>
              <a:rPr lang="en-US" dirty="0" err="1"/>
              <a:t>của</a:t>
            </a:r>
            <a:r>
              <a:rPr lang="en-US" dirty="0"/>
              <a:t> </a:t>
            </a:r>
            <a:r>
              <a:rPr lang="en-US" dirty="0" err="1"/>
              <a:t>ứng</a:t>
            </a:r>
            <a:r>
              <a:rPr lang="en-US" dirty="0"/>
              <a:t> </a:t>
            </a:r>
            <a:r>
              <a:rPr lang="en-US" dirty="0" err="1"/>
              <a:t>dụng</a:t>
            </a:r>
            <a:r>
              <a:rPr lang="en-US" dirty="0"/>
              <a:t> </a:t>
            </a:r>
            <a:r>
              <a:rPr lang="en-US" dirty="0" err="1"/>
              <a:t>có</a:t>
            </a:r>
            <a:r>
              <a:rPr lang="en-US" dirty="0"/>
              <a:t> </a:t>
            </a:r>
            <a:r>
              <a:rPr lang="en-US" dirty="0" err="1"/>
              <a:t>thể</a:t>
            </a:r>
            <a:r>
              <a:rPr lang="en-US" dirty="0"/>
              <a:t> </a:t>
            </a:r>
            <a:r>
              <a:rPr lang="en-US" dirty="0" err="1"/>
              <a:t>sử</a:t>
            </a:r>
            <a:r>
              <a:rPr lang="en-US" dirty="0"/>
              <a:t> </a:t>
            </a:r>
            <a:r>
              <a:rPr lang="en-US" dirty="0" err="1"/>
              <a:t>dụng</a:t>
            </a:r>
            <a:r>
              <a:rPr lang="en-US" dirty="0"/>
              <a:t> </a:t>
            </a:r>
            <a:r>
              <a:rPr lang="en-US" dirty="0" err="1"/>
              <a:t>chuỗi</a:t>
            </a:r>
            <a:r>
              <a:rPr lang="en-US" dirty="0"/>
              <a:t> </a:t>
            </a:r>
            <a:r>
              <a:rPr lang="en-US" dirty="0" err="1"/>
              <a:t>kết</a:t>
            </a:r>
            <a:r>
              <a:rPr lang="en-US" dirty="0"/>
              <a:t> </a:t>
            </a:r>
            <a:r>
              <a:rPr lang="en-US" dirty="0" err="1"/>
              <a:t>nối</a:t>
            </a:r>
            <a:r>
              <a:rPr lang="en-US" dirty="0"/>
              <a:t> </a:t>
            </a:r>
            <a:r>
              <a:rPr lang="en-US" dirty="0" err="1"/>
              <a:t>bằng</a:t>
            </a:r>
            <a:r>
              <a:rPr lang="en-US" dirty="0"/>
              <a:t> </a:t>
            </a:r>
            <a:r>
              <a:rPr lang="en-US" dirty="0" err="1"/>
              <a:t>cách</a:t>
            </a:r>
            <a:r>
              <a:rPr lang="en-US" dirty="0"/>
              <a:t> </a:t>
            </a:r>
            <a:r>
              <a:rPr lang="en-US" dirty="0" err="1"/>
              <a:t>lấy</a:t>
            </a:r>
            <a:r>
              <a:rPr lang="en-US" dirty="0"/>
              <a:t> </a:t>
            </a:r>
            <a:r>
              <a:rPr lang="en-US" dirty="0" err="1"/>
              <a:t>từ</a:t>
            </a:r>
            <a:r>
              <a:rPr lang="en-US" dirty="0"/>
              <a:t> </a:t>
            </a:r>
            <a:r>
              <a:rPr lang="en-US" dirty="0" err="1"/>
              <a:t>trong</a:t>
            </a:r>
            <a:r>
              <a:rPr lang="en-US" dirty="0"/>
              <a:t> file </a:t>
            </a:r>
            <a:r>
              <a:rPr lang="en-US" dirty="0" err="1"/>
              <a:t>Web.config</a:t>
            </a:r>
            <a:r>
              <a:rPr lang="en-US" dirty="0"/>
              <a:t>.</a:t>
            </a:r>
          </a:p>
        </p:txBody>
      </p:sp>
      <p:sp>
        <p:nvSpPr>
          <p:cNvPr id="4" name="Slide Number Placeholder 3"/>
          <p:cNvSpPr>
            <a:spLocks noGrp="1"/>
          </p:cNvSpPr>
          <p:nvPr>
            <p:ph type="sldNum" sz="quarter" idx="10"/>
          </p:nvPr>
        </p:nvSpPr>
        <p:spPr/>
        <p:txBody>
          <a:bodyPr/>
          <a:lstStyle/>
          <a:p>
            <a:fld id="{2AEE2371-D0CC-4967-BE28-70407D2A399D}" type="slidenum">
              <a:rPr lang="en-US" smtClean="0"/>
              <a:t>12</a:t>
            </a:fld>
            <a:endParaRPr lang="en-US"/>
          </a:p>
        </p:txBody>
      </p:sp>
    </p:spTree>
    <p:extLst>
      <p:ext uri="{BB962C8B-B14F-4D97-AF65-F5344CB8AC3E}">
        <p14:creationId xmlns:p14="http://schemas.microsoft.com/office/powerpoint/2010/main" val="3902580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6ED48-70AF-D20A-1E66-C5D42FAB6A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FECC3B-DD73-8B4A-73AF-C559C0C637ED}"/>
              </a:ext>
            </a:extLst>
          </p:cNvPr>
          <p:cNvSpPr>
            <a:spLocks noGrp="1"/>
          </p:cNvSpPr>
          <p:nvPr>
            <p:ph type="title"/>
          </p:nvPr>
        </p:nvSpPr>
        <p:spPr/>
        <p:txBody>
          <a:bodyPr/>
          <a:lstStyle/>
          <a:p>
            <a:r>
              <a:rPr lang="en-US" dirty="0" err="1"/>
              <a:t>Hướng</a:t>
            </a:r>
            <a:r>
              <a:rPr lang="en-US" dirty="0"/>
              <a:t> </a:t>
            </a:r>
            <a:r>
              <a:rPr lang="en-US" dirty="0" err="1"/>
              <a:t>dẫn</a:t>
            </a:r>
            <a:r>
              <a:rPr lang="en-US" dirty="0"/>
              <a:t> </a:t>
            </a:r>
            <a:r>
              <a:rPr lang="en-US" dirty="0" err="1"/>
              <a:t>cấu</a:t>
            </a:r>
            <a:r>
              <a:rPr lang="en-US" dirty="0"/>
              <a:t> </a:t>
            </a:r>
            <a:r>
              <a:rPr lang="en-US" dirty="0" err="1"/>
              <a:t>hình</a:t>
            </a:r>
            <a:r>
              <a:rPr lang="en-US" dirty="0"/>
              <a:t> </a:t>
            </a:r>
            <a:r>
              <a:rPr lang="en-US" dirty="0" err="1"/>
              <a:t>kết</a:t>
            </a:r>
            <a:r>
              <a:rPr lang="en-US" dirty="0"/>
              <a:t> </a:t>
            </a:r>
            <a:r>
              <a:rPr lang="en-US" dirty="0" err="1"/>
              <a:t>nối</a:t>
            </a:r>
            <a:r>
              <a:rPr lang="en-US" dirty="0"/>
              <a:t> CSDL </a:t>
            </a:r>
            <a:r>
              <a:rPr lang="en-US" dirty="0" err="1"/>
              <a:t>trong</a:t>
            </a:r>
            <a:r>
              <a:rPr lang="en-US" dirty="0"/>
              <a:t> </a:t>
            </a:r>
            <a:r>
              <a:rPr lang="en-US" dirty="0" err="1"/>
              <a:t>web.config</a:t>
            </a:r>
            <a:endParaRPr lang="en-US" dirty="0"/>
          </a:p>
        </p:txBody>
      </p:sp>
      <p:sp>
        <p:nvSpPr>
          <p:cNvPr id="3" name="Content Placeholder 2">
            <a:extLst>
              <a:ext uri="{FF2B5EF4-FFF2-40B4-BE49-F238E27FC236}">
                <a16:creationId xmlns:a16="http://schemas.microsoft.com/office/drawing/2014/main" id="{C578EED8-3003-AC6B-6ABE-F361534DD059}"/>
              </a:ext>
            </a:extLst>
          </p:cNvPr>
          <p:cNvSpPr>
            <a:spLocks noGrp="1"/>
          </p:cNvSpPr>
          <p:nvPr>
            <p:ph idx="1"/>
          </p:nvPr>
        </p:nvSpPr>
        <p:spPr>
          <a:xfrm>
            <a:off x="627017" y="1489166"/>
            <a:ext cx="10933612" cy="4872445"/>
          </a:xfrm>
        </p:spPr>
        <p:txBody>
          <a:bodyPr/>
          <a:lstStyle/>
          <a:p>
            <a:r>
              <a:rPr lang="en-US" dirty="0" err="1"/>
              <a:t>Mở</a:t>
            </a:r>
            <a:r>
              <a:rPr lang="en-US" dirty="0"/>
              <a:t> file </a:t>
            </a:r>
            <a:r>
              <a:rPr lang="en-US" dirty="0" err="1"/>
              <a:t>web.config</a:t>
            </a:r>
            <a:r>
              <a:rPr lang="en-US" dirty="0"/>
              <a:t>, them </a:t>
            </a:r>
            <a:r>
              <a:rPr lang="en-US" dirty="0" err="1"/>
              <a:t>vào</a:t>
            </a:r>
            <a:r>
              <a:rPr lang="en-US" dirty="0"/>
              <a:t> </a:t>
            </a:r>
            <a:r>
              <a:rPr lang="en-US" dirty="0" err="1"/>
              <a:t>một</a:t>
            </a:r>
            <a:r>
              <a:rPr lang="en-US" dirty="0"/>
              <a:t> </a:t>
            </a:r>
            <a:r>
              <a:rPr lang="en-US" dirty="0" err="1"/>
              <a:t>đoạn</a:t>
            </a:r>
            <a:r>
              <a:rPr lang="en-US" dirty="0"/>
              <a:t> code </a:t>
            </a:r>
            <a:r>
              <a:rPr lang="en-US" dirty="0" err="1"/>
              <a:t>sau</a:t>
            </a:r>
            <a:r>
              <a:rPr lang="en-US" dirty="0"/>
              <a:t>:</a:t>
            </a:r>
          </a:p>
          <a:p>
            <a:pPr marL="230187" lvl="1" indent="0">
              <a:buNone/>
            </a:pPr>
            <a:r>
              <a:rPr lang="en-US" sz="2400" dirty="0">
                <a:solidFill>
                  <a:schemeClr val="accent1"/>
                </a:solidFill>
              </a:rPr>
              <a:t>&lt;</a:t>
            </a:r>
            <a:r>
              <a:rPr lang="en-US" sz="2400" dirty="0" err="1">
                <a:solidFill>
                  <a:schemeClr val="accent1"/>
                </a:solidFill>
              </a:rPr>
              <a:t>connectionStrings</a:t>
            </a:r>
            <a:r>
              <a:rPr lang="en-US" sz="2400" dirty="0">
                <a:solidFill>
                  <a:schemeClr val="accent1"/>
                </a:solidFill>
              </a:rPr>
              <a:t>&gt;</a:t>
            </a:r>
            <a:br>
              <a:rPr lang="en-US" sz="2400" dirty="0">
                <a:solidFill>
                  <a:schemeClr val="accent1"/>
                </a:solidFill>
              </a:rPr>
            </a:br>
            <a:r>
              <a:rPr lang="en-US" sz="2400" dirty="0">
                <a:solidFill>
                  <a:schemeClr val="accent1"/>
                </a:solidFill>
              </a:rPr>
              <a:t>&lt;add name="TEN_WEB_CONFIG" </a:t>
            </a:r>
            <a:r>
              <a:rPr lang="en-US" sz="2400" dirty="0" err="1">
                <a:solidFill>
                  <a:schemeClr val="accent1"/>
                </a:solidFill>
              </a:rPr>
              <a:t>connectionString</a:t>
            </a:r>
            <a:r>
              <a:rPr lang="en-US" sz="2400" dirty="0">
                <a:solidFill>
                  <a:schemeClr val="accent1"/>
                </a:solidFill>
              </a:rPr>
              <a:t>="</a:t>
            </a:r>
            <a:r>
              <a:rPr lang="en-US" dirty="0">
                <a:solidFill>
                  <a:schemeClr val="accent1"/>
                </a:solidFill>
              </a:rPr>
              <a:t>Data Source=.\</a:t>
            </a:r>
            <a:r>
              <a:rPr lang="en-US" dirty="0" err="1">
                <a:solidFill>
                  <a:schemeClr val="accent1"/>
                </a:solidFill>
              </a:rPr>
              <a:t>SQLEXPRESS;AttachDbFilename</a:t>
            </a:r>
            <a:r>
              <a:rPr lang="en-US" dirty="0">
                <a:solidFill>
                  <a:schemeClr val="accent1"/>
                </a:solidFill>
              </a:rPr>
              <a:t>=" + @"|</a:t>
            </a:r>
            <a:r>
              <a:rPr lang="en-US" dirty="0" err="1">
                <a:solidFill>
                  <a:schemeClr val="accent1"/>
                </a:solidFill>
              </a:rPr>
              <a:t>DataDirectory</a:t>
            </a:r>
            <a:r>
              <a:rPr lang="en-US" dirty="0">
                <a:solidFill>
                  <a:schemeClr val="accent1"/>
                </a:solidFill>
              </a:rPr>
              <a:t>|\</a:t>
            </a:r>
            <a:r>
              <a:rPr lang="en-US" dirty="0" err="1">
                <a:solidFill>
                  <a:schemeClr val="accent1"/>
                </a:solidFill>
              </a:rPr>
              <a:t>TEN_CSDL;Integrated</a:t>
            </a:r>
            <a:r>
              <a:rPr lang="en-US" dirty="0">
                <a:solidFill>
                  <a:schemeClr val="accent1"/>
                </a:solidFill>
              </a:rPr>
              <a:t> Security=</a:t>
            </a:r>
            <a:r>
              <a:rPr lang="en-US" dirty="0" err="1">
                <a:solidFill>
                  <a:schemeClr val="accent1"/>
                </a:solidFill>
              </a:rPr>
              <a:t>True;User</a:t>
            </a:r>
            <a:r>
              <a:rPr lang="en-US" dirty="0">
                <a:solidFill>
                  <a:schemeClr val="accent1"/>
                </a:solidFill>
              </a:rPr>
              <a:t> Instance=True</a:t>
            </a:r>
            <a:r>
              <a:rPr lang="en-US" dirty="0"/>
              <a:t> </a:t>
            </a:r>
            <a:r>
              <a:rPr lang="en-US" sz="2400" dirty="0">
                <a:solidFill>
                  <a:schemeClr val="accent1"/>
                </a:solidFill>
              </a:rPr>
              <a:t>"/&gt;    </a:t>
            </a:r>
            <a:br>
              <a:rPr lang="en-US" sz="2400" dirty="0">
                <a:solidFill>
                  <a:schemeClr val="accent1"/>
                </a:solidFill>
              </a:rPr>
            </a:br>
            <a:r>
              <a:rPr lang="en-US" sz="2400" dirty="0">
                <a:solidFill>
                  <a:schemeClr val="accent1"/>
                </a:solidFill>
              </a:rPr>
              <a:t>&lt;/</a:t>
            </a:r>
            <a:r>
              <a:rPr lang="en-US" sz="2400" dirty="0" err="1">
                <a:solidFill>
                  <a:schemeClr val="accent1"/>
                </a:solidFill>
              </a:rPr>
              <a:t>connectionStrings</a:t>
            </a:r>
            <a:r>
              <a:rPr lang="en-US" sz="2400" dirty="0">
                <a:solidFill>
                  <a:schemeClr val="accent1"/>
                </a:solidFill>
              </a:rPr>
              <a:t>&gt;</a:t>
            </a:r>
          </a:p>
          <a:p>
            <a:pPr marL="230187" lvl="1" indent="0">
              <a:buNone/>
            </a:pPr>
            <a:r>
              <a:rPr lang="en-US" sz="2400" dirty="0" err="1">
                <a:solidFill>
                  <a:srgbClr val="FF0000"/>
                </a:solidFill>
              </a:rPr>
              <a:t>Trong</a:t>
            </a:r>
            <a:r>
              <a:rPr lang="en-US" sz="2400" dirty="0">
                <a:solidFill>
                  <a:srgbClr val="FF0000"/>
                </a:solidFill>
              </a:rPr>
              <a:t> </a:t>
            </a:r>
            <a:r>
              <a:rPr lang="en-US" sz="2400" dirty="0" err="1">
                <a:solidFill>
                  <a:srgbClr val="FF0000"/>
                </a:solidFill>
              </a:rPr>
              <a:t>đó</a:t>
            </a:r>
            <a:r>
              <a:rPr lang="en-US" sz="2400" dirty="0">
                <a:solidFill>
                  <a:srgbClr val="FF0000"/>
                </a:solidFill>
              </a:rPr>
              <a:t> TEN_WEB_CONFIG do ta </a:t>
            </a:r>
            <a:r>
              <a:rPr lang="en-US" sz="2400" dirty="0" err="1">
                <a:solidFill>
                  <a:srgbClr val="FF0000"/>
                </a:solidFill>
              </a:rPr>
              <a:t>tự</a:t>
            </a:r>
            <a:r>
              <a:rPr lang="en-US" sz="2400" dirty="0">
                <a:solidFill>
                  <a:srgbClr val="FF0000"/>
                </a:solidFill>
              </a:rPr>
              <a:t> </a:t>
            </a:r>
            <a:r>
              <a:rPr lang="en-US" sz="2400" dirty="0" err="1">
                <a:solidFill>
                  <a:srgbClr val="FF0000"/>
                </a:solidFill>
              </a:rPr>
              <a:t>đặt</a:t>
            </a:r>
            <a:r>
              <a:rPr lang="en-US" sz="2400" dirty="0">
                <a:solidFill>
                  <a:srgbClr val="FF0000"/>
                </a:solidFill>
              </a:rPr>
              <a:t> </a:t>
            </a:r>
            <a:r>
              <a:rPr lang="en-US" sz="2400" dirty="0" err="1">
                <a:solidFill>
                  <a:srgbClr val="FF0000"/>
                </a:solidFill>
              </a:rPr>
              <a:t>tên</a:t>
            </a:r>
            <a:r>
              <a:rPr lang="en-US" sz="2400" dirty="0">
                <a:solidFill>
                  <a:schemeClr val="accent1"/>
                </a:solidFill>
              </a:rPr>
              <a:t>.</a:t>
            </a:r>
          </a:p>
          <a:p>
            <a:r>
              <a:rPr lang="en-US" dirty="0" err="1"/>
              <a:t>Lưu</a:t>
            </a:r>
            <a:r>
              <a:rPr lang="en-US" dirty="0"/>
              <a:t> </a:t>
            </a:r>
            <a:r>
              <a:rPr lang="en-US" dirty="0" err="1"/>
              <a:t>lại</a:t>
            </a:r>
            <a:r>
              <a:rPr lang="en-US" dirty="0"/>
              <a:t> file </a:t>
            </a:r>
            <a:r>
              <a:rPr lang="en-US" dirty="0" err="1"/>
              <a:t>web.config</a:t>
            </a:r>
            <a:endParaRPr lang="en-US" dirty="0"/>
          </a:p>
        </p:txBody>
      </p:sp>
      <p:sp>
        <p:nvSpPr>
          <p:cNvPr id="4" name="Slide Number Placeholder 3">
            <a:extLst>
              <a:ext uri="{FF2B5EF4-FFF2-40B4-BE49-F238E27FC236}">
                <a16:creationId xmlns:a16="http://schemas.microsoft.com/office/drawing/2014/main" id="{03E5AD62-03FE-6D58-B997-6BBF6434D214}"/>
              </a:ext>
            </a:extLst>
          </p:cNvPr>
          <p:cNvSpPr>
            <a:spLocks noGrp="1"/>
          </p:cNvSpPr>
          <p:nvPr>
            <p:ph type="sldNum" sz="quarter" idx="10"/>
          </p:nvPr>
        </p:nvSpPr>
        <p:spPr/>
        <p:txBody>
          <a:bodyPr/>
          <a:lstStyle/>
          <a:p>
            <a:fld id="{2AEE2371-D0CC-4967-BE28-70407D2A399D}" type="slidenum">
              <a:rPr lang="en-US" smtClean="0"/>
              <a:t>13</a:t>
            </a:fld>
            <a:endParaRPr lang="en-US"/>
          </a:p>
        </p:txBody>
      </p:sp>
    </p:spTree>
    <p:extLst>
      <p:ext uri="{BB962C8B-B14F-4D97-AF65-F5344CB8AC3E}">
        <p14:creationId xmlns:p14="http://schemas.microsoft.com/office/powerpoint/2010/main" val="1163203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Hướng</a:t>
            </a:r>
            <a:r>
              <a:rPr lang="en-US" dirty="0"/>
              <a:t> </a:t>
            </a:r>
            <a:r>
              <a:rPr lang="en-US" dirty="0" err="1"/>
              <a:t>dẫn</a:t>
            </a:r>
            <a:r>
              <a:rPr lang="en-US" dirty="0"/>
              <a:t> </a:t>
            </a:r>
            <a:r>
              <a:rPr lang="en-US" dirty="0" err="1"/>
              <a:t>cấu</a:t>
            </a:r>
            <a:r>
              <a:rPr lang="en-US" dirty="0"/>
              <a:t> </a:t>
            </a:r>
            <a:r>
              <a:rPr lang="en-US" dirty="0" err="1"/>
              <a:t>hình</a:t>
            </a:r>
            <a:r>
              <a:rPr lang="en-US" dirty="0"/>
              <a:t> </a:t>
            </a:r>
            <a:r>
              <a:rPr lang="en-US" dirty="0" err="1"/>
              <a:t>kết</a:t>
            </a:r>
            <a:r>
              <a:rPr lang="en-US" dirty="0"/>
              <a:t> </a:t>
            </a:r>
            <a:r>
              <a:rPr lang="en-US" dirty="0" err="1"/>
              <a:t>nối</a:t>
            </a:r>
            <a:r>
              <a:rPr lang="en-US" dirty="0"/>
              <a:t> CSDL </a:t>
            </a:r>
            <a:r>
              <a:rPr lang="en-US" dirty="0" err="1"/>
              <a:t>trong</a:t>
            </a:r>
            <a:r>
              <a:rPr lang="en-US" dirty="0"/>
              <a:t> </a:t>
            </a:r>
            <a:r>
              <a:rPr lang="en-US" dirty="0" err="1"/>
              <a:t>web.config</a:t>
            </a:r>
            <a:endParaRPr lang="en-US" dirty="0"/>
          </a:p>
        </p:txBody>
      </p:sp>
      <p:sp>
        <p:nvSpPr>
          <p:cNvPr id="3" name="Content Placeholder 2"/>
          <p:cNvSpPr>
            <a:spLocks noGrp="1"/>
          </p:cNvSpPr>
          <p:nvPr>
            <p:ph idx="1"/>
          </p:nvPr>
        </p:nvSpPr>
        <p:spPr/>
        <p:txBody>
          <a:bodyPr/>
          <a:lstStyle/>
          <a:p>
            <a:r>
              <a:rPr lang="en-US" dirty="0"/>
              <a:t>Trong file </a:t>
            </a:r>
            <a:r>
              <a:rPr lang="en-US" dirty="0" err="1"/>
              <a:t>WebForm</a:t>
            </a:r>
            <a:r>
              <a:rPr lang="en-US" dirty="0"/>
              <a:t> </a:t>
            </a:r>
            <a:r>
              <a:rPr lang="en-US" dirty="0" err="1"/>
              <a:t>Tạo</a:t>
            </a:r>
            <a:r>
              <a:rPr lang="en-US" dirty="0"/>
              <a:t> </a:t>
            </a:r>
            <a:r>
              <a:rPr lang="en-US" dirty="0" err="1"/>
              <a:t>cần</a:t>
            </a:r>
            <a:r>
              <a:rPr lang="en-US" dirty="0"/>
              <a:t> </a:t>
            </a:r>
            <a:r>
              <a:rPr lang="en-US" dirty="0" err="1"/>
              <a:t>lấy</a:t>
            </a:r>
            <a:r>
              <a:rPr lang="en-US" dirty="0"/>
              <a:t> </a:t>
            </a:r>
            <a:r>
              <a:rPr lang="en-US" dirty="0" err="1"/>
              <a:t>chuỗi</a:t>
            </a:r>
            <a:r>
              <a:rPr lang="en-US" dirty="0"/>
              <a:t> </a:t>
            </a:r>
            <a:r>
              <a:rPr lang="en-US" dirty="0" err="1"/>
              <a:t>kết</a:t>
            </a:r>
            <a:r>
              <a:rPr lang="en-US" dirty="0"/>
              <a:t> </a:t>
            </a:r>
            <a:r>
              <a:rPr lang="en-US" dirty="0" err="1"/>
              <a:t>nối</a:t>
            </a:r>
            <a:r>
              <a:rPr lang="en-US" dirty="0"/>
              <a:t> </a:t>
            </a:r>
            <a:r>
              <a:rPr lang="en-US" dirty="0" err="1"/>
              <a:t>sẽ</a:t>
            </a:r>
            <a:r>
              <a:rPr lang="en-US" dirty="0"/>
              <a:t> </a:t>
            </a:r>
            <a:r>
              <a:rPr lang="en-US" dirty="0" err="1"/>
              <a:t>thực</a:t>
            </a:r>
            <a:r>
              <a:rPr lang="en-US" dirty="0"/>
              <a:t> </a:t>
            </a:r>
            <a:r>
              <a:rPr lang="en-US" dirty="0" err="1"/>
              <a:t>hiện</a:t>
            </a:r>
            <a:r>
              <a:rPr lang="en-US" dirty="0"/>
              <a:t> </a:t>
            </a:r>
            <a:r>
              <a:rPr lang="en-US" dirty="0" err="1"/>
              <a:t>như</a:t>
            </a:r>
            <a:r>
              <a:rPr lang="en-US" dirty="0"/>
              <a:t> </a:t>
            </a:r>
            <a:r>
              <a:rPr lang="en-US" dirty="0" err="1"/>
              <a:t>sau</a:t>
            </a:r>
            <a:endParaRPr lang="en-US" dirty="0"/>
          </a:p>
          <a:p>
            <a:r>
              <a:rPr lang="en-US" dirty="0" err="1"/>
              <a:t>Thêm</a:t>
            </a:r>
            <a:r>
              <a:rPr lang="en-US" dirty="0"/>
              <a:t> </a:t>
            </a:r>
            <a:r>
              <a:rPr lang="en-US" dirty="0" err="1"/>
              <a:t>vào</a:t>
            </a:r>
            <a:r>
              <a:rPr lang="en-US" dirty="0"/>
              <a:t> </a:t>
            </a:r>
            <a:r>
              <a:rPr lang="en-US" dirty="0" err="1"/>
              <a:t>đầu</a:t>
            </a:r>
            <a:r>
              <a:rPr lang="en-US" dirty="0"/>
              <a:t> </a:t>
            </a:r>
            <a:r>
              <a:rPr lang="en-US" dirty="0" err="1"/>
              <a:t>trang</a:t>
            </a:r>
            <a:r>
              <a:rPr lang="en-US" dirty="0"/>
              <a:t> </a:t>
            </a:r>
            <a:r>
              <a:rPr lang="en-US" dirty="0" err="1"/>
              <a:t>hai</a:t>
            </a:r>
            <a:r>
              <a:rPr lang="en-US" dirty="0"/>
              <a:t> Namespace</a:t>
            </a:r>
          </a:p>
          <a:p>
            <a:pPr marL="455612" lvl="2" indent="0">
              <a:buNone/>
            </a:pPr>
            <a:r>
              <a:rPr lang="vi-VN" dirty="0">
                <a:solidFill>
                  <a:schemeClr val="accent1"/>
                </a:solidFill>
              </a:rPr>
              <a:t>using System.Data.SqlClient; </a:t>
            </a:r>
            <a:br>
              <a:rPr lang="vi-VN" dirty="0">
                <a:solidFill>
                  <a:schemeClr val="accent1"/>
                </a:solidFill>
              </a:rPr>
            </a:br>
            <a:r>
              <a:rPr lang="vi-VN" dirty="0">
                <a:solidFill>
                  <a:schemeClr val="accent1"/>
                </a:solidFill>
              </a:rPr>
              <a:t>using System.Web.Configuration; //thư viện của webConfig</a:t>
            </a:r>
            <a:endParaRPr lang="en-US" dirty="0">
              <a:solidFill>
                <a:schemeClr val="accent1"/>
              </a:solidFill>
            </a:endParaRPr>
          </a:p>
          <a:p>
            <a:r>
              <a:rPr lang="en-US" dirty="0" err="1"/>
              <a:t>Khai</a:t>
            </a:r>
            <a:r>
              <a:rPr lang="en-US" dirty="0"/>
              <a:t> </a:t>
            </a:r>
            <a:r>
              <a:rPr lang="en-US" dirty="0" err="1"/>
              <a:t>báo</a:t>
            </a:r>
            <a:r>
              <a:rPr lang="en-US" dirty="0"/>
              <a:t> </a:t>
            </a:r>
            <a:r>
              <a:rPr lang="en-US" dirty="0" err="1"/>
              <a:t>thiết</a:t>
            </a:r>
            <a:r>
              <a:rPr lang="en-US" dirty="0"/>
              <a:t> </a:t>
            </a:r>
            <a:r>
              <a:rPr lang="en-US" dirty="0" err="1"/>
              <a:t>lập</a:t>
            </a:r>
            <a:r>
              <a:rPr lang="en-US" dirty="0"/>
              <a:t> </a:t>
            </a:r>
            <a:r>
              <a:rPr lang="en-US" dirty="0" err="1"/>
              <a:t>kết</a:t>
            </a:r>
            <a:r>
              <a:rPr lang="en-US" dirty="0"/>
              <a:t> </a:t>
            </a:r>
            <a:r>
              <a:rPr lang="en-US" dirty="0" err="1"/>
              <a:t>nối</a:t>
            </a:r>
            <a:r>
              <a:rPr lang="en-US" dirty="0"/>
              <a:t>:</a:t>
            </a:r>
          </a:p>
          <a:p>
            <a:pPr marL="455612" lvl="2" indent="0">
              <a:buNone/>
            </a:pPr>
            <a:r>
              <a:rPr lang="en-US" dirty="0">
                <a:solidFill>
                  <a:schemeClr val="accent1"/>
                </a:solidFill>
              </a:rPr>
              <a:t>string </a:t>
            </a:r>
            <a:r>
              <a:rPr lang="en-US" dirty="0" err="1">
                <a:solidFill>
                  <a:schemeClr val="accent1"/>
                </a:solidFill>
              </a:rPr>
              <a:t>chuoiketnoi</a:t>
            </a:r>
            <a:r>
              <a:rPr lang="en-US" dirty="0">
                <a:solidFill>
                  <a:schemeClr val="accent1"/>
                </a:solidFill>
              </a:rPr>
              <a:t> = </a:t>
            </a:r>
            <a:r>
              <a:rPr lang="en-US" dirty="0" err="1">
                <a:solidFill>
                  <a:schemeClr val="accent1"/>
                </a:solidFill>
              </a:rPr>
              <a:t>WebConfigurationManager.ConnectionStrings</a:t>
            </a:r>
            <a:r>
              <a:rPr lang="en-US" dirty="0">
                <a:solidFill>
                  <a:schemeClr val="accent1"/>
                </a:solidFill>
              </a:rPr>
              <a:t>[“</a:t>
            </a:r>
            <a:r>
              <a:rPr lang="en-US" dirty="0" err="1">
                <a:solidFill>
                  <a:schemeClr val="accent1"/>
                </a:solidFill>
              </a:rPr>
              <a:t>testcsdl</a:t>
            </a:r>
            <a:r>
              <a:rPr lang="en-US" dirty="0">
                <a:solidFill>
                  <a:schemeClr val="accent1"/>
                </a:solidFill>
              </a:rPr>
              <a:t>"].</a:t>
            </a:r>
            <a:r>
              <a:rPr lang="en-US" dirty="0" err="1">
                <a:solidFill>
                  <a:schemeClr val="accent1"/>
                </a:solidFill>
              </a:rPr>
              <a:t>ConnectionString</a:t>
            </a:r>
            <a:r>
              <a:rPr lang="en-US" dirty="0">
                <a:solidFill>
                  <a:schemeClr val="accent1"/>
                </a:solidFill>
              </a:rPr>
              <a:t>;</a:t>
            </a:r>
            <a:br>
              <a:rPr lang="en-US" dirty="0">
                <a:solidFill>
                  <a:schemeClr val="accent1"/>
                </a:solidFill>
              </a:rPr>
            </a:br>
            <a:r>
              <a:rPr lang="en-US" dirty="0" err="1">
                <a:solidFill>
                  <a:schemeClr val="accent1"/>
                </a:solidFill>
              </a:rPr>
              <a:t>SqlConnection</a:t>
            </a:r>
            <a:r>
              <a:rPr lang="en-US" dirty="0">
                <a:solidFill>
                  <a:schemeClr val="accent1"/>
                </a:solidFill>
              </a:rPr>
              <a:t> </a:t>
            </a:r>
            <a:r>
              <a:rPr lang="en-US" dirty="0" err="1">
                <a:solidFill>
                  <a:schemeClr val="accent1"/>
                </a:solidFill>
              </a:rPr>
              <a:t>ketnoi</a:t>
            </a:r>
            <a:r>
              <a:rPr lang="en-US" dirty="0">
                <a:solidFill>
                  <a:schemeClr val="accent1"/>
                </a:solidFill>
              </a:rPr>
              <a:t> = new </a:t>
            </a:r>
            <a:r>
              <a:rPr lang="en-US" dirty="0" err="1">
                <a:solidFill>
                  <a:schemeClr val="accent1"/>
                </a:solidFill>
              </a:rPr>
              <a:t>SqlConnection</a:t>
            </a:r>
            <a:r>
              <a:rPr lang="en-US" dirty="0">
                <a:solidFill>
                  <a:schemeClr val="accent1"/>
                </a:solidFill>
              </a:rPr>
              <a:t>(</a:t>
            </a:r>
            <a:r>
              <a:rPr lang="en-US" dirty="0" err="1">
                <a:solidFill>
                  <a:schemeClr val="accent1"/>
                </a:solidFill>
              </a:rPr>
              <a:t>chuoiketnoi</a:t>
            </a:r>
            <a:r>
              <a:rPr lang="en-US" dirty="0">
                <a:solidFill>
                  <a:schemeClr val="accent1"/>
                </a:solidFill>
              </a:rPr>
              <a:t>);</a:t>
            </a:r>
          </a:p>
          <a:p>
            <a:pPr marL="455612" lvl="2" indent="0">
              <a:spcBef>
                <a:spcPts val="0"/>
              </a:spcBef>
              <a:buNone/>
            </a:pPr>
            <a:r>
              <a:rPr lang="en-US" dirty="0" err="1">
                <a:solidFill>
                  <a:schemeClr val="accent1"/>
                </a:solidFill>
              </a:rPr>
              <a:t>ketnoi.Open</a:t>
            </a:r>
            <a:r>
              <a:rPr lang="en-US" dirty="0">
                <a:solidFill>
                  <a:schemeClr val="accent1"/>
                </a:solidFill>
              </a:rPr>
              <a:t>();</a:t>
            </a:r>
          </a:p>
          <a:p>
            <a:pPr marL="573087" lvl="1" indent="-342900">
              <a:spcBef>
                <a:spcPts val="0"/>
              </a:spcBef>
            </a:pPr>
            <a:r>
              <a:rPr lang="en-US" dirty="0" err="1">
                <a:solidFill>
                  <a:srgbClr val="C00000"/>
                </a:solidFill>
              </a:rPr>
              <a:t>Trong</a:t>
            </a:r>
            <a:r>
              <a:rPr lang="en-US" dirty="0">
                <a:solidFill>
                  <a:srgbClr val="C00000"/>
                </a:solidFill>
              </a:rPr>
              <a:t> </a:t>
            </a:r>
            <a:r>
              <a:rPr lang="en-US" dirty="0" err="1">
                <a:solidFill>
                  <a:srgbClr val="C00000"/>
                </a:solidFill>
              </a:rPr>
              <a:t>đó</a:t>
            </a:r>
            <a:r>
              <a:rPr lang="en-US" dirty="0">
                <a:solidFill>
                  <a:srgbClr val="C00000"/>
                </a:solidFill>
              </a:rPr>
              <a:t> </a:t>
            </a:r>
            <a:r>
              <a:rPr lang="en-US" dirty="0" err="1">
                <a:solidFill>
                  <a:schemeClr val="accent1"/>
                </a:solidFill>
              </a:rPr>
              <a:t>testcsdl</a:t>
            </a:r>
            <a:r>
              <a:rPr lang="en-US" dirty="0">
                <a:solidFill>
                  <a:srgbClr val="C00000"/>
                </a:solidFill>
              </a:rPr>
              <a:t> </a:t>
            </a:r>
            <a:r>
              <a:rPr lang="en-US" dirty="0" err="1">
                <a:solidFill>
                  <a:srgbClr val="C00000"/>
                </a:solidFill>
              </a:rPr>
              <a:t>là</a:t>
            </a:r>
            <a:r>
              <a:rPr lang="en-US" dirty="0">
                <a:solidFill>
                  <a:srgbClr val="C00000"/>
                </a:solidFill>
              </a:rPr>
              <a:t> TEN_WEB_CONFIG </a:t>
            </a:r>
            <a:r>
              <a:rPr lang="en-US" dirty="0" err="1">
                <a:solidFill>
                  <a:srgbClr val="C00000"/>
                </a:solidFill>
              </a:rPr>
              <a:t>mà</a:t>
            </a:r>
            <a:r>
              <a:rPr lang="en-US" dirty="0">
                <a:solidFill>
                  <a:srgbClr val="C00000"/>
                </a:solidFill>
              </a:rPr>
              <a:t> ta </a:t>
            </a:r>
            <a:r>
              <a:rPr lang="en-US" dirty="0" err="1">
                <a:solidFill>
                  <a:srgbClr val="C00000"/>
                </a:solidFill>
              </a:rPr>
              <a:t>đã</a:t>
            </a:r>
            <a:r>
              <a:rPr lang="en-US" dirty="0">
                <a:solidFill>
                  <a:srgbClr val="C00000"/>
                </a:solidFill>
              </a:rPr>
              <a:t> </a:t>
            </a:r>
            <a:r>
              <a:rPr lang="en-US" dirty="0" err="1">
                <a:solidFill>
                  <a:srgbClr val="C00000"/>
                </a:solidFill>
              </a:rPr>
              <a:t>đặt</a:t>
            </a:r>
            <a:r>
              <a:rPr lang="en-US" dirty="0">
                <a:solidFill>
                  <a:srgbClr val="C00000"/>
                </a:solidFill>
              </a:rPr>
              <a:t> </a:t>
            </a:r>
            <a:r>
              <a:rPr lang="en-US" dirty="0" err="1">
                <a:solidFill>
                  <a:srgbClr val="C00000"/>
                </a:solidFill>
              </a:rPr>
              <a:t>tên</a:t>
            </a:r>
            <a:endParaRPr lang="en-US" dirty="0">
              <a:solidFill>
                <a:srgbClr val="C00000"/>
              </a:solidFill>
            </a:endParaRPr>
          </a:p>
        </p:txBody>
      </p:sp>
      <p:sp>
        <p:nvSpPr>
          <p:cNvPr id="4" name="Slide Number Placeholder 3"/>
          <p:cNvSpPr>
            <a:spLocks noGrp="1"/>
          </p:cNvSpPr>
          <p:nvPr>
            <p:ph type="sldNum" sz="quarter" idx="10"/>
          </p:nvPr>
        </p:nvSpPr>
        <p:spPr/>
        <p:txBody>
          <a:bodyPr/>
          <a:lstStyle/>
          <a:p>
            <a:fld id="{2AEE2371-D0CC-4967-BE28-70407D2A399D}" type="slidenum">
              <a:rPr lang="en-US" smtClean="0"/>
              <a:t>14</a:t>
            </a:fld>
            <a:endParaRPr lang="en-US"/>
          </a:p>
        </p:txBody>
      </p:sp>
    </p:spTree>
    <p:extLst>
      <p:ext uri="{BB962C8B-B14F-4D97-AF65-F5344CB8AC3E}">
        <p14:creationId xmlns:p14="http://schemas.microsoft.com/office/powerpoint/2010/main" val="807685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3.2. </a:t>
            </a:r>
            <a:r>
              <a:rPr lang="en-US" dirty="0" err="1"/>
              <a:t>Dùng</a:t>
            </a:r>
            <a:r>
              <a:rPr lang="en-US" dirty="0"/>
              <a:t> </a:t>
            </a:r>
            <a:r>
              <a:rPr lang="en-US" dirty="0" err="1"/>
              <a:t>đối</a:t>
            </a:r>
            <a:r>
              <a:rPr lang="en-US" dirty="0"/>
              <a:t> </a:t>
            </a:r>
            <a:r>
              <a:rPr lang="en-US" dirty="0" err="1"/>
              <a:t>tượng</a:t>
            </a:r>
            <a:r>
              <a:rPr lang="en-US" dirty="0"/>
              <a:t> command</a:t>
            </a:r>
          </a:p>
        </p:txBody>
      </p:sp>
      <p:sp>
        <p:nvSpPr>
          <p:cNvPr id="3" name="Content Placeholder 2"/>
          <p:cNvSpPr>
            <a:spLocks noGrp="1"/>
          </p:cNvSpPr>
          <p:nvPr>
            <p:ph idx="1"/>
          </p:nvPr>
        </p:nvSpPr>
        <p:spPr/>
        <p:txBody>
          <a:bodyPr/>
          <a:lstStyle/>
          <a:p>
            <a:r>
              <a:rPr lang="en-US" dirty="0" err="1"/>
              <a:t>Khai</a:t>
            </a:r>
            <a:r>
              <a:rPr lang="en-US" dirty="0"/>
              <a:t> </a:t>
            </a:r>
            <a:r>
              <a:rPr lang="en-US" dirty="0" err="1"/>
              <a:t>báo</a:t>
            </a:r>
            <a:r>
              <a:rPr lang="en-US" dirty="0"/>
              <a:t> </a:t>
            </a:r>
            <a:r>
              <a:rPr lang="en-US" dirty="0" err="1"/>
              <a:t>và</a:t>
            </a:r>
            <a:r>
              <a:rPr lang="en-US" dirty="0"/>
              <a:t> </a:t>
            </a:r>
            <a:r>
              <a:rPr lang="en-US" dirty="0" err="1"/>
              <a:t>khởi</a:t>
            </a:r>
            <a:r>
              <a:rPr lang="en-US" dirty="0"/>
              <a:t> </a:t>
            </a:r>
            <a:r>
              <a:rPr lang="en-US" dirty="0" err="1"/>
              <a:t>tạo</a:t>
            </a:r>
            <a:r>
              <a:rPr lang="en-US" dirty="0"/>
              <a:t> </a:t>
            </a:r>
            <a:r>
              <a:rPr lang="en-US" dirty="0" err="1"/>
              <a:t>đối</a:t>
            </a:r>
            <a:r>
              <a:rPr lang="en-US" dirty="0"/>
              <a:t> </a:t>
            </a:r>
            <a:r>
              <a:rPr lang="en-US" dirty="0" err="1"/>
              <a:t>tượng</a:t>
            </a:r>
            <a:r>
              <a:rPr lang="en-US" dirty="0"/>
              <a:t>: </a:t>
            </a:r>
            <a:r>
              <a:rPr lang="en-US" dirty="0" err="1"/>
              <a:t>có</a:t>
            </a:r>
            <a:r>
              <a:rPr lang="en-US" dirty="0"/>
              <a:t> </a:t>
            </a:r>
            <a:r>
              <a:rPr lang="en-US" dirty="0" err="1"/>
              <a:t>hai</a:t>
            </a:r>
            <a:r>
              <a:rPr lang="en-US" dirty="0"/>
              <a:t> </a:t>
            </a:r>
            <a:r>
              <a:rPr lang="en-US" dirty="0" err="1"/>
              <a:t>cách</a:t>
            </a:r>
            <a:endParaRPr lang="en-US" dirty="0"/>
          </a:p>
          <a:p>
            <a:r>
              <a:rPr lang="en-US" dirty="0" err="1"/>
              <a:t>Cách</a:t>
            </a:r>
            <a:r>
              <a:rPr lang="en-US" dirty="0"/>
              <a:t> 1: </a:t>
            </a:r>
            <a:r>
              <a:rPr lang="en-US" dirty="0" err="1"/>
              <a:t>Sử</a:t>
            </a:r>
            <a:r>
              <a:rPr lang="en-US" dirty="0"/>
              <a:t> </a:t>
            </a:r>
            <a:r>
              <a:rPr lang="en-US" dirty="0" err="1"/>
              <a:t>dụng</a:t>
            </a:r>
            <a:r>
              <a:rPr lang="en-US" dirty="0"/>
              <a:t> </a:t>
            </a:r>
            <a:r>
              <a:rPr lang="en-US" dirty="0" err="1"/>
              <a:t>Contructor</a:t>
            </a:r>
            <a:endParaRPr lang="en-US" dirty="0"/>
          </a:p>
          <a:p>
            <a:pPr marL="455612" lvl="2" indent="0">
              <a:buNone/>
            </a:pPr>
            <a:r>
              <a:rPr lang="en-US" sz="2200" dirty="0">
                <a:solidFill>
                  <a:schemeClr val="accent1"/>
                </a:solidFill>
              </a:rPr>
              <a:t>string </a:t>
            </a:r>
            <a:r>
              <a:rPr lang="en-US" sz="2200" dirty="0" err="1">
                <a:solidFill>
                  <a:schemeClr val="accent1"/>
                </a:solidFill>
              </a:rPr>
              <a:t>strSQL</a:t>
            </a:r>
            <a:r>
              <a:rPr lang="en-US" sz="2200" dirty="0">
                <a:solidFill>
                  <a:schemeClr val="accent1"/>
                </a:solidFill>
              </a:rPr>
              <a:t> = "Select * From </a:t>
            </a:r>
            <a:r>
              <a:rPr lang="en-US" sz="2200" dirty="0" err="1">
                <a:solidFill>
                  <a:schemeClr val="accent1"/>
                </a:solidFill>
              </a:rPr>
              <a:t>Canbo</a:t>
            </a:r>
            <a:r>
              <a:rPr lang="en-US" sz="2200" dirty="0">
                <a:solidFill>
                  <a:schemeClr val="accent1"/>
                </a:solidFill>
              </a:rPr>
              <a:t>";     </a:t>
            </a:r>
            <a:br>
              <a:rPr lang="en-US" sz="2200" dirty="0">
                <a:solidFill>
                  <a:schemeClr val="accent1"/>
                </a:solidFill>
              </a:rPr>
            </a:br>
            <a:r>
              <a:rPr lang="en-US" sz="2200" dirty="0" err="1">
                <a:solidFill>
                  <a:schemeClr val="accent1"/>
                </a:solidFill>
              </a:rPr>
              <a:t>SqlCommand</a:t>
            </a:r>
            <a:r>
              <a:rPr lang="en-US" sz="2200" dirty="0">
                <a:solidFill>
                  <a:schemeClr val="accent1"/>
                </a:solidFill>
              </a:rPr>
              <a:t> </a:t>
            </a:r>
            <a:r>
              <a:rPr lang="en-US" sz="2200" dirty="0" err="1">
                <a:solidFill>
                  <a:schemeClr val="accent1"/>
                </a:solidFill>
              </a:rPr>
              <a:t>myCommand</a:t>
            </a:r>
            <a:r>
              <a:rPr lang="en-US" sz="2200" dirty="0">
                <a:solidFill>
                  <a:schemeClr val="accent1"/>
                </a:solidFill>
              </a:rPr>
              <a:t> = new </a:t>
            </a:r>
            <a:r>
              <a:rPr lang="en-US" sz="2200" dirty="0" err="1">
                <a:solidFill>
                  <a:schemeClr val="accent1"/>
                </a:solidFill>
              </a:rPr>
              <a:t>SqlCommand</a:t>
            </a:r>
            <a:r>
              <a:rPr lang="en-US" sz="2200" dirty="0">
                <a:solidFill>
                  <a:schemeClr val="accent1"/>
                </a:solidFill>
              </a:rPr>
              <a:t>(</a:t>
            </a:r>
            <a:r>
              <a:rPr lang="en-US" sz="2200" dirty="0" err="1">
                <a:solidFill>
                  <a:schemeClr val="accent1"/>
                </a:solidFill>
              </a:rPr>
              <a:t>strSQL</a:t>
            </a:r>
            <a:r>
              <a:rPr lang="en-US" sz="2200" dirty="0">
                <a:solidFill>
                  <a:schemeClr val="accent1"/>
                </a:solidFill>
              </a:rPr>
              <a:t>, </a:t>
            </a:r>
            <a:r>
              <a:rPr lang="en-US" sz="2200" dirty="0" err="1">
                <a:solidFill>
                  <a:schemeClr val="accent1"/>
                </a:solidFill>
              </a:rPr>
              <a:t>myConn</a:t>
            </a:r>
            <a:r>
              <a:rPr lang="en-US" sz="2200" dirty="0">
                <a:solidFill>
                  <a:schemeClr val="accent1"/>
                </a:solidFill>
              </a:rPr>
              <a:t>);</a:t>
            </a:r>
          </a:p>
          <a:p>
            <a:r>
              <a:rPr lang="en-US" dirty="0" err="1"/>
              <a:t>Cách</a:t>
            </a:r>
            <a:r>
              <a:rPr lang="en-US" dirty="0"/>
              <a:t> 2: </a:t>
            </a:r>
            <a:r>
              <a:rPr lang="en-US" dirty="0" err="1"/>
              <a:t>sử</a:t>
            </a:r>
            <a:r>
              <a:rPr lang="en-US" dirty="0"/>
              <a:t> </a:t>
            </a:r>
            <a:r>
              <a:rPr lang="en-US" dirty="0" err="1"/>
              <a:t>dụng</a:t>
            </a:r>
            <a:r>
              <a:rPr lang="en-US" dirty="0"/>
              <a:t> </a:t>
            </a:r>
            <a:r>
              <a:rPr lang="en-US" dirty="0" err="1"/>
              <a:t>phương</a:t>
            </a:r>
            <a:r>
              <a:rPr lang="en-US" dirty="0"/>
              <a:t> </a:t>
            </a:r>
            <a:r>
              <a:rPr lang="en-US" dirty="0" err="1"/>
              <a:t>thức</a:t>
            </a:r>
            <a:endParaRPr lang="en-US" sz="2200" dirty="0">
              <a:solidFill>
                <a:schemeClr val="accent1"/>
              </a:solidFill>
            </a:endParaRPr>
          </a:p>
          <a:p>
            <a:pPr marL="454025" lvl="2" indent="0">
              <a:buNone/>
            </a:pPr>
            <a:r>
              <a:rPr lang="en-US" sz="2200" dirty="0">
                <a:solidFill>
                  <a:schemeClr val="accent1"/>
                </a:solidFill>
              </a:rPr>
              <a:t>string </a:t>
            </a:r>
            <a:r>
              <a:rPr lang="en-US" sz="2200" dirty="0" err="1">
                <a:solidFill>
                  <a:schemeClr val="accent1"/>
                </a:solidFill>
              </a:rPr>
              <a:t>strSQL</a:t>
            </a:r>
            <a:r>
              <a:rPr lang="en-US" sz="2200" dirty="0">
                <a:solidFill>
                  <a:schemeClr val="accent1"/>
                </a:solidFill>
              </a:rPr>
              <a:t> = "Select * From </a:t>
            </a:r>
            <a:r>
              <a:rPr lang="en-US" sz="2200" dirty="0" err="1">
                <a:solidFill>
                  <a:schemeClr val="accent1"/>
                </a:solidFill>
              </a:rPr>
              <a:t>Canbo</a:t>
            </a:r>
            <a:r>
              <a:rPr lang="en-US" sz="2200" dirty="0">
                <a:solidFill>
                  <a:schemeClr val="accent1"/>
                </a:solidFill>
              </a:rPr>
              <a:t>";     </a:t>
            </a:r>
            <a:br>
              <a:rPr lang="en-US" sz="2200" dirty="0">
                <a:solidFill>
                  <a:schemeClr val="accent1"/>
                </a:solidFill>
              </a:rPr>
            </a:br>
            <a:r>
              <a:rPr lang="en-US" sz="2200" dirty="0" err="1">
                <a:solidFill>
                  <a:schemeClr val="accent1"/>
                </a:solidFill>
              </a:rPr>
              <a:t>SqlCommand</a:t>
            </a:r>
            <a:r>
              <a:rPr lang="en-US" sz="2200" dirty="0">
                <a:solidFill>
                  <a:schemeClr val="accent1"/>
                </a:solidFill>
              </a:rPr>
              <a:t> </a:t>
            </a:r>
            <a:r>
              <a:rPr lang="en-US" sz="2200" dirty="0" err="1">
                <a:solidFill>
                  <a:schemeClr val="accent1"/>
                </a:solidFill>
              </a:rPr>
              <a:t>testCommand</a:t>
            </a:r>
            <a:r>
              <a:rPr lang="en-US" sz="2200" dirty="0">
                <a:solidFill>
                  <a:schemeClr val="accent1"/>
                </a:solidFill>
              </a:rPr>
              <a:t> = new </a:t>
            </a:r>
            <a:r>
              <a:rPr lang="en-US" sz="2200" dirty="0" err="1">
                <a:solidFill>
                  <a:schemeClr val="accent1"/>
                </a:solidFill>
              </a:rPr>
              <a:t>SqlCommand</a:t>
            </a:r>
            <a:r>
              <a:rPr lang="en-US" sz="2200" dirty="0">
                <a:solidFill>
                  <a:schemeClr val="accent1"/>
                </a:solidFill>
              </a:rPr>
              <a:t>();     </a:t>
            </a:r>
            <a:r>
              <a:rPr lang="en-US" sz="2200" dirty="0" err="1">
                <a:solidFill>
                  <a:schemeClr val="accent1"/>
                </a:solidFill>
              </a:rPr>
              <a:t>testCommand.Connection</a:t>
            </a:r>
            <a:r>
              <a:rPr lang="en-US" sz="2200" dirty="0">
                <a:solidFill>
                  <a:schemeClr val="accent1"/>
                </a:solidFill>
              </a:rPr>
              <a:t> = </a:t>
            </a:r>
            <a:r>
              <a:rPr lang="en-US" sz="2200" dirty="0" err="1">
                <a:solidFill>
                  <a:schemeClr val="accent1"/>
                </a:solidFill>
              </a:rPr>
              <a:t>cn</a:t>
            </a:r>
            <a:r>
              <a:rPr lang="en-US" sz="2200" dirty="0">
                <a:solidFill>
                  <a:schemeClr val="accent1"/>
                </a:solidFill>
              </a:rPr>
              <a:t>; </a:t>
            </a:r>
            <a:br>
              <a:rPr lang="en-US" sz="2200" dirty="0">
                <a:solidFill>
                  <a:schemeClr val="accent1"/>
                </a:solidFill>
              </a:rPr>
            </a:br>
            <a:r>
              <a:rPr lang="en-US" sz="2200" dirty="0" err="1">
                <a:solidFill>
                  <a:schemeClr val="accent1"/>
                </a:solidFill>
              </a:rPr>
              <a:t>testCommand.CommandText</a:t>
            </a:r>
            <a:r>
              <a:rPr lang="en-US" sz="2200" dirty="0">
                <a:solidFill>
                  <a:schemeClr val="accent1"/>
                </a:solidFill>
              </a:rPr>
              <a:t> = </a:t>
            </a:r>
            <a:r>
              <a:rPr lang="en-US" sz="2200" dirty="0" err="1">
                <a:solidFill>
                  <a:schemeClr val="accent1"/>
                </a:solidFill>
              </a:rPr>
              <a:t>strSQL</a:t>
            </a:r>
            <a:r>
              <a:rPr lang="en-US" sz="2200" dirty="0">
                <a:solidFill>
                  <a:schemeClr val="accent1"/>
                </a:solidFill>
              </a:rPr>
              <a:t>;</a:t>
            </a:r>
          </a:p>
        </p:txBody>
      </p:sp>
      <p:sp>
        <p:nvSpPr>
          <p:cNvPr id="4" name="Slide Number Placeholder 3"/>
          <p:cNvSpPr>
            <a:spLocks noGrp="1"/>
          </p:cNvSpPr>
          <p:nvPr>
            <p:ph type="sldNum" sz="quarter" idx="10"/>
          </p:nvPr>
        </p:nvSpPr>
        <p:spPr/>
        <p:txBody>
          <a:bodyPr/>
          <a:lstStyle/>
          <a:p>
            <a:fld id="{2AEE2371-D0CC-4967-BE28-70407D2A399D}" type="slidenum">
              <a:rPr lang="en-US" smtClean="0"/>
              <a:t>15</a:t>
            </a:fld>
            <a:endParaRPr lang="en-US"/>
          </a:p>
        </p:txBody>
      </p:sp>
    </p:spTree>
    <p:extLst>
      <p:ext uri="{BB962C8B-B14F-4D97-AF65-F5344CB8AC3E}">
        <p14:creationId xmlns:p14="http://schemas.microsoft.com/office/powerpoint/2010/main" val="3631730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3.2. </a:t>
            </a:r>
            <a:r>
              <a:rPr lang="en-US" dirty="0" err="1"/>
              <a:t>Dùng</a:t>
            </a:r>
            <a:r>
              <a:rPr lang="en-US" dirty="0"/>
              <a:t> </a:t>
            </a:r>
            <a:r>
              <a:rPr lang="en-US" dirty="0" err="1"/>
              <a:t>đối</a:t>
            </a:r>
            <a:r>
              <a:rPr lang="en-US" dirty="0"/>
              <a:t> </a:t>
            </a:r>
            <a:r>
              <a:rPr lang="en-US" dirty="0" err="1"/>
              <a:t>tượng</a:t>
            </a:r>
            <a:r>
              <a:rPr lang="en-US" dirty="0"/>
              <a:t> command</a:t>
            </a:r>
          </a:p>
        </p:txBody>
      </p:sp>
      <p:sp>
        <p:nvSpPr>
          <p:cNvPr id="3" name="Content Placeholder 2"/>
          <p:cNvSpPr>
            <a:spLocks noGrp="1"/>
          </p:cNvSpPr>
          <p:nvPr>
            <p:ph idx="1"/>
          </p:nvPr>
        </p:nvSpPr>
        <p:spPr/>
        <p:txBody>
          <a:bodyPr/>
          <a:lstStyle/>
          <a:p>
            <a:r>
              <a:rPr lang="en-US" dirty="0" err="1"/>
              <a:t>Thực</a:t>
            </a:r>
            <a:r>
              <a:rPr lang="en-US" dirty="0"/>
              <a:t> </a:t>
            </a:r>
            <a:r>
              <a:rPr lang="en-US" dirty="0" err="1"/>
              <a:t>thi</a:t>
            </a:r>
            <a:r>
              <a:rPr lang="en-US" dirty="0"/>
              <a:t> </a:t>
            </a:r>
            <a:r>
              <a:rPr lang="en-US" dirty="0" err="1"/>
              <a:t>một</a:t>
            </a:r>
            <a:r>
              <a:rPr lang="en-US" dirty="0"/>
              <a:t> Command: </a:t>
            </a:r>
            <a:r>
              <a:rPr lang="en-US" dirty="0" err="1"/>
              <a:t>có</a:t>
            </a:r>
            <a:r>
              <a:rPr lang="en-US" dirty="0"/>
              <a:t> 3 </a:t>
            </a:r>
            <a:r>
              <a:rPr lang="en-US" dirty="0" err="1"/>
              <a:t>cách</a:t>
            </a:r>
            <a:endParaRPr lang="en-US" dirty="0"/>
          </a:p>
          <a:p>
            <a:pPr lvl="1"/>
            <a:r>
              <a:rPr lang="vi-VN" dirty="0">
                <a:solidFill>
                  <a:schemeClr val="accent1"/>
                </a:solidFill>
              </a:rPr>
              <a:t>ExcuteReader:</a:t>
            </a:r>
            <a:r>
              <a:rPr lang="vi-VN" dirty="0"/>
              <a:t> dùng để thực thi đọc cơ sở dữ liệu từ bảng cơ sở dữ liệu</a:t>
            </a:r>
          </a:p>
          <a:p>
            <a:pPr lvl="1"/>
            <a:r>
              <a:rPr lang="vi-VN" dirty="0">
                <a:solidFill>
                  <a:schemeClr val="accent1"/>
                </a:solidFill>
              </a:rPr>
              <a:t>ExcuteNoneQuery</a:t>
            </a:r>
            <a:r>
              <a:rPr lang="vi-VN" dirty="0"/>
              <a:t>: Dùng để thực thi các phát biểu T-Sql như: Insert, Update, Delete, Create,…</a:t>
            </a:r>
          </a:p>
          <a:p>
            <a:pPr lvl="1"/>
            <a:r>
              <a:rPr lang="vi-VN" dirty="0">
                <a:solidFill>
                  <a:schemeClr val="accent1"/>
                </a:solidFill>
              </a:rPr>
              <a:t>ExcuteScalar</a:t>
            </a:r>
            <a:r>
              <a:rPr lang="vi-VN" dirty="0"/>
              <a:t>: trả về từ phát biết SQL dạng Select chỉ có một cột một hàng</a:t>
            </a:r>
            <a:endParaRPr lang="en-US" dirty="0"/>
          </a:p>
        </p:txBody>
      </p:sp>
      <p:sp>
        <p:nvSpPr>
          <p:cNvPr id="4" name="Slide Number Placeholder 3"/>
          <p:cNvSpPr>
            <a:spLocks noGrp="1"/>
          </p:cNvSpPr>
          <p:nvPr>
            <p:ph type="sldNum" sz="quarter" idx="10"/>
          </p:nvPr>
        </p:nvSpPr>
        <p:spPr/>
        <p:txBody>
          <a:bodyPr/>
          <a:lstStyle/>
          <a:p>
            <a:fld id="{2AEE2371-D0CC-4967-BE28-70407D2A399D}" type="slidenum">
              <a:rPr lang="en-US" smtClean="0"/>
              <a:t>16</a:t>
            </a:fld>
            <a:endParaRPr lang="en-US"/>
          </a:p>
        </p:txBody>
      </p:sp>
    </p:spTree>
    <p:extLst>
      <p:ext uri="{BB962C8B-B14F-4D97-AF65-F5344CB8AC3E}">
        <p14:creationId xmlns:p14="http://schemas.microsoft.com/office/powerpoint/2010/main" val="684402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Sử</a:t>
            </a:r>
            <a:r>
              <a:rPr lang="en-US" dirty="0"/>
              <a:t> </a:t>
            </a:r>
            <a:r>
              <a:rPr lang="en-US" dirty="0" err="1"/>
              <a:t>dụng</a:t>
            </a:r>
            <a:r>
              <a:rPr lang="en-US" dirty="0"/>
              <a:t> </a:t>
            </a:r>
            <a:r>
              <a:rPr lang="en-US" dirty="0" err="1"/>
              <a:t>đối</a:t>
            </a:r>
            <a:r>
              <a:rPr lang="en-US" dirty="0"/>
              <a:t> </a:t>
            </a:r>
            <a:r>
              <a:rPr lang="en-US" dirty="0" err="1"/>
              <a:t>tượng</a:t>
            </a:r>
            <a:r>
              <a:rPr lang="en-US" dirty="0"/>
              <a:t> Parameterized Command</a:t>
            </a:r>
          </a:p>
        </p:txBody>
      </p:sp>
      <p:sp>
        <p:nvSpPr>
          <p:cNvPr id="3" name="Content Placeholder 2"/>
          <p:cNvSpPr>
            <a:spLocks noGrp="1"/>
          </p:cNvSpPr>
          <p:nvPr>
            <p:ph idx="1"/>
          </p:nvPr>
        </p:nvSpPr>
        <p:spPr/>
        <p:txBody>
          <a:bodyPr/>
          <a:lstStyle/>
          <a:p>
            <a:r>
              <a:rPr lang="vi-VN" dirty="0"/>
              <a:t>Để hỗ trợ các truy vấn có tham số, đối tượng Command của ADO.NET duy trì một tập hợp của các đối tượng tham số riêng biệt. </a:t>
            </a:r>
            <a:endParaRPr lang="en-US" dirty="0"/>
          </a:p>
          <a:p>
            <a:r>
              <a:rPr lang="vi-VN" dirty="0"/>
              <a:t>Mặc định, tập hợp này empty,  nhưng chúng ta dễ dàng để thêm bất cứ giá trị nào của đối tượng tham số mà ánh xạ đến một “tham số thay thế” trong truy vấn SQL. </a:t>
            </a:r>
            <a:endParaRPr lang="en-US" dirty="0"/>
          </a:p>
          <a:p>
            <a:r>
              <a:rPr lang="vi-VN" dirty="0"/>
              <a:t>Khi muốn kết hợp một tham số bên trong một truy vấn SQL đến một thành viên trong tập hợp các tham số của đối tượng command, </a:t>
            </a:r>
            <a:r>
              <a:rPr lang="vi-VN" dirty="0">
                <a:solidFill>
                  <a:srgbClr val="C00000"/>
                </a:solidFill>
              </a:rPr>
              <a:t>thêm tiền tố @</a:t>
            </a:r>
            <a:r>
              <a:rPr lang="vi-VN" dirty="0"/>
              <a:t> trước tham số SQL</a:t>
            </a:r>
            <a:endParaRPr lang="en-US" dirty="0"/>
          </a:p>
        </p:txBody>
      </p:sp>
      <p:sp>
        <p:nvSpPr>
          <p:cNvPr id="4" name="Slide Number Placeholder 3"/>
          <p:cNvSpPr>
            <a:spLocks noGrp="1"/>
          </p:cNvSpPr>
          <p:nvPr>
            <p:ph type="sldNum" sz="quarter" idx="10"/>
          </p:nvPr>
        </p:nvSpPr>
        <p:spPr/>
        <p:txBody>
          <a:bodyPr/>
          <a:lstStyle/>
          <a:p>
            <a:fld id="{2AEE2371-D0CC-4967-BE28-70407D2A399D}" type="slidenum">
              <a:rPr lang="en-US" smtClean="0"/>
              <a:t>17</a:t>
            </a:fld>
            <a:endParaRPr lang="en-US"/>
          </a:p>
        </p:txBody>
      </p:sp>
    </p:spTree>
    <p:extLst>
      <p:ext uri="{BB962C8B-B14F-4D97-AF65-F5344CB8AC3E}">
        <p14:creationId xmlns:p14="http://schemas.microsoft.com/office/powerpoint/2010/main" val="1326339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Sử</a:t>
            </a:r>
            <a:r>
              <a:rPr lang="en-US" dirty="0"/>
              <a:t> </a:t>
            </a:r>
            <a:r>
              <a:rPr lang="en-US" dirty="0" err="1"/>
              <a:t>dụng</a:t>
            </a:r>
            <a:r>
              <a:rPr lang="en-US" dirty="0"/>
              <a:t> </a:t>
            </a:r>
            <a:r>
              <a:rPr lang="en-US" dirty="0" err="1"/>
              <a:t>đối</a:t>
            </a:r>
            <a:r>
              <a:rPr lang="en-US" dirty="0"/>
              <a:t> </a:t>
            </a:r>
            <a:r>
              <a:rPr lang="en-US" dirty="0" err="1"/>
              <a:t>tượng</a:t>
            </a:r>
            <a:r>
              <a:rPr lang="en-US" dirty="0"/>
              <a:t> Parameterized Command</a:t>
            </a:r>
          </a:p>
        </p:txBody>
      </p:sp>
      <p:sp>
        <p:nvSpPr>
          <p:cNvPr id="3" name="Content Placeholder 2"/>
          <p:cNvSpPr>
            <a:spLocks noGrp="1"/>
          </p:cNvSpPr>
          <p:nvPr>
            <p:ph idx="1"/>
          </p:nvPr>
        </p:nvSpPr>
        <p:spPr>
          <a:xfrm>
            <a:off x="836023" y="1528354"/>
            <a:ext cx="10445811" cy="4150135"/>
          </a:xfrm>
        </p:spPr>
        <p:txBody>
          <a:bodyPr/>
          <a:lstStyle/>
          <a:p>
            <a:r>
              <a:rPr lang="en-US" dirty="0" err="1"/>
              <a:t>Để</a:t>
            </a:r>
            <a:r>
              <a:rPr lang="en-US" dirty="0"/>
              <a:t> </a:t>
            </a:r>
            <a:r>
              <a:rPr lang="en-US" dirty="0" err="1"/>
              <a:t>hiểu</a:t>
            </a:r>
            <a:r>
              <a:rPr lang="en-US" dirty="0"/>
              <a:t> </a:t>
            </a:r>
            <a:r>
              <a:rPr lang="en-US" dirty="0" err="1"/>
              <a:t>rõ</a:t>
            </a:r>
            <a:r>
              <a:rPr lang="en-US" dirty="0"/>
              <a:t> </a:t>
            </a:r>
            <a:r>
              <a:rPr lang="en-US" dirty="0" err="1"/>
              <a:t>hơn</a:t>
            </a:r>
            <a:r>
              <a:rPr lang="en-US" dirty="0"/>
              <a:t> </a:t>
            </a:r>
            <a:r>
              <a:rPr lang="en-US" dirty="0" err="1"/>
              <a:t>về</a:t>
            </a:r>
            <a:r>
              <a:rPr lang="en-US" dirty="0"/>
              <a:t> </a:t>
            </a:r>
            <a:r>
              <a:rPr lang="en-US" dirty="0" err="1"/>
              <a:t>đối</a:t>
            </a:r>
            <a:r>
              <a:rPr lang="en-US" dirty="0"/>
              <a:t> </a:t>
            </a:r>
            <a:r>
              <a:rPr lang="en-US" dirty="0" err="1"/>
              <a:t>tượng</a:t>
            </a:r>
            <a:r>
              <a:rPr lang="en-US" dirty="0"/>
              <a:t> </a:t>
            </a:r>
            <a:r>
              <a:rPr lang="en-US" dirty="0" err="1"/>
              <a:t>tham</a:t>
            </a:r>
            <a:r>
              <a:rPr lang="en-US" dirty="0"/>
              <a:t> </a:t>
            </a:r>
            <a:r>
              <a:rPr lang="en-US" dirty="0" err="1"/>
              <a:t>số</a:t>
            </a:r>
            <a:r>
              <a:rPr lang="en-US" dirty="0"/>
              <a:t> </a:t>
            </a:r>
            <a:r>
              <a:rPr lang="en-US" dirty="0" err="1"/>
              <a:t>của</a:t>
            </a:r>
            <a:r>
              <a:rPr lang="en-US" dirty="0"/>
              <a:t> command ta </a:t>
            </a:r>
            <a:r>
              <a:rPr lang="en-US" dirty="0" err="1"/>
              <a:t>xét</a:t>
            </a:r>
            <a:r>
              <a:rPr lang="en-US" dirty="0"/>
              <a:t> </a:t>
            </a:r>
            <a:r>
              <a:rPr lang="en-US" dirty="0" err="1"/>
              <a:t>ví</a:t>
            </a:r>
            <a:r>
              <a:rPr lang="en-US" dirty="0"/>
              <a:t> </a:t>
            </a:r>
            <a:r>
              <a:rPr lang="en-US" dirty="0" err="1"/>
              <a:t>dụ</a:t>
            </a:r>
            <a:r>
              <a:rPr lang="en-US" dirty="0"/>
              <a:t> </a:t>
            </a:r>
            <a:r>
              <a:rPr lang="en-US" dirty="0" err="1"/>
              <a:t>sau</a:t>
            </a:r>
            <a:r>
              <a:rPr lang="en-US" dirty="0"/>
              <a:t>:</a:t>
            </a:r>
          </a:p>
          <a:p>
            <a:r>
              <a:rPr lang="en-US" dirty="0" err="1">
                <a:solidFill>
                  <a:schemeClr val="accent1"/>
                </a:solidFill>
              </a:rPr>
              <a:t>Ví</a:t>
            </a:r>
            <a:r>
              <a:rPr lang="en-US" dirty="0">
                <a:solidFill>
                  <a:schemeClr val="accent1"/>
                </a:solidFill>
              </a:rPr>
              <a:t> </a:t>
            </a:r>
            <a:r>
              <a:rPr lang="en-US" dirty="0" err="1">
                <a:solidFill>
                  <a:schemeClr val="accent1"/>
                </a:solidFill>
              </a:rPr>
              <a:t>dụ</a:t>
            </a:r>
            <a:r>
              <a:rPr lang="en-US" dirty="0">
                <a:solidFill>
                  <a:schemeClr val="accent1"/>
                </a:solidFill>
              </a:rPr>
              <a:t>: </a:t>
            </a:r>
          </a:p>
          <a:p>
            <a:pPr lvl="1"/>
            <a:r>
              <a:rPr lang="en-US" dirty="0" err="1"/>
              <a:t>Thực</a:t>
            </a:r>
            <a:r>
              <a:rPr lang="en-US" dirty="0"/>
              <a:t> </a:t>
            </a:r>
            <a:r>
              <a:rPr lang="en-US" dirty="0" err="1"/>
              <a:t>hiện</a:t>
            </a:r>
            <a:r>
              <a:rPr lang="en-US" dirty="0"/>
              <a:t> </a:t>
            </a:r>
            <a:r>
              <a:rPr lang="en-US" dirty="0" err="1"/>
              <a:t>thêm</a:t>
            </a:r>
            <a:r>
              <a:rPr lang="en-US" dirty="0"/>
              <a:t> </a:t>
            </a:r>
            <a:r>
              <a:rPr lang="en-US" dirty="0" err="1"/>
              <a:t>mới</a:t>
            </a:r>
            <a:r>
              <a:rPr lang="en-US" dirty="0"/>
              <a:t> </a:t>
            </a:r>
            <a:r>
              <a:rPr lang="en-US" dirty="0" err="1"/>
              <a:t>dữ</a:t>
            </a:r>
            <a:r>
              <a:rPr lang="en-US" dirty="0"/>
              <a:t> </a:t>
            </a:r>
            <a:r>
              <a:rPr lang="en-US" dirty="0" err="1"/>
              <a:t>liệu</a:t>
            </a:r>
            <a:r>
              <a:rPr lang="en-US" dirty="0"/>
              <a:t> </a:t>
            </a:r>
            <a:r>
              <a:rPr lang="en-US" dirty="0" err="1"/>
              <a:t>vào</a:t>
            </a:r>
            <a:r>
              <a:rPr lang="en-US" dirty="0"/>
              <a:t> </a:t>
            </a:r>
            <a:r>
              <a:rPr lang="en-US" dirty="0" err="1"/>
              <a:t>bảng</a:t>
            </a:r>
            <a:r>
              <a:rPr lang="en-US" dirty="0"/>
              <a:t> </a:t>
            </a:r>
            <a:r>
              <a:rPr lang="en-US" dirty="0" err="1"/>
              <a:t>canbo</a:t>
            </a:r>
            <a:r>
              <a:rPr lang="en-US" dirty="0"/>
              <a:t> (</a:t>
            </a:r>
            <a:r>
              <a:rPr lang="en-US" dirty="0" err="1"/>
              <a:t>maCB</a:t>
            </a:r>
            <a:r>
              <a:rPr lang="en-US" dirty="0"/>
              <a:t>, </a:t>
            </a:r>
            <a:r>
              <a:rPr lang="en-US" dirty="0" err="1"/>
              <a:t>tenCB</a:t>
            </a:r>
            <a:r>
              <a:rPr lang="en-US" dirty="0"/>
              <a:t>, </a:t>
            </a:r>
            <a:r>
              <a:rPr lang="en-US" dirty="0" err="1"/>
              <a:t>ngaysinh</a:t>
            </a:r>
            <a:r>
              <a:rPr lang="en-US" dirty="0"/>
              <a:t>, </a:t>
            </a:r>
            <a:r>
              <a:rPr lang="en-US" dirty="0" err="1"/>
              <a:t>gioitinh</a:t>
            </a:r>
            <a:r>
              <a:rPr lang="en-US" dirty="0"/>
              <a:t>, </a:t>
            </a:r>
            <a:r>
              <a:rPr lang="en-US" dirty="0" err="1"/>
              <a:t>tinh</a:t>
            </a:r>
            <a:r>
              <a:rPr lang="en-US" dirty="0"/>
              <a:t>) </a:t>
            </a:r>
            <a:r>
              <a:rPr lang="en-US" dirty="0" err="1"/>
              <a:t>với</a:t>
            </a:r>
            <a:r>
              <a:rPr lang="en-US" dirty="0"/>
              <a:t> </a:t>
            </a:r>
            <a:r>
              <a:rPr lang="en-US" dirty="0" err="1"/>
              <a:t>các</a:t>
            </a:r>
            <a:r>
              <a:rPr lang="en-US" dirty="0"/>
              <a:t> </a:t>
            </a:r>
            <a:r>
              <a:rPr lang="en-US" dirty="0" err="1"/>
              <a:t>giá</a:t>
            </a:r>
            <a:r>
              <a:rPr lang="en-US" dirty="0"/>
              <a:t> </a:t>
            </a:r>
            <a:r>
              <a:rPr lang="en-US" dirty="0" err="1"/>
              <a:t>trị</a:t>
            </a:r>
            <a:r>
              <a:rPr lang="en-US" dirty="0"/>
              <a:t> </a:t>
            </a:r>
            <a:r>
              <a:rPr lang="en-US" dirty="0" err="1"/>
              <a:t>thêm</a:t>
            </a:r>
            <a:r>
              <a:rPr lang="en-US" dirty="0"/>
              <a:t> </a:t>
            </a:r>
            <a:r>
              <a:rPr lang="en-US" dirty="0" err="1"/>
              <a:t>mới</a:t>
            </a:r>
            <a:r>
              <a:rPr lang="en-US" dirty="0"/>
              <a:t> </a:t>
            </a:r>
            <a:r>
              <a:rPr lang="en-US" dirty="0" err="1"/>
              <a:t>được</a:t>
            </a:r>
            <a:r>
              <a:rPr lang="en-US" dirty="0"/>
              <a:t> </a:t>
            </a:r>
            <a:r>
              <a:rPr lang="en-US" dirty="0" err="1"/>
              <a:t>nhập</a:t>
            </a:r>
            <a:r>
              <a:rPr lang="en-US" dirty="0"/>
              <a:t> </a:t>
            </a:r>
            <a:r>
              <a:rPr lang="en-US" dirty="0" err="1"/>
              <a:t>vào</a:t>
            </a:r>
            <a:r>
              <a:rPr lang="en-US" dirty="0"/>
              <a:t> </a:t>
            </a:r>
            <a:r>
              <a:rPr lang="en-US" dirty="0" err="1"/>
              <a:t>từ</a:t>
            </a:r>
            <a:r>
              <a:rPr lang="en-US" dirty="0"/>
              <a:t> </a:t>
            </a:r>
            <a:r>
              <a:rPr lang="en-US" dirty="0" err="1"/>
              <a:t>các</a:t>
            </a:r>
            <a:r>
              <a:rPr lang="en-US" dirty="0"/>
              <a:t> </a:t>
            </a:r>
            <a:r>
              <a:rPr lang="en-US" dirty="0" err="1"/>
              <a:t>điều</a:t>
            </a:r>
            <a:r>
              <a:rPr lang="en-US" dirty="0"/>
              <a:t> </a:t>
            </a:r>
            <a:r>
              <a:rPr lang="en-US" dirty="0" err="1"/>
              <a:t>khiển</a:t>
            </a:r>
            <a:r>
              <a:rPr lang="en-US" dirty="0"/>
              <a:t> </a:t>
            </a:r>
            <a:r>
              <a:rPr lang="en-US" dirty="0" err="1"/>
              <a:t>nhập</a:t>
            </a:r>
            <a:r>
              <a:rPr lang="en-US" dirty="0"/>
              <a:t>. Ta </a:t>
            </a:r>
            <a:r>
              <a:rPr lang="en-US" dirty="0" err="1"/>
              <a:t>viết</a:t>
            </a:r>
            <a:r>
              <a:rPr lang="en-US" dirty="0"/>
              <a:t> </a:t>
            </a:r>
            <a:r>
              <a:rPr lang="en-US" dirty="0" err="1"/>
              <a:t>đoạn</a:t>
            </a:r>
            <a:r>
              <a:rPr lang="en-US" dirty="0"/>
              <a:t> code </a:t>
            </a:r>
            <a:r>
              <a:rPr lang="en-US" dirty="0" err="1"/>
              <a:t>sau</a:t>
            </a:r>
            <a:endParaRPr lang="en-US" dirty="0"/>
          </a:p>
          <a:p>
            <a:pPr marL="455612" lvl="2" indent="0">
              <a:buNone/>
            </a:pPr>
            <a:r>
              <a:rPr lang="en-US" dirty="0">
                <a:solidFill>
                  <a:schemeClr val="accent1"/>
                </a:solidFill>
              </a:rPr>
              <a:t>// Define ADO.NET objects.         </a:t>
            </a:r>
            <a:br>
              <a:rPr lang="en-US" dirty="0">
                <a:solidFill>
                  <a:schemeClr val="accent1"/>
                </a:solidFill>
              </a:rPr>
            </a:br>
            <a:r>
              <a:rPr lang="en-US" dirty="0">
                <a:solidFill>
                  <a:schemeClr val="accent1"/>
                </a:solidFill>
              </a:rPr>
              <a:t>string </a:t>
            </a:r>
            <a:r>
              <a:rPr lang="en-US" dirty="0" err="1">
                <a:solidFill>
                  <a:schemeClr val="accent1"/>
                </a:solidFill>
              </a:rPr>
              <a:t>insertSQL</a:t>
            </a:r>
            <a:r>
              <a:rPr lang="en-US" dirty="0">
                <a:solidFill>
                  <a:schemeClr val="accent1"/>
                </a:solidFill>
              </a:rPr>
              <a:t>;        </a:t>
            </a:r>
            <a:br>
              <a:rPr lang="en-US" dirty="0">
                <a:solidFill>
                  <a:schemeClr val="accent1"/>
                </a:solidFill>
              </a:rPr>
            </a:br>
            <a:r>
              <a:rPr lang="en-US" dirty="0" err="1">
                <a:solidFill>
                  <a:schemeClr val="accent1"/>
                </a:solidFill>
              </a:rPr>
              <a:t>insertSQL</a:t>
            </a:r>
            <a:r>
              <a:rPr lang="en-US" dirty="0">
                <a:solidFill>
                  <a:schemeClr val="accent1"/>
                </a:solidFill>
              </a:rPr>
              <a:t> = "INSERT INTO </a:t>
            </a:r>
            <a:r>
              <a:rPr lang="en-US" dirty="0" err="1">
                <a:solidFill>
                  <a:schemeClr val="accent1"/>
                </a:solidFill>
              </a:rPr>
              <a:t>canbo</a:t>
            </a:r>
            <a:r>
              <a:rPr lang="en-US" dirty="0">
                <a:solidFill>
                  <a:schemeClr val="accent1"/>
                </a:solidFill>
              </a:rPr>
              <a:t> (";        </a:t>
            </a:r>
            <a:br>
              <a:rPr lang="en-US" dirty="0">
                <a:solidFill>
                  <a:schemeClr val="accent1"/>
                </a:solidFill>
              </a:rPr>
            </a:br>
            <a:r>
              <a:rPr lang="en-US" dirty="0" err="1">
                <a:solidFill>
                  <a:schemeClr val="accent1"/>
                </a:solidFill>
              </a:rPr>
              <a:t>insertSQL</a:t>
            </a:r>
            <a:r>
              <a:rPr lang="en-US" dirty="0">
                <a:solidFill>
                  <a:schemeClr val="accent1"/>
                </a:solidFill>
              </a:rPr>
              <a:t> += “</a:t>
            </a:r>
            <a:r>
              <a:rPr lang="en-US" dirty="0" err="1">
                <a:solidFill>
                  <a:schemeClr val="accent1"/>
                </a:solidFill>
              </a:rPr>
              <a:t>maCB</a:t>
            </a:r>
            <a:r>
              <a:rPr lang="en-US" dirty="0">
                <a:solidFill>
                  <a:schemeClr val="accent1"/>
                </a:solidFill>
              </a:rPr>
              <a:t>, </a:t>
            </a:r>
            <a:r>
              <a:rPr lang="en-US" dirty="0" err="1">
                <a:solidFill>
                  <a:schemeClr val="accent1"/>
                </a:solidFill>
              </a:rPr>
              <a:t>tenCB</a:t>
            </a:r>
            <a:r>
              <a:rPr lang="en-US" dirty="0">
                <a:solidFill>
                  <a:schemeClr val="accent1"/>
                </a:solidFill>
              </a:rPr>
              <a:t>, </a:t>
            </a:r>
            <a:r>
              <a:rPr lang="en-US" dirty="0" err="1">
                <a:solidFill>
                  <a:schemeClr val="accent1"/>
                </a:solidFill>
              </a:rPr>
              <a:t>ngaysinh</a:t>
            </a:r>
            <a:r>
              <a:rPr lang="en-US" dirty="0">
                <a:solidFill>
                  <a:schemeClr val="accent1"/>
                </a:solidFill>
              </a:rPr>
              <a:t>, </a:t>
            </a:r>
            <a:r>
              <a:rPr lang="en-US" dirty="0" err="1">
                <a:solidFill>
                  <a:schemeClr val="accent1"/>
                </a:solidFill>
              </a:rPr>
              <a:t>gioitinh</a:t>
            </a:r>
            <a:r>
              <a:rPr lang="en-US" dirty="0">
                <a:solidFill>
                  <a:schemeClr val="accent1"/>
                </a:solidFill>
              </a:rPr>
              <a:t>, </a:t>
            </a:r>
            <a:r>
              <a:rPr lang="en-US" dirty="0" err="1">
                <a:solidFill>
                  <a:schemeClr val="accent1"/>
                </a:solidFill>
              </a:rPr>
              <a:t>tinh</a:t>
            </a:r>
            <a:r>
              <a:rPr lang="en-US" dirty="0">
                <a:solidFill>
                  <a:schemeClr val="accent1"/>
                </a:solidFill>
              </a:rPr>
              <a:t>) ";         </a:t>
            </a:r>
            <a:br>
              <a:rPr lang="en-US" dirty="0">
                <a:solidFill>
                  <a:schemeClr val="accent1"/>
                </a:solidFill>
              </a:rPr>
            </a:br>
            <a:r>
              <a:rPr lang="en-US" dirty="0" err="1">
                <a:solidFill>
                  <a:schemeClr val="accent1"/>
                </a:solidFill>
              </a:rPr>
              <a:t>insertSQL</a:t>
            </a:r>
            <a:r>
              <a:rPr lang="en-US" dirty="0">
                <a:solidFill>
                  <a:schemeClr val="accent1"/>
                </a:solidFill>
              </a:rPr>
              <a:t> += "VALUES (";         </a:t>
            </a:r>
            <a:br>
              <a:rPr lang="en-US" dirty="0">
                <a:solidFill>
                  <a:schemeClr val="accent1"/>
                </a:solidFill>
              </a:rPr>
            </a:br>
            <a:r>
              <a:rPr lang="en-US" dirty="0" err="1">
                <a:solidFill>
                  <a:schemeClr val="accent1"/>
                </a:solidFill>
              </a:rPr>
              <a:t>insertSQL</a:t>
            </a:r>
            <a:r>
              <a:rPr lang="en-US" dirty="0">
                <a:solidFill>
                  <a:schemeClr val="accent1"/>
                </a:solidFill>
              </a:rPr>
              <a:t> += "@</a:t>
            </a:r>
            <a:r>
              <a:rPr lang="en-US" dirty="0" err="1">
                <a:solidFill>
                  <a:schemeClr val="accent1"/>
                </a:solidFill>
              </a:rPr>
              <a:t>maCB</a:t>
            </a:r>
            <a:r>
              <a:rPr lang="en-US" dirty="0">
                <a:solidFill>
                  <a:schemeClr val="accent1"/>
                </a:solidFill>
              </a:rPr>
              <a:t>, @</a:t>
            </a:r>
            <a:r>
              <a:rPr lang="en-US" dirty="0" err="1">
                <a:solidFill>
                  <a:schemeClr val="accent1"/>
                </a:solidFill>
              </a:rPr>
              <a:t>tenCB</a:t>
            </a:r>
            <a:r>
              <a:rPr lang="en-US" dirty="0">
                <a:solidFill>
                  <a:schemeClr val="accent1"/>
                </a:solidFill>
              </a:rPr>
              <a:t>, @</a:t>
            </a:r>
            <a:r>
              <a:rPr lang="en-US" dirty="0" err="1">
                <a:solidFill>
                  <a:schemeClr val="accent1"/>
                </a:solidFill>
              </a:rPr>
              <a:t>ngaysinh</a:t>
            </a:r>
            <a:r>
              <a:rPr lang="en-US" dirty="0">
                <a:solidFill>
                  <a:schemeClr val="accent1"/>
                </a:solidFill>
              </a:rPr>
              <a:t>, @</a:t>
            </a:r>
            <a:r>
              <a:rPr lang="en-US" dirty="0" err="1">
                <a:solidFill>
                  <a:schemeClr val="accent1"/>
                </a:solidFill>
              </a:rPr>
              <a:t>gioitinh</a:t>
            </a:r>
            <a:r>
              <a:rPr lang="en-US" dirty="0">
                <a:solidFill>
                  <a:schemeClr val="accent1"/>
                </a:solidFill>
              </a:rPr>
              <a:t>, @</a:t>
            </a:r>
            <a:r>
              <a:rPr lang="en-US" dirty="0" err="1">
                <a:solidFill>
                  <a:schemeClr val="accent1"/>
                </a:solidFill>
              </a:rPr>
              <a:t>tinh</a:t>
            </a:r>
            <a:r>
              <a:rPr lang="en-US" dirty="0">
                <a:solidFill>
                  <a:schemeClr val="accent1"/>
                </a:solidFill>
              </a:rPr>
              <a:t>)"; </a:t>
            </a:r>
          </a:p>
          <a:p>
            <a:pPr marL="455612" lvl="2" indent="0">
              <a:buNone/>
            </a:pPr>
            <a:r>
              <a:rPr lang="en-US" dirty="0" err="1">
                <a:solidFill>
                  <a:schemeClr val="accent1"/>
                </a:solidFill>
              </a:rPr>
              <a:t>SqlConnection</a:t>
            </a:r>
            <a:r>
              <a:rPr lang="en-US" dirty="0">
                <a:solidFill>
                  <a:schemeClr val="accent1"/>
                </a:solidFill>
              </a:rPr>
              <a:t> con = new </a:t>
            </a:r>
            <a:r>
              <a:rPr lang="en-US" dirty="0" err="1">
                <a:solidFill>
                  <a:schemeClr val="accent1"/>
                </a:solidFill>
              </a:rPr>
              <a:t>SqlConnection</a:t>
            </a:r>
            <a:r>
              <a:rPr lang="en-US" dirty="0">
                <a:solidFill>
                  <a:schemeClr val="accent1"/>
                </a:solidFill>
              </a:rPr>
              <a:t>(</a:t>
            </a:r>
            <a:r>
              <a:rPr lang="en-US" dirty="0" err="1">
                <a:solidFill>
                  <a:schemeClr val="accent1"/>
                </a:solidFill>
              </a:rPr>
              <a:t>connectionString</a:t>
            </a:r>
            <a:r>
              <a:rPr lang="en-US" dirty="0">
                <a:solidFill>
                  <a:schemeClr val="accent1"/>
                </a:solidFill>
              </a:rPr>
              <a:t>);         </a:t>
            </a:r>
            <a:br>
              <a:rPr lang="en-US" dirty="0">
                <a:solidFill>
                  <a:schemeClr val="accent1"/>
                </a:solidFill>
              </a:rPr>
            </a:br>
            <a:r>
              <a:rPr lang="en-US" dirty="0" err="1">
                <a:solidFill>
                  <a:schemeClr val="accent1"/>
                </a:solidFill>
              </a:rPr>
              <a:t>SqlCommand</a:t>
            </a:r>
            <a:r>
              <a:rPr lang="en-US" dirty="0">
                <a:solidFill>
                  <a:schemeClr val="accent1"/>
                </a:solidFill>
              </a:rPr>
              <a:t> </a:t>
            </a:r>
            <a:r>
              <a:rPr lang="en-US" dirty="0" err="1">
                <a:solidFill>
                  <a:schemeClr val="accent1"/>
                </a:solidFill>
              </a:rPr>
              <a:t>cmd</a:t>
            </a:r>
            <a:r>
              <a:rPr lang="en-US" dirty="0">
                <a:solidFill>
                  <a:schemeClr val="accent1"/>
                </a:solidFill>
              </a:rPr>
              <a:t> = new </a:t>
            </a:r>
            <a:r>
              <a:rPr lang="en-US" dirty="0" err="1">
                <a:solidFill>
                  <a:schemeClr val="accent1"/>
                </a:solidFill>
              </a:rPr>
              <a:t>SqlCommand</a:t>
            </a:r>
            <a:r>
              <a:rPr lang="en-US" dirty="0">
                <a:solidFill>
                  <a:schemeClr val="accent1"/>
                </a:solidFill>
              </a:rPr>
              <a:t>(</a:t>
            </a:r>
            <a:r>
              <a:rPr lang="en-US" dirty="0" err="1">
                <a:solidFill>
                  <a:schemeClr val="accent1"/>
                </a:solidFill>
              </a:rPr>
              <a:t>insertSQL</a:t>
            </a:r>
            <a:r>
              <a:rPr lang="en-US" dirty="0">
                <a:solidFill>
                  <a:schemeClr val="accent1"/>
                </a:solidFill>
              </a:rPr>
              <a:t>, con);</a:t>
            </a:r>
          </a:p>
        </p:txBody>
      </p:sp>
      <p:sp>
        <p:nvSpPr>
          <p:cNvPr id="4" name="Slide Number Placeholder 3"/>
          <p:cNvSpPr>
            <a:spLocks noGrp="1"/>
          </p:cNvSpPr>
          <p:nvPr>
            <p:ph type="sldNum" sz="quarter" idx="10"/>
          </p:nvPr>
        </p:nvSpPr>
        <p:spPr/>
        <p:txBody>
          <a:bodyPr/>
          <a:lstStyle/>
          <a:p>
            <a:fld id="{2AEE2371-D0CC-4967-BE28-70407D2A399D}" type="slidenum">
              <a:rPr lang="en-US" smtClean="0"/>
              <a:t>18</a:t>
            </a:fld>
            <a:endParaRPr lang="en-US"/>
          </a:p>
        </p:txBody>
      </p:sp>
    </p:spTree>
    <p:extLst>
      <p:ext uri="{BB962C8B-B14F-4D97-AF65-F5344CB8AC3E}">
        <p14:creationId xmlns:p14="http://schemas.microsoft.com/office/powerpoint/2010/main" val="37685238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867" y="388213"/>
            <a:ext cx="10993967" cy="498475"/>
          </a:xfrm>
        </p:spPr>
        <p:txBody>
          <a:bodyPr/>
          <a:lstStyle/>
          <a:p>
            <a:r>
              <a:rPr lang="en-US" dirty="0" err="1"/>
              <a:t>Ví</a:t>
            </a:r>
            <a:r>
              <a:rPr lang="en-US" dirty="0"/>
              <a:t> </a:t>
            </a:r>
            <a:r>
              <a:rPr lang="en-US" dirty="0" err="1"/>
              <a:t>dụ</a:t>
            </a:r>
            <a:r>
              <a:rPr lang="en-US" dirty="0"/>
              <a:t> (</a:t>
            </a:r>
            <a:r>
              <a:rPr lang="en-US" dirty="0" err="1"/>
              <a:t>tiếp</a:t>
            </a:r>
            <a:r>
              <a:rPr lang="en-US" dirty="0"/>
              <a:t>)</a:t>
            </a:r>
          </a:p>
        </p:txBody>
      </p:sp>
      <p:sp>
        <p:nvSpPr>
          <p:cNvPr id="3" name="Content Placeholder 2"/>
          <p:cNvSpPr>
            <a:spLocks noGrp="1"/>
          </p:cNvSpPr>
          <p:nvPr>
            <p:ph idx="1"/>
          </p:nvPr>
        </p:nvSpPr>
        <p:spPr>
          <a:xfrm>
            <a:off x="860154" y="886688"/>
            <a:ext cx="10367433" cy="5631678"/>
          </a:xfrm>
        </p:spPr>
        <p:txBody>
          <a:bodyPr/>
          <a:lstStyle/>
          <a:p>
            <a:r>
              <a:rPr lang="vi-VN" dirty="0"/>
              <a:t>Sau đó đưa các Parameters với các giá trị lấy từ các điều khiển nhập v</a:t>
            </a:r>
            <a:r>
              <a:rPr lang="en-US" dirty="0"/>
              <a:t>à</a:t>
            </a:r>
            <a:r>
              <a:rPr lang="vi-VN" dirty="0"/>
              <a:t>o trong đối tượng Command hiện tại </a:t>
            </a:r>
            <a:r>
              <a:rPr lang="vi-VN" b="1" dirty="0"/>
              <a:t>cmd</a:t>
            </a:r>
            <a:endParaRPr lang="en-US" b="1" dirty="0"/>
          </a:p>
          <a:p>
            <a:pPr lvl="1"/>
            <a:r>
              <a:rPr lang="en-US" sz="2000" dirty="0" err="1">
                <a:solidFill>
                  <a:schemeClr val="accent1"/>
                </a:solidFill>
              </a:rPr>
              <a:t>cmd.Parameters.AddWithValue</a:t>
            </a:r>
            <a:r>
              <a:rPr lang="en-US" sz="2000" dirty="0">
                <a:solidFill>
                  <a:schemeClr val="accent1"/>
                </a:solidFill>
              </a:rPr>
              <a:t>("@</a:t>
            </a:r>
            <a:r>
              <a:rPr lang="en-US" sz="2000" dirty="0" err="1">
                <a:solidFill>
                  <a:schemeClr val="accent1"/>
                </a:solidFill>
              </a:rPr>
              <a:t>maCB</a:t>
            </a:r>
            <a:r>
              <a:rPr lang="en-US" sz="2000" dirty="0">
                <a:solidFill>
                  <a:schemeClr val="accent1"/>
                </a:solidFill>
              </a:rPr>
              <a:t>", </a:t>
            </a:r>
            <a:r>
              <a:rPr lang="en-US" sz="2000" dirty="0" err="1">
                <a:solidFill>
                  <a:schemeClr val="accent1"/>
                </a:solidFill>
              </a:rPr>
              <a:t>txtID.Text</a:t>
            </a:r>
            <a:r>
              <a:rPr lang="en-US" sz="2000" dirty="0">
                <a:solidFill>
                  <a:schemeClr val="accent1"/>
                </a:solidFill>
              </a:rPr>
              <a:t>);         </a:t>
            </a:r>
            <a:r>
              <a:rPr lang="en-US" sz="2000" dirty="0" err="1">
                <a:solidFill>
                  <a:schemeClr val="accent1"/>
                </a:solidFill>
              </a:rPr>
              <a:t>cmd.Parameters.AddWithValue</a:t>
            </a:r>
            <a:r>
              <a:rPr lang="en-US" sz="2000" dirty="0">
                <a:solidFill>
                  <a:schemeClr val="accent1"/>
                </a:solidFill>
              </a:rPr>
              <a:t>("@</a:t>
            </a:r>
            <a:r>
              <a:rPr lang="en-US" sz="2000" dirty="0" err="1">
                <a:solidFill>
                  <a:schemeClr val="accent1"/>
                </a:solidFill>
              </a:rPr>
              <a:t>tenCB</a:t>
            </a:r>
            <a:r>
              <a:rPr lang="en-US" sz="2000" dirty="0">
                <a:solidFill>
                  <a:schemeClr val="accent1"/>
                </a:solidFill>
              </a:rPr>
              <a:t>", </a:t>
            </a:r>
            <a:r>
              <a:rPr lang="en-US" sz="2000" dirty="0" err="1">
                <a:solidFill>
                  <a:schemeClr val="accent1"/>
                </a:solidFill>
              </a:rPr>
              <a:t>txtName.Text</a:t>
            </a:r>
            <a:r>
              <a:rPr lang="en-US" sz="2000" dirty="0">
                <a:solidFill>
                  <a:schemeClr val="accent1"/>
                </a:solidFill>
              </a:rPr>
              <a:t>);         </a:t>
            </a:r>
            <a:r>
              <a:rPr lang="en-US" sz="2000" dirty="0" err="1">
                <a:solidFill>
                  <a:schemeClr val="accent1"/>
                </a:solidFill>
              </a:rPr>
              <a:t>cmd.Parameters.AddWithValue</a:t>
            </a:r>
            <a:r>
              <a:rPr lang="en-US" sz="2000" dirty="0">
                <a:solidFill>
                  <a:schemeClr val="accent1"/>
                </a:solidFill>
              </a:rPr>
              <a:t>("@</a:t>
            </a:r>
            <a:r>
              <a:rPr lang="en-US" sz="2000" dirty="0" err="1">
                <a:solidFill>
                  <a:schemeClr val="accent1"/>
                </a:solidFill>
              </a:rPr>
              <a:t>ngaysinh</a:t>
            </a:r>
            <a:r>
              <a:rPr lang="en-US" sz="2000" dirty="0">
                <a:solidFill>
                  <a:schemeClr val="accent1"/>
                </a:solidFill>
              </a:rPr>
              <a:t>", </a:t>
            </a:r>
            <a:r>
              <a:rPr lang="en-US" sz="2000" dirty="0" err="1">
                <a:solidFill>
                  <a:schemeClr val="accent1"/>
                </a:solidFill>
              </a:rPr>
              <a:t>txtBday.Text</a:t>
            </a:r>
            <a:r>
              <a:rPr lang="en-US" sz="2000" dirty="0">
                <a:solidFill>
                  <a:schemeClr val="accent1"/>
                </a:solidFill>
              </a:rPr>
              <a:t>);         </a:t>
            </a:r>
            <a:r>
              <a:rPr lang="en-US" sz="2000" dirty="0" err="1">
                <a:solidFill>
                  <a:schemeClr val="accent1"/>
                </a:solidFill>
              </a:rPr>
              <a:t>cmd.Parameters.AddWithValue</a:t>
            </a:r>
            <a:r>
              <a:rPr lang="en-US" sz="2000" dirty="0">
                <a:solidFill>
                  <a:schemeClr val="accent1"/>
                </a:solidFill>
              </a:rPr>
              <a:t>("@</a:t>
            </a:r>
            <a:r>
              <a:rPr lang="en-US" sz="2000" dirty="0" err="1">
                <a:solidFill>
                  <a:schemeClr val="accent1"/>
                </a:solidFill>
              </a:rPr>
              <a:t>gioitinh</a:t>
            </a:r>
            <a:r>
              <a:rPr lang="en-US" sz="2000" dirty="0">
                <a:solidFill>
                  <a:schemeClr val="accent1"/>
                </a:solidFill>
              </a:rPr>
              <a:t>", </a:t>
            </a:r>
            <a:r>
              <a:rPr lang="en-US" sz="2000" dirty="0" err="1">
                <a:solidFill>
                  <a:schemeClr val="accent1"/>
                </a:solidFill>
              </a:rPr>
              <a:t>txtGT.Text</a:t>
            </a:r>
            <a:r>
              <a:rPr lang="en-US" sz="2000" dirty="0">
                <a:solidFill>
                  <a:schemeClr val="accent1"/>
                </a:solidFill>
              </a:rPr>
              <a:t>);         </a:t>
            </a:r>
            <a:r>
              <a:rPr lang="en-US" sz="2000" dirty="0" err="1">
                <a:solidFill>
                  <a:schemeClr val="accent1"/>
                </a:solidFill>
              </a:rPr>
              <a:t>cmd.Parameters.AddWithValue</a:t>
            </a:r>
            <a:r>
              <a:rPr lang="en-US" sz="2000" dirty="0">
                <a:solidFill>
                  <a:schemeClr val="accent1"/>
                </a:solidFill>
              </a:rPr>
              <a:t>("@</a:t>
            </a:r>
            <a:r>
              <a:rPr lang="en-US" sz="2000" dirty="0" err="1">
                <a:solidFill>
                  <a:schemeClr val="accent1"/>
                </a:solidFill>
              </a:rPr>
              <a:t>tinh</a:t>
            </a:r>
            <a:r>
              <a:rPr lang="en-US" sz="2000" dirty="0">
                <a:solidFill>
                  <a:schemeClr val="accent1"/>
                </a:solidFill>
              </a:rPr>
              <a:t>", </a:t>
            </a:r>
            <a:r>
              <a:rPr lang="en-US" sz="2000" dirty="0" err="1">
                <a:solidFill>
                  <a:schemeClr val="accent1"/>
                </a:solidFill>
              </a:rPr>
              <a:t>txtCity.Text</a:t>
            </a:r>
            <a:r>
              <a:rPr lang="en-US" sz="2000" dirty="0">
                <a:solidFill>
                  <a:schemeClr val="accent1"/>
                </a:solidFill>
              </a:rPr>
              <a:t>);</a:t>
            </a:r>
          </a:p>
          <a:p>
            <a:r>
              <a:rPr lang="vi-VN" dirty="0"/>
              <a:t>Hoặc khởi tạo đối tượng SqlParameter và đặt vào trong phần danh sách tham số của đối tượng Command.</a:t>
            </a:r>
            <a:endParaRPr lang="en-US" dirty="0"/>
          </a:p>
          <a:p>
            <a:pPr lvl="1"/>
            <a:r>
              <a:rPr lang="en-US" sz="2000" dirty="0" err="1">
                <a:solidFill>
                  <a:schemeClr val="accent1"/>
                </a:solidFill>
              </a:rPr>
              <a:t>cmd.Parameters.Add</a:t>
            </a:r>
            <a:r>
              <a:rPr lang="en-US" sz="2000" dirty="0">
                <a:solidFill>
                  <a:schemeClr val="accent1"/>
                </a:solidFill>
              </a:rPr>
              <a:t>(new </a:t>
            </a:r>
            <a:r>
              <a:rPr lang="en-US" sz="2000" dirty="0" err="1">
                <a:solidFill>
                  <a:schemeClr val="accent1"/>
                </a:solidFill>
              </a:rPr>
              <a:t>SqlParameter</a:t>
            </a:r>
            <a:r>
              <a:rPr lang="en-US" sz="2000" dirty="0">
                <a:solidFill>
                  <a:schemeClr val="accent1"/>
                </a:solidFill>
              </a:rPr>
              <a:t>("@</a:t>
            </a:r>
            <a:r>
              <a:rPr lang="en-US" sz="2000" dirty="0" err="1">
                <a:solidFill>
                  <a:schemeClr val="accent1"/>
                </a:solidFill>
              </a:rPr>
              <a:t>maCB</a:t>
            </a:r>
            <a:r>
              <a:rPr lang="en-US" sz="2000" dirty="0">
                <a:solidFill>
                  <a:schemeClr val="accent1"/>
                </a:solidFill>
              </a:rPr>
              <a:t>", </a:t>
            </a:r>
            <a:r>
              <a:rPr lang="en-US" sz="2000" dirty="0" err="1">
                <a:solidFill>
                  <a:schemeClr val="accent1"/>
                </a:solidFill>
              </a:rPr>
              <a:t>txtID.Text</a:t>
            </a:r>
            <a:r>
              <a:rPr lang="en-US" sz="2000" dirty="0">
                <a:solidFill>
                  <a:schemeClr val="accent1"/>
                </a:solidFill>
              </a:rPr>
              <a:t>));         </a:t>
            </a:r>
            <a:r>
              <a:rPr lang="en-US" sz="2000" dirty="0" err="1">
                <a:solidFill>
                  <a:schemeClr val="accent1"/>
                </a:solidFill>
              </a:rPr>
              <a:t>cmd.Parameters.Add</a:t>
            </a:r>
            <a:r>
              <a:rPr lang="en-US" sz="2000" dirty="0">
                <a:solidFill>
                  <a:schemeClr val="accent1"/>
                </a:solidFill>
              </a:rPr>
              <a:t>(new </a:t>
            </a:r>
            <a:r>
              <a:rPr lang="en-US" sz="2000" dirty="0" err="1">
                <a:solidFill>
                  <a:schemeClr val="accent1"/>
                </a:solidFill>
              </a:rPr>
              <a:t>SqlParameter</a:t>
            </a:r>
            <a:r>
              <a:rPr lang="en-US" sz="2000" dirty="0">
                <a:solidFill>
                  <a:schemeClr val="accent1"/>
                </a:solidFill>
              </a:rPr>
              <a:t>("@</a:t>
            </a:r>
            <a:r>
              <a:rPr lang="en-US" sz="2000" dirty="0" err="1">
                <a:solidFill>
                  <a:schemeClr val="accent1"/>
                </a:solidFill>
              </a:rPr>
              <a:t>tenCB</a:t>
            </a:r>
            <a:r>
              <a:rPr lang="en-US" sz="2000" dirty="0">
                <a:solidFill>
                  <a:schemeClr val="accent1"/>
                </a:solidFill>
              </a:rPr>
              <a:t>", </a:t>
            </a:r>
            <a:r>
              <a:rPr lang="en-US" sz="2000" dirty="0" err="1">
                <a:solidFill>
                  <a:schemeClr val="accent1"/>
                </a:solidFill>
              </a:rPr>
              <a:t>txtFirstName.Text</a:t>
            </a:r>
            <a:r>
              <a:rPr lang="en-US" sz="2000" dirty="0">
                <a:solidFill>
                  <a:schemeClr val="accent1"/>
                </a:solidFill>
              </a:rPr>
              <a:t>));         </a:t>
            </a:r>
            <a:br>
              <a:rPr lang="en-US" sz="2000" dirty="0">
                <a:solidFill>
                  <a:schemeClr val="accent1"/>
                </a:solidFill>
              </a:rPr>
            </a:br>
            <a:r>
              <a:rPr lang="en-US" sz="2000" dirty="0" err="1">
                <a:solidFill>
                  <a:schemeClr val="accent1"/>
                </a:solidFill>
              </a:rPr>
              <a:t>cmd.Parameters.Add</a:t>
            </a:r>
            <a:r>
              <a:rPr lang="en-US" sz="2000" dirty="0">
                <a:solidFill>
                  <a:schemeClr val="accent1"/>
                </a:solidFill>
              </a:rPr>
              <a:t>(new </a:t>
            </a:r>
            <a:r>
              <a:rPr lang="en-US" sz="2000" dirty="0" err="1">
                <a:solidFill>
                  <a:schemeClr val="accent1"/>
                </a:solidFill>
              </a:rPr>
              <a:t>SqlParameter</a:t>
            </a:r>
            <a:r>
              <a:rPr lang="en-US" sz="2000" dirty="0">
                <a:solidFill>
                  <a:schemeClr val="accent1"/>
                </a:solidFill>
              </a:rPr>
              <a:t> ("@</a:t>
            </a:r>
            <a:r>
              <a:rPr lang="en-US" sz="2000" dirty="0" err="1">
                <a:solidFill>
                  <a:schemeClr val="accent1"/>
                </a:solidFill>
              </a:rPr>
              <a:t>ngaysinh</a:t>
            </a:r>
            <a:r>
              <a:rPr lang="en-US" sz="2000" dirty="0">
                <a:solidFill>
                  <a:schemeClr val="accent1"/>
                </a:solidFill>
              </a:rPr>
              <a:t>", </a:t>
            </a:r>
            <a:r>
              <a:rPr lang="en-US" sz="2000" dirty="0" err="1">
                <a:solidFill>
                  <a:schemeClr val="accent1"/>
                </a:solidFill>
              </a:rPr>
              <a:t>txtBday.Text</a:t>
            </a:r>
            <a:r>
              <a:rPr lang="en-US" sz="2000" dirty="0">
                <a:solidFill>
                  <a:schemeClr val="accent1"/>
                </a:solidFill>
              </a:rPr>
              <a:t>));         </a:t>
            </a:r>
            <a:br>
              <a:rPr lang="en-US" sz="2000" dirty="0">
                <a:solidFill>
                  <a:schemeClr val="accent1"/>
                </a:solidFill>
              </a:rPr>
            </a:br>
            <a:r>
              <a:rPr lang="en-US" sz="2000" dirty="0" err="1">
                <a:solidFill>
                  <a:schemeClr val="accent1"/>
                </a:solidFill>
              </a:rPr>
              <a:t>cmd.Parameters.Add</a:t>
            </a:r>
            <a:r>
              <a:rPr lang="en-US" sz="2000" dirty="0">
                <a:solidFill>
                  <a:schemeClr val="accent1"/>
                </a:solidFill>
              </a:rPr>
              <a:t>(new </a:t>
            </a:r>
            <a:r>
              <a:rPr lang="en-US" sz="2000" dirty="0" err="1">
                <a:solidFill>
                  <a:schemeClr val="accent1"/>
                </a:solidFill>
              </a:rPr>
              <a:t>SqlParameter</a:t>
            </a:r>
            <a:r>
              <a:rPr lang="en-US" sz="2000" dirty="0">
                <a:solidFill>
                  <a:schemeClr val="accent1"/>
                </a:solidFill>
              </a:rPr>
              <a:t> ("@</a:t>
            </a:r>
            <a:r>
              <a:rPr lang="en-US" sz="2000" dirty="0" err="1">
                <a:solidFill>
                  <a:schemeClr val="accent1"/>
                </a:solidFill>
              </a:rPr>
              <a:t>gioitinh</a:t>
            </a:r>
            <a:r>
              <a:rPr lang="en-US" sz="2000" dirty="0">
                <a:solidFill>
                  <a:schemeClr val="accent1"/>
                </a:solidFill>
              </a:rPr>
              <a:t>", </a:t>
            </a:r>
            <a:r>
              <a:rPr lang="en-US" sz="2000" dirty="0" err="1">
                <a:solidFill>
                  <a:schemeClr val="accent1"/>
                </a:solidFill>
              </a:rPr>
              <a:t>txtGT.Text</a:t>
            </a:r>
            <a:r>
              <a:rPr lang="en-US" sz="2000" dirty="0">
                <a:solidFill>
                  <a:schemeClr val="accent1"/>
                </a:solidFill>
              </a:rPr>
              <a:t>));         </a:t>
            </a:r>
            <a:r>
              <a:rPr lang="en-US" sz="2000" dirty="0" err="1">
                <a:solidFill>
                  <a:schemeClr val="accent1"/>
                </a:solidFill>
              </a:rPr>
              <a:t>cmd.Parameters.Add</a:t>
            </a:r>
            <a:r>
              <a:rPr lang="en-US" sz="2000" dirty="0">
                <a:solidFill>
                  <a:schemeClr val="accent1"/>
                </a:solidFill>
              </a:rPr>
              <a:t>(new </a:t>
            </a:r>
            <a:r>
              <a:rPr lang="en-US" sz="2000" dirty="0" err="1">
                <a:solidFill>
                  <a:schemeClr val="accent1"/>
                </a:solidFill>
              </a:rPr>
              <a:t>SqlParameter</a:t>
            </a:r>
            <a:r>
              <a:rPr lang="en-US" sz="2000" dirty="0">
                <a:solidFill>
                  <a:schemeClr val="accent1"/>
                </a:solidFill>
              </a:rPr>
              <a:t> ("@</a:t>
            </a:r>
            <a:r>
              <a:rPr lang="en-US" sz="2000" dirty="0" err="1">
                <a:solidFill>
                  <a:schemeClr val="accent1"/>
                </a:solidFill>
              </a:rPr>
              <a:t>tinh</a:t>
            </a:r>
            <a:r>
              <a:rPr lang="en-US" sz="2000" dirty="0">
                <a:solidFill>
                  <a:schemeClr val="accent1"/>
                </a:solidFill>
              </a:rPr>
              <a:t>", </a:t>
            </a:r>
            <a:r>
              <a:rPr lang="en-US" sz="2000" dirty="0" err="1">
                <a:solidFill>
                  <a:schemeClr val="accent1"/>
                </a:solidFill>
              </a:rPr>
              <a:t>txtCity.Text</a:t>
            </a:r>
            <a:r>
              <a:rPr lang="en-US" sz="2000" dirty="0">
                <a:solidFill>
                  <a:schemeClr val="accent1"/>
                </a:solidFill>
              </a:rPr>
              <a:t>));</a:t>
            </a:r>
          </a:p>
          <a:p>
            <a:r>
              <a:rPr lang="en-US" dirty="0" err="1"/>
              <a:t>Thực</a:t>
            </a:r>
            <a:r>
              <a:rPr lang="en-US" dirty="0"/>
              <a:t> </a:t>
            </a:r>
            <a:r>
              <a:rPr lang="en-US" dirty="0" err="1"/>
              <a:t>thi</a:t>
            </a:r>
            <a:r>
              <a:rPr lang="en-US" dirty="0"/>
              <a:t> </a:t>
            </a:r>
            <a:r>
              <a:rPr lang="en-US" dirty="0" err="1"/>
              <a:t>câu</a:t>
            </a:r>
            <a:r>
              <a:rPr lang="en-US" dirty="0"/>
              <a:t> </a:t>
            </a:r>
            <a:r>
              <a:rPr lang="en-US" dirty="0" err="1"/>
              <a:t>lệnh</a:t>
            </a:r>
            <a:r>
              <a:rPr lang="en-US" dirty="0"/>
              <a:t> </a:t>
            </a:r>
            <a:r>
              <a:rPr lang="en-US" dirty="0" err="1"/>
              <a:t>thêm</a:t>
            </a:r>
            <a:r>
              <a:rPr lang="en-US" dirty="0"/>
              <a:t> </a:t>
            </a:r>
            <a:r>
              <a:rPr lang="en-US" dirty="0" err="1"/>
              <a:t>mới</a:t>
            </a:r>
            <a:r>
              <a:rPr lang="en-US" sz="2200" dirty="0">
                <a:solidFill>
                  <a:schemeClr val="accent1"/>
                </a:solidFill>
              </a:rPr>
              <a:t>: </a:t>
            </a:r>
            <a:r>
              <a:rPr lang="en-US" sz="2200" dirty="0" err="1">
                <a:solidFill>
                  <a:schemeClr val="accent1"/>
                </a:solidFill>
              </a:rPr>
              <a:t>cmd.ExecuteNonQuery</a:t>
            </a:r>
            <a:r>
              <a:rPr lang="en-US" sz="2200" dirty="0">
                <a:solidFill>
                  <a:schemeClr val="accent1"/>
                </a:solidFill>
              </a:rPr>
              <a:t>(); </a:t>
            </a:r>
          </a:p>
        </p:txBody>
      </p:sp>
      <p:sp>
        <p:nvSpPr>
          <p:cNvPr id="4" name="Slide Number Placeholder 3"/>
          <p:cNvSpPr>
            <a:spLocks noGrp="1"/>
          </p:cNvSpPr>
          <p:nvPr>
            <p:ph type="sldNum" sz="quarter" idx="10"/>
          </p:nvPr>
        </p:nvSpPr>
        <p:spPr/>
        <p:txBody>
          <a:bodyPr/>
          <a:lstStyle/>
          <a:p>
            <a:fld id="{2AEE2371-D0CC-4967-BE28-70407D2A399D}" type="slidenum">
              <a:rPr lang="en-US" smtClean="0"/>
              <a:t>19</a:t>
            </a:fld>
            <a:endParaRPr lang="en-US"/>
          </a:p>
        </p:txBody>
      </p:sp>
    </p:spTree>
    <p:extLst>
      <p:ext uri="{BB962C8B-B14F-4D97-AF65-F5344CB8AC3E}">
        <p14:creationId xmlns:p14="http://schemas.microsoft.com/office/powerpoint/2010/main" val="29597351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update </a:t>
            </a:r>
            <a:r>
              <a:rPr lang="en-US" dirty="0" err="1"/>
              <a:t>dữ</a:t>
            </a:r>
            <a:r>
              <a:rPr lang="en-US" dirty="0"/>
              <a:t> </a:t>
            </a:r>
            <a:r>
              <a:rPr lang="en-US" dirty="0" err="1"/>
              <a:t>liệu</a:t>
            </a:r>
            <a:endParaRPr lang="en-US" dirty="0"/>
          </a:p>
        </p:txBody>
      </p:sp>
      <p:sp>
        <p:nvSpPr>
          <p:cNvPr id="3" name="Content Placeholder 2"/>
          <p:cNvSpPr>
            <a:spLocks noGrp="1"/>
          </p:cNvSpPr>
          <p:nvPr>
            <p:ph idx="1"/>
          </p:nvPr>
        </p:nvSpPr>
        <p:spPr>
          <a:xfrm>
            <a:off x="831852" y="1750289"/>
            <a:ext cx="10367433" cy="3902075"/>
          </a:xfrm>
        </p:spPr>
        <p:txBody>
          <a:bodyPr/>
          <a:lstStyle/>
          <a:p>
            <a:r>
              <a:rPr lang="en-US" dirty="0"/>
              <a:t>// Define ADO.NET objects.    </a:t>
            </a:r>
          </a:p>
          <a:p>
            <a:r>
              <a:rPr lang="en-US" dirty="0">
                <a:solidFill>
                  <a:schemeClr val="accent1"/>
                </a:solidFill>
              </a:rPr>
              <a:t>string </a:t>
            </a:r>
            <a:r>
              <a:rPr lang="en-US" dirty="0" err="1">
                <a:solidFill>
                  <a:schemeClr val="accent1"/>
                </a:solidFill>
              </a:rPr>
              <a:t>updateSQL</a:t>
            </a:r>
            <a:r>
              <a:rPr lang="en-US" dirty="0">
                <a:solidFill>
                  <a:schemeClr val="accent1"/>
                </a:solidFill>
              </a:rPr>
              <a:t>;         </a:t>
            </a:r>
            <a:br>
              <a:rPr lang="en-US" dirty="0">
                <a:solidFill>
                  <a:schemeClr val="accent1"/>
                </a:solidFill>
              </a:rPr>
            </a:br>
            <a:r>
              <a:rPr lang="en-US" dirty="0" err="1">
                <a:solidFill>
                  <a:schemeClr val="accent1"/>
                </a:solidFill>
              </a:rPr>
              <a:t>updateSQL</a:t>
            </a:r>
            <a:r>
              <a:rPr lang="en-US" dirty="0">
                <a:solidFill>
                  <a:schemeClr val="accent1"/>
                </a:solidFill>
              </a:rPr>
              <a:t> = "UPDATE </a:t>
            </a:r>
            <a:r>
              <a:rPr lang="en-US" dirty="0" err="1">
                <a:solidFill>
                  <a:schemeClr val="accent1"/>
                </a:solidFill>
              </a:rPr>
              <a:t>canbo</a:t>
            </a:r>
            <a:r>
              <a:rPr lang="en-US" dirty="0">
                <a:solidFill>
                  <a:schemeClr val="accent1"/>
                </a:solidFill>
              </a:rPr>
              <a:t> SET ";         </a:t>
            </a:r>
            <a:br>
              <a:rPr lang="en-US" dirty="0">
                <a:solidFill>
                  <a:schemeClr val="accent1"/>
                </a:solidFill>
              </a:rPr>
            </a:br>
            <a:r>
              <a:rPr lang="en-US" dirty="0" err="1">
                <a:solidFill>
                  <a:schemeClr val="accent1"/>
                </a:solidFill>
              </a:rPr>
              <a:t>updateSQL</a:t>
            </a:r>
            <a:r>
              <a:rPr lang="en-US" dirty="0">
                <a:solidFill>
                  <a:schemeClr val="accent1"/>
                </a:solidFill>
              </a:rPr>
              <a:t> += “</a:t>
            </a:r>
            <a:r>
              <a:rPr lang="en-US" dirty="0" err="1">
                <a:solidFill>
                  <a:schemeClr val="accent1"/>
                </a:solidFill>
              </a:rPr>
              <a:t>tenCB</a:t>
            </a:r>
            <a:r>
              <a:rPr lang="en-US" dirty="0">
                <a:solidFill>
                  <a:schemeClr val="accent1"/>
                </a:solidFill>
              </a:rPr>
              <a:t>=@</a:t>
            </a:r>
            <a:r>
              <a:rPr lang="en-US" dirty="0" err="1">
                <a:solidFill>
                  <a:schemeClr val="accent1"/>
                </a:solidFill>
              </a:rPr>
              <a:t>tenCB</a:t>
            </a:r>
            <a:r>
              <a:rPr lang="en-US" dirty="0">
                <a:solidFill>
                  <a:schemeClr val="accent1"/>
                </a:solidFill>
              </a:rPr>
              <a:t>, </a:t>
            </a:r>
            <a:r>
              <a:rPr lang="en-US" dirty="0" err="1">
                <a:solidFill>
                  <a:schemeClr val="accent1"/>
                </a:solidFill>
              </a:rPr>
              <a:t>ngaysinh</a:t>
            </a:r>
            <a:r>
              <a:rPr lang="en-US" dirty="0">
                <a:solidFill>
                  <a:schemeClr val="accent1"/>
                </a:solidFill>
              </a:rPr>
              <a:t>=@</a:t>
            </a:r>
            <a:r>
              <a:rPr lang="en-US" dirty="0" err="1">
                <a:solidFill>
                  <a:schemeClr val="accent1"/>
                </a:solidFill>
              </a:rPr>
              <a:t>ngaysinh</a:t>
            </a:r>
            <a:r>
              <a:rPr lang="en-US" dirty="0">
                <a:solidFill>
                  <a:schemeClr val="accent1"/>
                </a:solidFill>
              </a:rPr>
              <a:t>, ";         </a:t>
            </a:r>
            <a:br>
              <a:rPr lang="en-US" dirty="0">
                <a:solidFill>
                  <a:schemeClr val="accent1"/>
                </a:solidFill>
              </a:rPr>
            </a:br>
            <a:r>
              <a:rPr lang="en-US" dirty="0" err="1">
                <a:solidFill>
                  <a:schemeClr val="accent1"/>
                </a:solidFill>
              </a:rPr>
              <a:t>updateSQL</a:t>
            </a:r>
            <a:r>
              <a:rPr lang="en-US" dirty="0">
                <a:solidFill>
                  <a:schemeClr val="accent1"/>
                </a:solidFill>
              </a:rPr>
              <a:t> += “</a:t>
            </a:r>
            <a:r>
              <a:rPr lang="en-US" dirty="0" err="1">
                <a:solidFill>
                  <a:schemeClr val="accent1"/>
                </a:solidFill>
              </a:rPr>
              <a:t>gioitinh</a:t>
            </a:r>
            <a:r>
              <a:rPr lang="en-US" dirty="0">
                <a:solidFill>
                  <a:schemeClr val="accent1"/>
                </a:solidFill>
              </a:rPr>
              <a:t>=@</a:t>
            </a:r>
            <a:r>
              <a:rPr lang="en-US" dirty="0" err="1">
                <a:solidFill>
                  <a:schemeClr val="accent1"/>
                </a:solidFill>
              </a:rPr>
              <a:t>gioitinh,tinh</a:t>
            </a:r>
            <a:r>
              <a:rPr lang="en-US" dirty="0">
                <a:solidFill>
                  <a:schemeClr val="accent1"/>
                </a:solidFill>
              </a:rPr>
              <a:t>=@</a:t>
            </a:r>
            <a:r>
              <a:rPr lang="en-US" dirty="0" err="1">
                <a:solidFill>
                  <a:schemeClr val="accent1"/>
                </a:solidFill>
              </a:rPr>
              <a:t>tinh</a:t>
            </a:r>
            <a:r>
              <a:rPr lang="en-US" dirty="0">
                <a:solidFill>
                  <a:schemeClr val="accent1"/>
                </a:solidFill>
              </a:rPr>
              <a:t> ";</a:t>
            </a:r>
            <a:br>
              <a:rPr lang="en-US" dirty="0">
                <a:solidFill>
                  <a:schemeClr val="accent1"/>
                </a:solidFill>
              </a:rPr>
            </a:br>
            <a:r>
              <a:rPr lang="en-US" dirty="0" err="1">
                <a:solidFill>
                  <a:schemeClr val="accent1"/>
                </a:solidFill>
              </a:rPr>
              <a:t>updateSQL</a:t>
            </a:r>
            <a:r>
              <a:rPr lang="en-US" dirty="0">
                <a:solidFill>
                  <a:schemeClr val="accent1"/>
                </a:solidFill>
              </a:rPr>
              <a:t> += "WHERE </a:t>
            </a:r>
            <a:r>
              <a:rPr lang="en-US" dirty="0" err="1">
                <a:solidFill>
                  <a:schemeClr val="accent1"/>
                </a:solidFill>
              </a:rPr>
              <a:t>maCB</a:t>
            </a:r>
            <a:r>
              <a:rPr lang="en-US" dirty="0">
                <a:solidFill>
                  <a:schemeClr val="accent1"/>
                </a:solidFill>
              </a:rPr>
              <a:t>=@</a:t>
            </a:r>
            <a:r>
              <a:rPr lang="en-US" dirty="0" err="1">
                <a:solidFill>
                  <a:schemeClr val="accent1"/>
                </a:solidFill>
              </a:rPr>
              <a:t>maCB</a:t>
            </a:r>
            <a:r>
              <a:rPr lang="en-US" dirty="0">
                <a:solidFill>
                  <a:schemeClr val="accent1"/>
                </a:solidFill>
              </a:rPr>
              <a:t>"; </a:t>
            </a:r>
          </a:p>
          <a:p>
            <a:r>
              <a:rPr lang="en-US" dirty="0" err="1">
                <a:solidFill>
                  <a:schemeClr val="accent1"/>
                </a:solidFill>
              </a:rPr>
              <a:t>SqlConnection</a:t>
            </a:r>
            <a:r>
              <a:rPr lang="en-US" dirty="0">
                <a:solidFill>
                  <a:schemeClr val="accent1"/>
                </a:solidFill>
              </a:rPr>
              <a:t> con = new </a:t>
            </a:r>
            <a:r>
              <a:rPr lang="en-US" dirty="0" err="1">
                <a:solidFill>
                  <a:schemeClr val="accent1"/>
                </a:solidFill>
              </a:rPr>
              <a:t>SqlConnection</a:t>
            </a:r>
            <a:r>
              <a:rPr lang="en-US" dirty="0">
                <a:solidFill>
                  <a:schemeClr val="accent1"/>
                </a:solidFill>
              </a:rPr>
              <a:t>(</a:t>
            </a:r>
            <a:r>
              <a:rPr lang="en-US" dirty="0" err="1">
                <a:solidFill>
                  <a:schemeClr val="accent1"/>
                </a:solidFill>
              </a:rPr>
              <a:t>connectionString</a:t>
            </a:r>
            <a:r>
              <a:rPr lang="en-US" dirty="0">
                <a:solidFill>
                  <a:schemeClr val="accent1"/>
                </a:solidFill>
              </a:rPr>
              <a:t>);         </a:t>
            </a:r>
            <a:r>
              <a:rPr lang="en-US" dirty="0" err="1">
                <a:solidFill>
                  <a:schemeClr val="accent1"/>
                </a:solidFill>
              </a:rPr>
              <a:t>SqlCommand</a:t>
            </a:r>
            <a:r>
              <a:rPr lang="en-US" dirty="0">
                <a:solidFill>
                  <a:schemeClr val="accent1"/>
                </a:solidFill>
              </a:rPr>
              <a:t> </a:t>
            </a:r>
            <a:r>
              <a:rPr lang="en-US" dirty="0" err="1">
                <a:solidFill>
                  <a:schemeClr val="accent1"/>
                </a:solidFill>
              </a:rPr>
              <a:t>cmd</a:t>
            </a:r>
            <a:r>
              <a:rPr lang="en-US" dirty="0">
                <a:solidFill>
                  <a:schemeClr val="accent1"/>
                </a:solidFill>
              </a:rPr>
              <a:t> = new </a:t>
            </a:r>
            <a:r>
              <a:rPr lang="en-US" dirty="0" err="1">
                <a:solidFill>
                  <a:schemeClr val="accent1"/>
                </a:solidFill>
              </a:rPr>
              <a:t>SqlCommand</a:t>
            </a:r>
            <a:r>
              <a:rPr lang="en-US" dirty="0">
                <a:solidFill>
                  <a:schemeClr val="accent1"/>
                </a:solidFill>
              </a:rPr>
              <a:t>(</a:t>
            </a:r>
            <a:r>
              <a:rPr lang="en-US" dirty="0" err="1">
                <a:solidFill>
                  <a:schemeClr val="accent1"/>
                </a:solidFill>
              </a:rPr>
              <a:t>updateSQL</a:t>
            </a:r>
            <a:r>
              <a:rPr lang="en-US" dirty="0">
                <a:solidFill>
                  <a:schemeClr val="accent1"/>
                </a:solidFill>
              </a:rPr>
              <a:t>, con);</a:t>
            </a:r>
          </a:p>
        </p:txBody>
      </p:sp>
      <p:sp>
        <p:nvSpPr>
          <p:cNvPr id="4" name="Slide Number Placeholder 3"/>
          <p:cNvSpPr>
            <a:spLocks noGrp="1"/>
          </p:cNvSpPr>
          <p:nvPr>
            <p:ph type="sldNum" sz="quarter" idx="10"/>
          </p:nvPr>
        </p:nvSpPr>
        <p:spPr/>
        <p:txBody>
          <a:bodyPr/>
          <a:lstStyle/>
          <a:p>
            <a:fld id="{2AEE2371-D0CC-4967-BE28-70407D2A399D}" type="slidenum">
              <a:rPr lang="en-US" smtClean="0"/>
              <a:t>20</a:t>
            </a:fld>
            <a:endParaRPr lang="en-US"/>
          </a:p>
        </p:txBody>
      </p:sp>
    </p:spTree>
    <p:extLst>
      <p:ext uri="{BB962C8B-B14F-4D97-AF65-F5344CB8AC3E}">
        <p14:creationId xmlns:p14="http://schemas.microsoft.com/office/powerpoint/2010/main" val="4209094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update </a:t>
            </a:r>
            <a:r>
              <a:rPr lang="en-US" dirty="0" err="1"/>
              <a:t>dữ</a:t>
            </a:r>
            <a:r>
              <a:rPr lang="en-US" dirty="0"/>
              <a:t> </a:t>
            </a:r>
            <a:r>
              <a:rPr lang="en-US" dirty="0" err="1"/>
              <a:t>liệu</a:t>
            </a:r>
            <a:r>
              <a:rPr lang="en-US" dirty="0"/>
              <a:t> (</a:t>
            </a:r>
            <a:r>
              <a:rPr lang="en-US" dirty="0" err="1"/>
              <a:t>tiếp</a:t>
            </a:r>
            <a:r>
              <a:rPr lang="en-US" dirty="0"/>
              <a:t>)</a:t>
            </a:r>
          </a:p>
        </p:txBody>
      </p:sp>
      <p:sp>
        <p:nvSpPr>
          <p:cNvPr id="3" name="Content Placeholder 2"/>
          <p:cNvSpPr>
            <a:spLocks noGrp="1"/>
          </p:cNvSpPr>
          <p:nvPr>
            <p:ph idx="1"/>
          </p:nvPr>
        </p:nvSpPr>
        <p:spPr>
          <a:xfrm>
            <a:off x="831852" y="1750289"/>
            <a:ext cx="10367433" cy="3902075"/>
          </a:xfrm>
        </p:spPr>
        <p:txBody>
          <a:bodyPr/>
          <a:lstStyle/>
          <a:p>
            <a:r>
              <a:rPr lang="en-US" dirty="0"/>
              <a:t> // Add the parameters.                 </a:t>
            </a:r>
            <a:r>
              <a:rPr lang="en-US" dirty="0" err="1">
                <a:solidFill>
                  <a:schemeClr val="accent1"/>
                </a:solidFill>
              </a:rPr>
              <a:t>cmd.Parameters.AddWithValue</a:t>
            </a:r>
            <a:r>
              <a:rPr lang="en-US" dirty="0">
                <a:solidFill>
                  <a:schemeClr val="accent1"/>
                </a:solidFill>
              </a:rPr>
              <a:t>("@</a:t>
            </a:r>
            <a:r>
              <a:rPr lang="en-US" dirty="0" err="1">
                <a:solidFill>
                  <a:schemeClr val="accent1"/>
                </a:solidFill>
              </a:rPr>
              <a:t>tenCB</a:t>
            </a:r>
            <a:r>
              <a:rPr lang="en-US" dirty="0">
                <a:solidFill>
                  <a:schemeClr val="accent1"/>
                </a:solidFill>
              </a:rPr>
              <a:t>", </a:t>
            </a:r>
            <a:r>
              <a:rPr lang="en-US" dirty="0" err="1">
                <a:solidFill>
                  <a:schemeClr val="accent1"/>
                </a:solidFill>
              </a:rPr>
              <a:t>txtName.Text</a:t>
            </a:r>
            <a:r>
              <a:rPr lang="en-US" dirty="0">
                <a:solidFill>
                  <a:schemeClr val="accent1"/>
                </a:solidFill>
              </a:rPr>
              <a:t>);         </a:t>
            </a:r>
            <a:r>
              <a:rPr lang="en-US" dirty="0" err="1">
                <a:solidFill>
                  <a:schemeClr val="accent1"/>
                </a:solidFill>
              </a:rPr>
              <a:t>cmd.Parameters.AddWithValue</a:t>
            </a:r>
            <a:r>
              <a:rPr lang="en-US" dirty="0">
                <a:solidFill>
                  <a:schemeClr val="accent1"/>
                </a:solidFill>
              </a:rPr>
              <a:t>("@</a:t>
            </a:r>
            <a:r>
              <a:rPr lang="en-US" dirty="0" err="1">
                <a:solidFill>
                  <a:schemeClr val="accent1"/>
                </a:solidFill>
              </a:rPr>
              <a:t>ngaysinh</a:t>
            </a:r>
            <a:r>
              <a:rPr lang="en-US" dirty="0">
                <a:solidFill>
                  <a:schemeClr val="accent1"/>
                </a:solidFill>
              </a:rPr>
              <a:t>", </a:t>
            </a:r>
            <a:r>
              <a:rPr lang="en-US" dirty="0" err="1">
                <a:solidFill>
                  <a:schemeClr val="accent1"/>
                </a:solidFill>
              </a:rPr>
              <a:t>txtBDay.Text</a:t>
            </a:r>
            <a:r>
              <a:rPr lang="en-US" dirty="0">
                <a:solidFill>
                  <a:schemeClr val="accent1"/>
                </a:solidFill>
              </a:rPr>
              <a:t>);         </a:t>
            </a:r>
            <a:r>
              <a:rPr lang="en-US" dirty="0" err="1">
                <a:solidFill>
                  <a:schemeClr val="accent1"/>
                </a:solidFill>
              </a:rPr>
              <a:t>cmd.Parameters.AddWithValue</a:t>
            </a:r>
            <a:r>
              <a:rPr lang="en-US" dirty="0">
                <a:solidFill>
                  <a:schemeClr val="accent1"/>
                </a:solidFill>
              </a:rPr>
              <a:t>("@</a:t>
            </a:r>
            <a:r>
              <a:rPr lang="en-US" dirty="0" err="1">
                <a:solidFill>
                  <a:schemeClr val="accent1"/>
                </a:solidFill>
              </a:rPr>
              <a:t>gioitinh</a:t>
            </a:r>
            <a:r>
              <a:rPr lang="en-US" dirty="0">
                <a:solidFill>
                  <a:schemeClr val="accent1"/>
                </a:solidFill>
              </a:rPr>
              <a:t>", </a:t>
            </a:r>
            <a:r>
              <a:rPr lang="en-US" dirty="0" err="1">
                <a:solidFill>
                  <a:schemeClr val="accent1"/>
                </a:solidFill>
              </a:rPr>
              <a:t>txtGT.Text</a:t>
            </a:r>
            <a:r>
              <a:rPr lang="en-US" dirty="0">
                <a:solidFill>
                  <a:schemeClr val="accent1"/>
                </a:solidFill>
              </a:rPr>
              <a:t>);         </a:t>
            </a:r>
            <a:r>
              <a:rPr lang="en-US" dirty="0" err="1">
                <a:solidFill>
                  <a:schemeClr val="accent1"/>
                </a:solidFill>
              </a:rPr>
              <a:t>cmd.Parameters.AddWithValue</a:t>
            </a:r>
            <a:r>
              <a:rPr lang="en-US" dirty="0">
                <a:solidFill>
                  <a:schemeClr val="accent1"/>
                </a:solidFill>
              </a:rPr>
              <a:t>("@</a:t>
            </a:r>
            <a:r>
              <a:rPr lang="en-US" dirty="0" err="1">
                <a:solidFill>
                  <a:schemeClr val="accent1"/>
                </a:solidFill>
              </a:rPr>
              <a:t>tinh</a:t>
            </a:r>
            <a:r>
              <a:rPr lang="en-US" dirty="0">
                <a:solidFill>
                  <a:schemeClr val="accent1"/>
                </a:solidFill>
              </a:rPr>
              <a:t>", </a:t>
            </a:r>
            <a:r>
              <a:rPr lang="en-US" dirty="0" err="1">
                <a:solidFill>
                  <a:schemeClr val="accent1"/>
                </a:solidFill>
              </a:rPr>
              <a:t>txtCity.Text</a:t>
            </a:r>
            <a:r>
              <a:rPr lang="en-US" dirty="0">
                <a:solidFill>
                  <a:schemeClr val="accent1"/>
                </a:solidFill>
              </a:rPr>
              <a:t>); </a:t>
            </a:r>
          </a:p>
          <a:p>
            <a:r>
              <a:rPr lang="en-US" dirty="0"/>
              <a:t>//</a:t>
            </a:r>
            <a:r>
              <a:rPr lang="en-US" dirty="0" err="1"/>
              <a:t>Thực</a:t>
            </a:r>
            <a:r>
              <a:rPr lang="en-US" dirty="0"/>
              <a:t> </a:t>
            </a:r>
            <a:r>
              <a:rPr lang="en-US" dirty="0" err="1"/>
              <a:t>thi</a:t>
            </a:r>
            <a:r>
              <a:rPr lang="en-US" dirty="0"/>
              <a:t> update </a:t>
            </a:r>
            <a:r>
              <a:rPr lang="en-US" dirty="0" err="1"/>
              <a:t>dữ</a:t>
            </a:r>
            <a:r>
              <a:rPr lang="en-US" dirty="0"/>
              <a:t> </a:t>
            </a:r>
            <a:r>
              <a:rPr lang="en-US" dirty="0" err="1"/>
              <a:t>liệu</a:t>
            </a:r>
            <a:br>
              <a:rPr lang="en-US" dirty="0"/>
            </a:br>
            <a:r>
              <a:rPr lang="en-US" dirty="0" err="1">
                <a:solidFill>
                  <a:schemeClr val="accent1"/>
                </a:solidFill>
              </a:rPr>
              <a:t>cmd.ExecuteNonQuery</a:t>
            </a:r>
            <a:r>
              <a:rPr lang="en-US" dirty="0">
                <a:solidFill>
                  <a:schemeClr val="accent1"/>
                </a:solidFill>
              </a:rPr>
              <a:t>();</a:t>
            </a:r>
          </a:p>
        </p:txBody>
      </p:sp>
      <p:sp>
        <p:nvSpPr>
          <p:cNvPr id="4" name="Slide Number Placeholder 3"/>
          <p:cNvSpPr>
            <a:spLocks noGrp="1"/>
          </p:cNvSpPr>
          <p:nvPr>
            <p:ph type="sldNum" sz="quarter" idx="10"/>
          </p:nvPr>
        </p:nvSpPr>
        <p:spPr/>
        <p:txBody>
          <a:bodyPr/>
          <a:lstStyle/>
          <a:p>
            <a:fld id="{2AEE2371-D0CC-4967-BE28-70407D2A399D}" type="slidenum">
              <a:rPr lang="en-US" smtClean="0"/>
              <a:t>21</a:t>
            </a:fld>
            <a:endParaRPr lang="en-US"/>
          </a:p>
        </p:txBody>
      </p:sp>
    </p:spTree>
    <p:extLst>
      <p:ext uri="{BB962C8B-B14F-4D97-AF65-F5344CB8AC3E}">
        <p14:creationId xmlns:p14="http://schemas.microsoft.com/office/powerpoint/2010/main" val="297304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xóa</a:t>
            </a:r>
            <a:r>
              <a:rPr lang="en-US" dirty="0"/>
              <a:t> </a:t>
            </a:r>
            <a:r>
              <a:rPr lang="en-US" dirty="0" err="1"/>
              <a:t>dữ</a:t>
            </a:r>
            <a:r>
              <a:rPr lang="en-US" dirty="0"/>
              <a:t> </a:t>
            </a:r>
            <a:r>
              <a:rPr lang="en-US" dirty="0" err="1"/>
              <a:t>liệu</a:t>
            </a:r>
            <a:endParaRPr lang="en-US" dirty="0"/>
          </a:p>
        </p:txBody>
      </p:sp>
      <p:sp>
        <p:nvSpPr>
          <p:cNvPr id="3" name="Content Placeholder 2"/>
          <p:cNvSpPr>
            <a:spLocks noGrp="1"/>
          </p:cNvSpPr>
          <p:nvPr>
            <p:ph idx="1"/>
          </p:nvPr>
        </p:nvSpPr>
        <p:spPr>
          <a:xfrm>
            <a:off x="914401" y="1776414"/>
            <a:ext cx="10685416" cy="3902075"/>
          </a:xfrm>
        </p:spPr>
        <p:txBody>
          <a:bodyPr/>
          <a:lstStyle/>
          <a:p>
            <a:r>
              <a:rPr lang="en-US" dirty="0"/>
              <a:t>// Define ADO.NET objects.         </a:t>
            </a:r>
          </a:p>
          <a:p>
            <a:pPr marL="455612" lvl="2" indent="0">
              <a:buNone/>
            </a:pPr>
            <a:r>
              <a:rPr lang="en-US" sz="2200" dirty="0">
                <a:solidFill>
                  <a:schemeClr val="accent1"/>
                </a:solidFill>
              </a:rPr>
              <a:t>string </a:t>
            </a:r>
            <a:r>
              <a:rPr lang="en-US" sz="2200" dirty="0" err="1">
                <a:solidFill>
                  <a:schemeClr val="accent1"/>
                </a:solidFill>
              </a:rPr>
              <a:t>deleteSQL</a:t>
            </a:r>
            <a:r>
              <a:rPr lang="en-US" sz="2200" dirty="0">
                <a:solidFill>
                  <a:schemeClr val="accent1"/>
                </a:solidFill>
              </a:rPr>
              <a:t>;         </a:t>
            </a:r>
            <a:br>
              <a:rPr lang="en-US" sz="2200" dirty="0">
                <a:solidFill>
                  <a:schemeClr val="accent1"/>
                </a:solidFill>
              </a:rPr>
            </a:br>
            <a:r>
              <a:rPr lang="en-US" sz="2200" dirty="0" err="1">
                <a:solidFill>
                  <a:schemeClr val="accent1"/>
                </a:solidFill>
              </a:rPr>
              <a:t>deleteSQL</a:t>
            </a:r>
            <a:r>
              <a:rPr lang="en-US" sz="2200" dirty="0">
                <a:solidFill>
                  <a:schemeClr val="accent1"/>
                </a:solidFill>
              </a:rPr>
              <a:t> = "DELETE FROM </a:t>
            </a:r>
            <a:r>
              <a:rPr lang="en-US" sz="2200" dirty="0" err="1">
                <a:solidFill>
                  <a:schemeClr val="accent1"/>
                </a:solidFill>
              </a:rPr>
              <a:t>canbo</a:t>
            </a:r>
            <a:r>
              <a:rPr lang="en-US" sz="2200" dirty="0">
                <a:solidFill>
                  <a:schemeClr val="accent1"/>
                </a:solidFill>
              </a:rPr>
              <a:t> ";         </a:t>
            </a:r>
            <a:br>
              <a:rPr lang="en-US" sz="2200" dirty="0">
                <a:solidFill>
                  <a:schemeClr val="accent1"/>
                </a:solidFill>
              </a:rPr>
            </a:br>
            <a:r>
              <a:rPr lang="en-US" sz="2200" dirty="0" err="1">
                <a:solidFill>
                  <a:schemeClr val="accent1"/>
                </a:solidFill>
              </a:rPr>
              <a:t>deleteSQL</a:t>
            </a:r>
            <a:r>
              <a:rPr lang="en-US" sz="2200" dirty="0">
                <a:solidFill>
                  <a:schemeClr val="accent1"/>
                </a:solidFill>
              </a:rPr>
              <a:t> += "WHERE </a:t>
            </a:r>
            <a:r>
              <a:rPr lang="en-US" sz="2200" dirty="0" err="1">
                <a:solidFill>
                  <a:schemeClr val="accent1"/>
                </a:solidFill>
              </a:rPr>
              <a:t>maCB</a:t>
            </a:r>
            <a:r>
              <a:rPr lang="en-US" sz="2200" dirty="0">
                <a:solidFill>
                  <a:schemeClr val="accent1"/>
                </a:solidFill>
              </a:rPr>
              <a:t>=@</a:t>
            </a:r>
            <a:r>
              <a:rPr lang="en-US" sz="2200" dirty="0" err="1">
                <a:solidFill>
                  <a:schemeClr val="accent1"/>
                </a:solidFill>
              </a:rPr>
              <a:t>maCB</a:t>
            </a:r>
            <a:r>
              <a:rPr lang="en-US" sz="2200" dirty="0">
                <a:solidFill>
                  <a:schemeClr val="accent1"/>
                </a:solidFill>
              </a:rPr>
              <a:t>"; </a:t>
            </a:r>
          </a:p>
          <a:p>
            <a:pPr marL="455612" lvl="2" indent="0">
              <a:buNone/>
            </a:pPr>
            <a:r>
              <a:rPr lang="en-US" sz="2200" dirty="0" err="1">
                <a:solidFill>
                  <a:schemeClr val="accent1"/>
                </a:solidFill>
              </a:rPr>
              <a:t>SqlConnection</a:t>
            </a:r>
            <a:r>
              <a:rPr lang="en-US" sz="2200" dirty="0">
                <a:solidFill>
                  <a:schemeClr val="accent1"/>
                </a:solidFill>
              </a:rPr>
              <a:t> con = new </a:t>
            </a:r>
            <a:r>
              <a:rPr lang="en-US" sz="2200" dirty="0" err="1">
                <a:solidFill>
                  <a:schemeClr val="accent1"/>
                </a:solidFill>
              </a:rPr>
              <a:t>SqlConnection</a:t>
            </a:r>
            <a:r>
              <a:rPr lang="en-US" sz="2200" dirty="0">
                <a:solidFill>
                  <a:schemeClr val="accent1"/>
                </a:solidFill>
              </a:rPr>
              <a:t>(</a:t>
            </a:r>
            <a:r>
              <a:rPr lang="en-US" sz="2200" dirty="0" err="1">
                <a:solidFill>
                  <a:schemeClr val="accent1"/>
                </a:solidFill>
              </a:rPr>
              <a:t>connectionString</a:t>
            </a:r>
            <a:r>
              <a:rPr lang="en-US" sz="2200" dirty="0">
                <a:solidFill>
                  <a:schemeClr val="accent1"/>
                </a:solidFill>
              </a:rPr>
              <a:t>);        </a:t>
            </a:r>
            <a:br>
              <a:rPr lang="en-US" sz="2200" dirty="0">
                <a:solidFill>
                  <a:schemeClr val="accent1"/>
                </a:solidFill>
              </a:rPr>
            </a:br>
            <a:r>
              <a:rPr lang="en-US" sz="2200" dirty="0" err="1">
                <a:solidFill>
                  <a:schemeClr val="accent1"/>
                </a:solidFill>
              </a:rPr>
              <a:t>SqlCommand</a:t>
            </a:r>
            <a:r>
              <a:rPr lang="en-US" sz="2200" dirty="0">
                <a:solidFill>
                  <a:schemeClr val="accent1"/>
                </a:solidFill>
              </a:rPr>
              <a:t> </a:t>
            </a:r>
            <a:r>
              <a:rPr lang="en-US" sz="2200" dirty="0" err="1">
                <a:solidFill>
                  <a:schemeClr val="accent1"/>
                </a:solidFill>
              </a:rPr>
              <a:t>cmd</a:t>
            </a:r>
            <a:r>
              <a:rPr lang="en-US" sz="2200" dirty="0">
                <a:solidFill>
                  <a:schemeClr val="accent1"/>
                </a:solidFill>
              </a:rPr>
              <a:t> = new </a:t>
            </a:r>
            <a:r>
              <a:rPr lang="en-US" sz="2200" dirty="0" err="1">
                <a:solidFill>
                  <a:schemeClr val="accent1"/>
                </a:solidFill>
              </a:rPr>
              <a:t>SqlCommand</a:t>
            </a:r>
            <a:r>
              <a:rPr lang="en-US" sz="2200" dirty="0">
                <a:solidFill>
                  <a:schemeClr val="accent1"/>
                </a:solidFill>
              </a:rPr>
              <a:t>(</a:t>
            </a:r>
            <a:r>
              <a:rPr lang="en-US" sz="2200" dirty="0" err="1">
                <a:solidFill>
                  <a:schemeClr val="accent1"/>
                </a:solidFill>
              </a:rPr>
              <a:t>deleteSQL</a:t>
            </a:r>
            <a:r>
              <a:rPr lang="en-US" sz="2200" dirty="0">
                <a:solidFill>
                  <a:schemeClr val="accent1"/>
                </a:solidFill>
              </a:rPr>
              <a:t>, con); </a:t>
            </a:r>
          </a:p>
          <a:p>
            <a:pPr marL="455612" lvl="2" indent="0">
              <a:buNone/>
            </a:pPr>
            <a:r>
              <a:rPr lang="en-US" sz="2200" dirty="0" err="1">
                <a:solidFill>
                  <a:schemeClr val="accent1"/>
                </a:solidFill>
              </a:rPr>
              <a:t>cmd.Parameters.AddWithValue</a:t>
            </a:r>
            <a:r>
              <a:rPr lang="en-US" sz="2200" dirty="0">
                <a:solidFill>
                  <a:schemeClr val="accent1"/>
                </a:solidFill>
              </a:rPr>
              <a:t>("@</a:t>
            </a:r>
            <a:r>
              <a:rPr lang="en-US" sz="2200" dirty="0" err="1">
                <a:solidFill>
                  <a:schemeClr val="accent1"/>
                </a:solidFill>
              </a:rPr>
              <a:t>maCB</a:t>
            </a:r>
            <a:r>
              <a:rPr lang="en-US" sz="2200" dirty="0">
                <a:solidFill>
                  <a:schemeClr val="accent1"/>
                </a:solidFill>
              </a:rPr>
              <a:t> ", </a:t>
            </a:r>
            <a:r>
              <a:rPr lang="en-US" sz="2200" dirty="0" err="1">
                <a:solidFill>
                  <a:schemeClr val="accent1"/>
                </a:solidFill>
              </a:rPr>
              <a:t>lstmaCB.SelectedItem.Value</a:t>
            </a:r>
            <a:r>
              <a:rPr lang="en-US" sz="2200" dirty="0">
                <a:solidFill>
                  <a:schemeClr val="accent1"/>
                </a:solidFill>
              </a:rPr>
              <a:t>);</a:t>
            </a:r>
          </a:p>
          <a:p>
            <a:r>
              <a:rPr lang="en-US" dirty="0"/>
              <a:t>//</a:t>
            </a:r>
            <a:r>
              <a:rPr lang="en-US" dirty="0" err="1"/>
              <a:t>Thực</a:t>
            </a:r>
            <a:r>
              <a:rPr lang="en-US" dirty="0"/>
              <a:t> </a:t>
            </a:r>
            <a:r>
              <a:rPr lang="en-US" dirty="0" err="1"/>
              <a:t>thi</a:t>
            </a:r>
            <a:r>
              <a:rPr lang="en-US" dirty="0"/>
              <a:t> Delete </a:t>
            </a:r>
            <a:r>
              <a:rPr lang="en-US" dirty="0" err="1"/>
              <a:t>dữ</a:t>
            </a:r>
            <a:r>
              <a:rPr lang="en-US" dirty="0"/>
              <a:t> </a:t>
            </a:r>
            <a:r>
              <a:rPr lang="en-US" dirty="0" err="1"/>
              <a:t>liệu</a:t>
            </a:r>
            <a:endParaRPr lang="en-US" dirty="0"/>
          </a:p>
          <a:p>
            <a:pPr marL="455612" lvl="2" indent="0">
              <a:buNone/>
            </a:pPr>
            <a:r>
              <a:rPr lang="en-US" sz="2200" dirty="0" err="1">
                <a:solidFill>
                  <a:schemeClr val="accent1"/>
                </a:solidFill>
              </a:rPr>
              <a:t>con.Open</a:t>
            </a:r>
            <a:r>
              <a:rPr lang="en-US" sz="2200" dirty="0">
                <a:solidFill>
                  <a:schemeClr val="accent1"/>
                </a:solidFill>
              </a:rPr>
              <a:t>();</a:t>
            </a:r>
            <a:br>
              <a:rPr lang="en-US" sz="2200" dirty="0">
                <a:solidFill>
                  <a:schemeClr val="accent1"/>
                </a:solidFill>
              </a:rPr>
            </a:br>
            <a:r>
              <a:rPr lang="en-US" sz="2200" dirty="0" err="1">
                <a:solidFill>
                  <a:schemeClr val="accent1"/>
                </a:solidFill>
              </a:rPr>
              <a:t>cmd.ExecuteNonQuery</a:t>
            </a:r>
            <a:r>
              <a:rPr lang="en-US" sz="2200" dirty="0">
                <a:solidFill>
                  <a:schemeClr val="accent1"/>
                </a:solidFill>
              </a:rPr>
              <a:t>();</a:t>
            </a:r>
          </a:p>
          <a:p>
            <a:endParaRPr lang="en-US" dirty="0"/>
          </a:p>
          <a:p>
            <a:endParaRPr lang="en-US" dirty="0"/>
          </a:p>
        </p:txBody>
      </p:sp>
      <p:sp>
        <p:nvSpPr>
          <p:cNvPr id="4" name="Slide Number Placeholder 3"/>
          <p:cNvSpPr>
            <a:spLocks noGrp="1"/>
          </p:cNvSpPr>
          <p:nvPr>
            <p:ph type="sldNum" sz="quarter" idx="10"/>
          </p:nvPr>
        </p:nvSpPr>
        <p:spPr/>
        <p:txBody>
          <a:bodyPr/>
          <a:lstStyle/>
          <a:p>
            <a:fld id="{2AEE2371-D0CC-4967-BE28-70407D2A399D}" type="slidenum">
              <a:rPr lang="en-US" smtClean="0"/>
              <a:t>22</a:t>
            </a:fld>
            <a:endParaRPr lang="en-US"/>
          </a:p>
        </p:txBody>
      </p:sp>
    </p:spTree>
    <p:extLst>
      <p:ext uri="{BB962C8B-B14F-4D97-AF65-F5344CB8AC3E}">
        <p14:creationId xmlns:p14="http://schemas.microsoft.com/office/powerpoint/2010/main" val="42348441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59F8D-41DF-4000-1D67-7436D3213D35}"/>
              </a:ext>
            </a:extLst>
          </p:cNvPr>
          <p:cNvSpPr>
            <a:spLocks noGrp="1"/>
          </p:cNvSpPr>
          <p:nvPr>
            <p:ph type="title"/>
          </p:nvPr>
        </p:nvSpPr>
        <p:spPr/>
        <p:txBody>
          <a:bodyPr/>
          <a:lstStyle/>
          <a:p>
            <a:r>
              <a:rPr lang="en-US" dirty="0" err="1"/>
              <a:t>Sử</a:t>
            </a:r>
            <a:r>
              <a:rPr lang="en-US" dirty="0"/>
              <a:t> </a:t>
            </a:r>
            <a:r>
              <a:rPr lang="en-US" dirty="0" err="1"/>
              <a:t>dụng</a:t>
            </a:r>
            <a:r>
              <a:rPr lang="en-US" dirty="0"/>
              <a:t> </a:t>
            </a:r>
            <a:r>
              <a:rPr lang="en-US" dirty="0" err="1"/>
              <a:t>thủ</a:t>
            </a:r>
            <a:r>
              <a:rPr lang="en-US" dirty="0"/>
              <a:t> </a:t>
            </a:r>
            <a:r>
              <a:rPr lang="en-US" dirty="0" err="1"/>
              <a:t>tục</a:t>
            </a:r>
            <a:r>
              <a:rPr lang="en-US" dirty="0"/>
              <a:t> </a:t>
            </a:r>
            <a:r>
              <a:rPr lang="en-US" dirty="0" err="1"/>
              <a:t>nội</a:t>
            </a:r>
            <a:r>
              <a:rPr lang="en-US" dirty="0"/>
              <a:t> </a:t>
            </a:r>
            <a:r>
              <a:rPr lang="en-US" dirty="0" err="1"/>
              <a:t>tại</a:t>
            </a:r>
            <a:r>
              <a:rPr lang="en-US" dirty="0"/>
              <a:t> </a:t>
            </a:r>
            <a:r>
              <a:rPr lang="en-US" dirty="0" err="1"/>
              <a:t>thay</a:t>
            </a:r>
            <a:r>
              <a:rPr lang="en-US" dirty="0"/>
              <a:t> </a:t>
            </a:r>
            <a:r>
              <a:rPr lang="en-US" dirty="0" err="1"/>
              <a:t>cho</a:t>
            </a:r>
            <a:r>
              <a:rPr lang="en-US" dirty="0"/>
              <a:t> </a:t>
            </a:r>
            <a:r>
              <a:rPr lang="en-US" dirty="0" err="1"/>
              <a:t>câu</a:t>
            </a:r>
            <a:r>
              <a:rPr lang="en-US" dirty="0"/>
              <a:t> </a:t>
            </a:r>
            <a:r>
              <a:rPr lang="en-US" dirty="0" err="1"/>
              <a:t>lệnh</a:t>
            </a:r>
            <a:r>
              <a:rPr lang="en-US" dirty="0"/>
              <a:t> </a:t>
            </a:r>
            <a:r>
              <a:rPr lang="en-US" dirty="0" err="1"/>
              <a:t>truy</a:t>
            </a:r>
            <a:r>
              <a:rPr lang="en-US" dirty="0"/>
              <a:t> </a:t>
            </a:r>
            <a:r>
              <a:rPr lang="en-US" dirty="0" err="1"/>
              <a:t>vấn</a:t>
            </a:r>
            <a:r>
              <a:rPr lang="en-US" dirty="0"/>
              <a:t> SQL</a:t>
            </a:r>
          </a:p>
        </p:txBody>
      </p:sp>
      <p:sp>
        <p:nvSpPr>
          <p:cNvPr id="3" name="Content Placeholder 2">
            <a:extLst>
              <a:ext uri="{FF2B5EF4-FFF2-40B4-BE49-F238E27FC236}">
                <a16:creationId xmlns:a16="http://schemas.microsoft.com/office/drawing/2014/main" id="{5E3E890B-4725-4D9B-3938-C9A6C296E837}"/>
              </a:ext>
            </a:extLst>
          </p:cNvPr>
          <p:cNvSpPr>
            <a:spLocks noGrp="1"/>
          </p:cNvSpPr>
          <p:nvPr>
            <p:ph idx="1"/>
          </p:nvPr>
        </p:nvSpPr>
        <p:spPr>
          <a:xfrm>
            <a:off x="668741" y="1501254"/>
            <a:ext cx="10613094" cy="4485207"/>
          </a:xfrm>
        </p:spPr>
        <p:txBody>
          <a:bodyPr/>
          <a:lstStyle/>
          <a:p>
            <a:r>
              <a:rPr lang="en-US" dirty="0"/>
              <a:t>Ta </a:t>
            </a:r>
            <a:r>
              <a:rPr lang="en-US" dirty="0" err="1"/>
              <a:t>nhận</a:t>
            </a:r>
            <a:r>
              <a:rPr lang="en-US" dirty="0"/>
              <a:t> </a:t>
            </a:r>
            <a:r>
              <a:rPr lang="en-US" dirty="0" err="1"/>
              <a:t>thấy</a:t>
            </a:r>
            <a:r>
              <a:rPr lang="en-US" dirty="0"/>
              <a:t> </a:t>
            </a:r>
            <a:r>
              <a:rPr lang="en-US" dirty="0" err="1"/>
              <a:t>nếu</a:t>
            </a:r>
            <a:r>
              <a:rPr lang="en-US" dirty="0"/>
              <a:t> </a:t>
            </a:r>
            <a:r>
              <a:rPr lang="en-US" dirty="0" err="1"/>
              <a:t>viết</a:t>
            </a:r>
            <a:r>
              <a:rPr lang="en-US" dirty="0"/>
              <a:t> </a:t>
            </a:r>
            <a:r>
              <a:rPr lang="en-US" dirty="0" err="1"/>
              <a:t>trực</a:t>
            </a:r>
            <a:r>
              <a:rPr lang="en-US" dirty="0"/>
              <a:t> </a:t>
            </a:r>
            <a:r>
              <a:rPr lang="en-US" dirty="0" err="1"/>
              <a:t>tiếp</a:t>
            </a:r>
            <a:r>
              <a:rPr lang="en-US" dirty="0"/>
              <a:t> </a:t>
            </a:r>
            <a:r>
              <a:rPr lang="en-US" dirty="0" err="1"/>
              <a:t>câu</a:t>
            </a:r>
            <a:r>
              <a:rPr lang="en-US" dirty="0"/>
              <a:t> </a:t>
            </a:r>
            <a:r>
              <a:rPr lang="en-US" dirty="0" err="1"/>
              <a:t>lệnh</a:t>
            </a:r>
            <a:r>
              <a:rPr lang="en-US" dirty="0"/>
              <a:t> SQL </a:t>
            </a:r>
            <a:r>
              <a:rPr lang="en-US" dirty="0" err="1"/>
              <a:t>trong</a:t>
            </a:r>
            <a:r>
              <a:rPr lang="en-US" dirty="0"/>
              <a:t> </a:t>
            </a:r>
            <a:r>
              <a:rPr lang="en-US" dirty="0" err="1"/>
              <a:t>các</a:t>
            </a:r>
            <a:r>
              <a:rPr lang="en-US" dirty="0"/>
              <a:t> </a:t>
            </a:r>
            <a:r>
              <a:rPr lang="en-US" dirty="0" err="1"/>
              <a:t>trang</a:t>
            </a:r>
            <a:r>
              <a:rPr lang="en-US" dirty="0"/>
              <a:t> </a:t>
            </a:r>
            <a:r>
              <a:rPr lang="en-US" dirty="0" err="1"/>
              <a:t>WebForm</a:t>
            </a:r>
            <a:r>
              <a:rPr lang="en-US" dirty="0"/>
              <a:t> </a:t>
            </a:r>
            <a:r>
              <a:rPr lang="en-US" dirty="0" err="1"/>
              <a:t>sẽ</a:t>
            </a:r>
            <a:r>
              <a:rPr lang="en-US" dirty="0"/>
              <a:t> </a:t>
            </a:r>
            <a:r>
              <a:rPr lang="en-US" dirty="0" err="1"/>
              <a:t>có</a:t>
            </a:r>
            <a:r>
              <a:rPr lang="en-US" dirty="0"/>
              <a:t> </a:t>
            </a:r>
            <a:r>
              <a:rPr lang="en-US" dirty="0" err="1"/>
              <a:t>một</a:t>
            </a:r>
            <a:r>
              <a:rPr lang="en-US" dirty="0"/>
              <a:t> </a:t>
            </a:r>
            <a:r>
              <a:rPr lang="en-US" dirty="0" err="1"/>
              <a:t>số</a:t>
            </a:r>
            <a:r>
              <a:rPr lang="en-US" dirty="0"/>
              <a:t> </a:t>
            </a:r>
            <a:r>
              <a:rPr lang="en-US" dirty="0" err="1"/>
              <a:t>nhược</a:t>
            </a:r>
            <a:r>
              <a:rPr lang="en-US" dirty="0"/>
              <a:t> </a:t>
            </a:r>
            <a:r>
              <a:rPr lang="en-US" dirty="0" err="1"/>
              <a:t>điểm</a:t>
            </a:r>
            <a:r>
              <a:rPr lang="en-US" dirty="0"/>
              <a:t> </a:t>
            </a:r>
            <a:r>
              <a:rPr lang="en-US" dirty="0" err="1"/>
              <a:t>như</a:t>
            </a:r>
            <a:r>
              <a:rPr lang="en-US" dirty="0"/>
              <a:t> </a:t>
            </a:r>
            <a:r>
              <a:rPr lang="en-US" dirty="0" err="1"/>
              <a:t>sau</a:t>
            </a:r>
            <a:r>
              <a:rPr lang="en-US" dirty="0"/>
              <a:t>:</a:t>
            </a:r>
          </a:p>
          <a:p>
            <a:pPr lvl="1"/>
            <a:r>
              <a:rPr lang="en-US" dirty="0" err="1"/>
              <a:t>Mã</a:t>
            </a:r>
            <a:r>
              <a:rPr lang="en-US" dirty="0"/>
              <a:t> </a:t>
            </a:r>
            <a:r>
              <a:rPr lang="en-US" dirty="0" err="1"/>
              <a:t>nguồi</a:t>
            </a:r>
            <a:r>
              <a:rPr lang="en-US" dirty="0"/>
              <a:t> Webform </a:t>
            </a:r>
            <a:r>
              <a:rPr lang="en-US" dirty="0" err="1"/>
              <a:t>bị</a:t>
            </a:r>
            <a:r>
              <a:rPr lang="en-US" dirty="0"/>
              <a:t> </a:t>
            </a:r>
            <a:r>
              <a:rPr lang="en-US" dirty="0" err="1"/>
              <a:t>trộn</a:t>
            </a:r>
            <a:r>
              <a:rPr lang="en-US" dirty="0"/>
              <a:t> </a:t>
            </a:r>
            <a:r>
              <a:rPr lang="en-US" dirty="0" err="1"/>
              <a:t>lẫn</a:t>
            </a:r>
            <a:r>
              <a:rPr lang="en-US" dirty="0"/>
              <a:t> </a:t>
            </a:r>
            <a:r>
              <a:rPr lang="en-US" dirty="0" err="1"/>
              <a:t>với</a:t>
            </a:r>
            <a:r>
              <a:rPr lang="en-US" dirty="0"/>
              <a:t> </a:t>
            </a:r>
            <a:r>
              <a:rPr lang="en-US" dirty="0" err="1"/>
              <a:t>câu</a:t>
            </a:r>
            <a:r>
              <a:rPr lang="en-US" dirty="0"/>
              <a:t> </a:t>
            </a:r>
            <a:r>
              <a:rPr lang="en-US" dirty="0" err="1"/>
              <a:t>lệnh</a:t>
            </a:r>
            <a:r>
              <a:rPr lang="en-US" dirty="0"/>
              <a:t> SQL -&gt; code </a:t>
            </a:r>
            <a:r>
              <a:rPr lang="en-US" dirty="0" err="1"/>
              <a:t>khó</a:t>
            </a:r>
            <a:r>
              <a:rPr lang="en-US" dirty="0"/>
              <a:t> </a:t>
            </a:r>
            <a:r>
              <a:rPr lang="en-US" dirty="0" err="1"/>
              <a:t>đọc</a:t>
            </a:r>
            <a:r>
              <a:rPr lang="en-US" dirty="0"/>
              <a:t>, </a:t>
            </a:r>
            <a:r>
              <a:rPr lang="en-US" dirty="0" err="1"/>
              <a:t>khó</a:t>
            </a:r>
            <a:r>
              <a:rPr lang="en-US" dirty="0"/>
              <a:t> </a:t>
            </a:r>
            <a:r>
              <a:rPr lang="en-US" dirty="0" err="1"/>
              <a:t>bảo</a:t>
            </a:r>
            <a:r>
              <a:rPr lang="en-US" dirty="0"/>
              <a:t> </a:t>
            </a:r>
            <a:r>
              <a:rPr lang="en-US" dirty="0" err="1"/>
              <a:t>trì</a:t>
            </a:r>
            <a:endParaRPr lang="en-US" dirty="0"/>
          </a:p>
          <a:p>
            <a:pPr lvl="1"/>
            <a:r>
              <a:rPr lang="en-US" dirty="0" err="1"/>
              <a:t>Nếu</a:t>
            </a:r>
            <a:r>
              <a:rPr lang="en-US" dirty="0"/>
              <a:t> </a:t>
            </a:r>
            <a:r>
              <a:rPr lang="en-US" dirty="0" err="1"/>
              <a:t>cùng</a:t>
            </a:r>
            <a:r>
              <a:rPr lang="en-US" dirty="0"/>
              <a:t> </a:t>
            </a:r>
            <a:r>
              <a:rPr lang="en-US" dirty="0" err="1"/>
              <a:t>một</a:t>
            </a:r>
            <a:r>
              <a:rPr lang="en-US" dirty="0"/>
              <a:t> </a:t>
            </a:r>
            <a:r>
              <a:rPr lang="en-US" dirty="0" err="1"/>
              <a:t>câu</a:t>
            </a:r>
            <a:r>
              <a:rPr lang="en-US" dirty="0"/>
              <a:t> SQL </a:t>
            </a:r>
            <a:r>
              <a:rPr lang="en-US" dirty="0" err="1"/>
              <a:t>được</a:t>
            </a:r>
            <a:r>
              <a:rPr lang="en-US" dirty="0"/>
              <a:t> </a:t>
            </a:r>
            <a:r>
              <a:rPr lang="en-US" dirty="0" err="1"/>
              <a:t>sử</a:t>
            </a:r>
            <a:r>
              <a:rPr lang="en-US" dirty="0"/>
              <a:t> </a:t>
            </a:r>
            <a:r>
              <a:rPr lang="en-US" dirty="0" err="1"/>
              <a:t>dụng</a:t>
            </a:r>
            <a:r>
              <a:rPr lang="en-US" dirty="0"/>
              <a:t> ở </a:t>
            </a:r>
            <a:r>
              <a:rPr lang="en-US" dirty="0" err="1"/>
              <a:t>nhiều</a:t>
            </a:r>
            <a:r>
              <a:rPr lang="en-US" dirty="0"/>
              <a:t> </a:t>
            </a:r>
            <a:r>
              <a:rPr lang="en-US" dirty="0" err="1"/>
              <a:t>nơi</a:t>
            </a:r>
            <a:r>
              <a:rPr lang="en-US" dirty="0"/>
              <a:t> </a:t>
            </a:r>
            <a:r>
              <a:rPr lang="en-US" dirty="0" err="1"/>
              <a:t>thì</a:t>
            </a:r>
            <a:r>
              <a:rPr lang="en-US" dirty="0"/>
              <a:t> </a:t>
            </a:r>
            <a:r>
              <a:rPr lang="en-US" dirty="0" err="1"/>
              <a:t>khi</a:t>
            </a:r>
            <a:r>
              <a:rPr lang="en-US" dirty="0"/>
              <a:t> </a:t>
            </a:r>
            <a:r>
              <a:rPr lang="en-US" dirty="0" err="1"/>
              <a:t>cần</a:t>
            </a:r>
            <a:r>
              <a:rPr lang="en-US" dirty="0"/>
              <a:t> </a:t>
            </a:r>
            <a:r>
              <a:rPr lang="en-US" dirty="0" err="1"/>
              <a:t>thay</a:t>
            </a:r>
            <a:r>
              <a:rPr lang="en-US" dirty="0"/>
              <a:t> </a:t>
            </a:r>
            <a:r>
              <a:rPr lang="en-US" dirty="0" err="1"/>
              <a:t>đổi</a:t>
            </a:r>
            <a:r>
              <a:rPr lang="en-US" dirty="0"/>
              <a:t> </a:t>
            </a:r>
            <a:r>
              <a:rPr lang="en-US" dirty="0" err="1"/>
              <a:t>câu</a:t>
            </a:r>
            <a:r>
              <a:rPr lang="en-US" dirty="0"/>
              <a:t> SQL </a:t>
            </a:r>
            <a:r>
              <a:rPr lang="en-US" dirty="0" err="1"/>
              <a:t>phải</a:t>
            </a:r>
            <a:r>
              <a:rPr lang="en-US" dirty="0"/>
              <a:t> </a:t>
            </a:r>
            <a:r>
              <a:rPr lang="en-US" dirty="0" err="1"/>
              <a:t>tìm</a:t>
            </a:r>
            <a:r>
              <a:rPr lang="en-US" dirty="0"/>
              <a:t> </a:t>
            </a:r>
            <a:r>
              <a:rPr lang="en-US" dirty="0" err="1"/>
              <a:t>và</a:t>
            </a:r>
            <a:r>
              <a:rPr lang="en-US" dirty="0"/>
              <a:t> </a:t>
            </a:r>
            <a:r>
              <a:rPr lang="en-US" dirty="0" err="1"/>
              <a:t>sửa</a:t>
            </a:r>
            <a:r>
              <a:rPr lang="en-US" dirty="0"/>
              <a:t> ở </a:t>
            </a:r>
            <a:r>
              <a:rPr lang="en-US" dirty="0" err="1"/>
              <a:t>nhiều</a:t>
            </a:r>
            <a:r>
              <a:rPr lang="en-US" dirty="0"/>
              <a:t> </a:t>
            </a:r>
            <a:r>
              <a:rPr lang="en-US" dirty="0" err="1"/>
              <a:t>vị</a:t>
            </a:r>
            <a:r>
              <a:rPr lang="en-US" dirty="0"/>
              <a:t> </a:t>
            </a:r>
            <a:r>
              <a:rPr lang="en-US" dirty="0" err="1"/>
              <a:t>trí</a:t>
            </a:r>
            <a:r>
              <a:rPr lang="en-US" dirty="0"/>
              <a:t>.</a:t>
            </a:r>
          </a:p>
          <a:p>
            <a:pPr lvl="1"/>
            <a:r>
              <a:rPr lang="en-US" dirty="0" err="1"/>
              <a:t>Dễ</a:t>
            </a:r>
            <a:r>
              <a:rPr lang="en-US" dirty="0"/>
              <a:t> </a:t>
            </a:r>
            <a:r>
              <a:rPr lang="en-US" dirty="0" err="1"/>
              <a:t>xảy</a:t>
            </a:r>
            <a:r>
              <a:rPr lang="en-US" dirty="0"/>
              <a:t> </a:t>
            </a:r>
            <a:r>
              <a:rPr lang="en-US" dirty="0" err="1"/>
              <a:t>ra</a:t>
            </a:r>
            <a:r>
              <a:rPr lang="en-US" dirty="0"/>
              <a:t> SQL Injection </a:t>
            </a:r>
            <a:r>
              <a:rPr lang="en-US" dirty="0" err="1"/>
              <a:t>nếu</a:t>
            </a:r>
            <a:r>
              <a:rPr lang="en-US" dirty="0"/>
              <a:t> </a:t>
            </a:r>
            <a:r>
              <a:rPr lang="en-US" dirty="0" err="1"/>
              <a:t>lập</a:t>
            </a:r>
            <a:r>
              <a:rPr lang="en-US" dirty="0"/>
              <a:t> </a:t>
            </a:r>
            <a:r>
              <a:rPr lang="en-US" dirty="0" err="1"/>
              <a:t>trình</a:t>
            </a:r>
            <a:r>
              <a:rPr lang="en-US" dirty="0"/>
              <a:t> </a:t>
            </a:r>
            <a:r>
              <a:rPr lang="en-US" dirty="0" err="1"/>
              <a:t>không</a:t>
            </a:r>
            <a:r>
              <a:rPr lang="en-US" dirty="0"/>
              <a:t> </a:t>
            </a:r>
            <a:r>
              <a:rPr lang="en-US" dirty="0" err="1"/>
              <a:t>đúng</a:t>
            </a:r>
            <a:r>
              <a:rPr lang="en-US" dirty="0"/>
              <a:t>.</a:t>
            </a:r>
          </a:p>
          <a:p>
            <a:pPr lvl="1"/>
            <a:r>
              <a:rPr lang="en-US" dirty="0" err="1"/>
              <a:t>Khó</a:t>
            </a:r>
            <a:r>
              <a:rPr lang="en-US" dirty="0"/>
              <a:t> </a:t>
            </a:r>
            <a:r>
              <a:rPr lang="en-US" dirty="0" err="1"/>
              <a:t>kiểm</a:t>
            </a:r>
            <a:r>
              <a:rPr lang="en-US" dirty="0"/>
              <a:t> </a:t>
            </a:r>
            <a:r>
              <a:rPr lang="en-US" dirty="0" err="1"/>
              <a:t>soát</a:t>
            </a:r>
            <a:r>
              <a:rPr lang="en-US" dirty="0"/>
              <a:t> </a:t>
            </a:r>
            <a:r>
              <a:rPr lang="en-US" dirty="0" err="1"/>
              <a:t>quyền</a:t>
            </a:r>
            <a:r>
              <a:rPr lang="en-US" dirty="0"/>
              <a:t> </a:t>
            </a:r>
            <a:r>
              <a:rPr lang="en-US" dirty="0" err="1"/>
              <a:t>truy</a:t>
            </a:r>
            <a:r>
              <a:rPr lang="en-US" dirty="0"/>
              <a:t> </a:t>
            </a:r>
            <a:r>
              <a:rPr lang="en-US" dirty="0" err="1"/>
              <a:t>cập</a:t>
            </a:r>
            <a:r>
              <a:rPr lang="en-US" dirty="0"/>
              <a:t> Database</a:t>
            </a:r>
          </a:p>
        </p:txBody>
      </p:sp>
      <p:sp>
        <p:nvSpPr>
          <p:cNvPr id="4" name="Slide Number Placeholder 3">
            <a:extLst>
              <a:ext uri="{FF2B5EF4-FFF2-40B4-BE49-F238E27FC236}">
                <a16:creationId xmlns:a16="http://schemas.microsoft.com/office/drawing/2014/main" id="{A8A1F738-8057-A9BC-575E-D18E21F45CBA}"/>
              </a:ext>
            </a:extLst>
          </p:cNvPr>
          <p:cNvSpPr>
            <a:spLocks noGrp="1"/>
          </p:cNvSpPr>
          <p:nvPr>
            <p:ph type="sldNum" sz="quarter" idx="10"/>
          </p:nvPr>
        </p:nvSpPr>
        <p:spPr/>
        <p:txBody>
          <a:bodyPr/>
          <a:lstStyle/>
          <a:p>
            <a:fld id="{2AEE2371-D0CC-4967-BE28-70407D2A399D}" type="slidenum">
              <a:rPr lang="en-US" smtClean="0"/>
              <a:t>23</a:t>
            </a:fld>
            <a:endParaRPr lang="en-US"/>
          </a:p>
        </p:txBody>
      </p:sp>
    </p:spTree>
    <p:extLst>
      <p:ext uri="{BB962C8B-B14F-4D97-AF65-F5344CB8AC3E}">
        <p14:creationId xmlns:p14="http://schemas.microsoft.com/office/powerpoint/2010/main" val="42932075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A680F-82FF-979C-981C-D1E75394ED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5FF749-06BF-DF3D-9507-506D2773D372}"/>
              </a:ext>
            </a:extLst>
          </p:cNvPr>
          <p:cNvSpPr>
            <a:spLocks noGrp="1"/>
          </p:cNvSpPr>
          <p:nvPr>
            <p:ph type="title"/>
          </p:nvPr>
        </p:nvSpPr>
        <p:spPr/>
        <p:txBody>
          <a:bodyPr/>
          <a:lstStyle/>
          <a:p>
            <a:r>
              <a:rPr lang="en-US" dirty="0" err="1"/>
              <a:t>Sử</a:t>
            </a:r>
            <a:r>
              <a:rPr lang="en-US" dirty="0"/>
              <a:t> </a:t>
            </a:r>
            <a:r>
              <a:rPr lang="en-US" dirty="0" err="1"/>
              <a:t>dụng</a:t>
            </a:r>
            <a:r>
              <a:rPr lang="en-US" dirty="0"/>
              <a:t> </a:t>
            </a:r>
            <a:r>
              <a:rPr lang="en-US" dirty="0" err="1"/>
              <a:t>thủ</a:t>
            </a:r>
            <a:r>
              <a:rPr lang="en-US" dirty="0"/>
              <a:t> </a:t>
            </a:r>
            <a:r>
              <a:rPr lang="en-US" dirty="0" err="1"/>
              <a:t>tục</a:t>
            </a:r>
            <a:r>
              <a:rPr lang="en-US" dirty="0"/>
              <a:t> </a:t>
            </a:r>
            <a:r>
              <a:rPr lang="en-US" dirty="0" err="1"/>
              <a:t>nội</a:t>
            </a:r>
            <a:r>
              <a:rPr lang="en-US" dirty="0"/>
              <a:t> </a:t>
            </a:r>
            <a:r>
              <a:rPr lang="en-US" dirty="0" err="1"/>
              <a:t>tại</a:t>
            </a:r>
            <a:r>
              <a:rPr lang="en-US" dirty="0"/>
              <a:t> </a:t>
            </a:r>
            <a:r>
              <a:rPr lang="en-US" dirty="0" err="1"/>
              <a:t>thay</a:t>
            </a:r>
            <a:r>
              <a:rPr lang="en-US" dirty="0"/>
              <a:t> </a:t>
            </a:r>
            <a:r>
              <a:rPr lang="en-US" dirty="0" err="1"/>
              <a:t>cho</a:t>
            </a:r>
            <a:r>
              <a:rPr lang="en-US" dirty="0"/>
              <a:t> </a:t>
            </a:r>
            <a:r>
              <a:rPr lang="en-US" dirty="0" err="1"/>
              <a:t>câu</a:t>
            </a:r>
            <a:r>
              <a:rPr lang="en-US" dirty="0"/>
              <a:t> </a:t>
            </a:r>
            <a:r>
              <a:rPr lang="en-US" dirty="0" err="1"/>
              <a:t>lệnh</a:t>
            </a:r>
            <a:r>
              <a:rPr lang="en-US" dirty="0"/>
              <a:t> </a:t>
            </a:r>
            <a:r>
              <a:rPr lang="en-US" dirty="0" err="1"/>
              <a:t>truy</a:t>
            </a:r>
            <a:r>
              <a:rPr lang="en-US" dirty="0"/>
              <a:t> </a:t>
            </a:r>
            <a:r>
              <a:rPr lang="en-US" dirty="0" err="1"/>
              <a:t>vấn</a:t>
            </a:r>
            <a:r>
              <a:rPr lang="en-US" dirty="0"/>
              <a:t> SQL</a:t>
            </a:r>
          </a:p>
        </p:txBody>
      </p:sp>
      <p:sp>
        <p:nvSpPr>
          <p:cNvPr id="3" name="Content Placeholder 2">
            <a:extLst>
              <a:ext uri="{FF2B5EF4-FFF2-40B4-BE49-F238E27FC236}">
                <a16:creationId xmlns:a16="http://schemas.microsoft.com/office/drawing/2014/main" id="{65675C92-7E5F-F389-70A8-A31D2E6CBE72}"/>
              </a:ext>
            </a:extLst>
          </p:cNvPr>
          <p:cNvSpPr>
            <a:spLocks noGrp="1"/>
          </p:cNvSpPr>
          <p:nvPr>
            <p:ph idx="1"/>
          </p:nvPr>
        </p:nvSpPr>
        <p:spPr>
          <a:xfrm>
            <a:off x="668741" y="1501254"/>
            <a:ext cx="10613094" cy="4485207"/>
          </a:xfrm>
        </p:spPr>
        <p:txBody>
          <a:bodyPr/>
          <a:lstStyle/>
          <a:p>
            <a:r>
              <a:rPr lang="en-US" dirty="0" err="1"/>
              <a:t>Để</a:t>
            </a:r>
            <a:r>
              <a:rPr lang="en-US" dirty="0"/>
              <a:t> </a:t>
            </a:r>
            <a:r>
              <a:rPr lang="en-US" dirty="0" err="1"/>
              <a:t>khắc</a:t>
            </a:r>
            <a:r>
              <a:rPr lang="en-US" dirty="0"/>
              <a:t> </a:t>
            </a:r>
            <a:r>
              <a:rPr lang="en-US" dirty="0" err="1"/>
              <a:t>phục</a:t>
            </a:r>
            <a:r>
              <a:rPr lang="en-US" dirty="0"/>
              <a:t> ta </a:t>
            </a:r>
            <a:r>
              <a:rPr lang="en-US" dirty="0" err="1"/>
              <a:t>có</a:t>
            </a:r>
            <a:r>
              <a:rPr lang="en-US" dirty="0"/>
              <a:t> </a:t>
            </a:r>
            <a:r>
              <a:rPr lang="en-US" dirty="0" err="1"/>
              <a:t>thể</a:t>
            </a:r>
            <a:r>
              <a:rPr lang="en-US" dirty="0"/>
              <a:t> </a:t>
            </a:r>
            <a:r>
              <a:rPr lang="en-US" dirty="0" err="1"/>
              <a:t>sử</a:t>
            </a:r>
            <a:r>
              <a:rPr lang="en-US" dirty="0"/>
              <a:t> </a:t>
            </a:r>
            <a:r>
              <a:rPr lang="en-US" dirty="0" err="1"/>
              <a:t>dụng</a:t>
            </a:r>
            <a:r>
              <a:rPr lang="en-US" dirty="0"/>
              <a:t> </a:t>
            </a:r>
            <a:r>
              <a:rPr lang="en-US" dirty="0" err="1"/>
              <a:t>thủ</a:t>
            </a:r>
            <a:r>
              <a:rPr lang="en-US" dirty="0"/>
              <a:t> </a:t>
            </a:r>
            <a:r>
              <a:rPr lang="en-US" dirty="0" err="1"/>
              <a:t>tục</a:t>
            </a:r>
            <a:r>
              <a:rPr lang="en-US" dirty="0"/>
              <a:t> </a:t>
            </a:r>
            <a:r>
              <a:rPr lang="en-US" dirty="0" err="1"/>
              <a:t>nội</a:t>
            </a:r>
            <a:r>
              <a:rPr lang="en-US" dirty="0"/>
              <a:t> </a:t>
            </a:r>
            <a:r>
              <a:rPr lang="en-US" dirty="0" err="1"/>
              <a:t>tại</a:t>
            </a:r>
            <a:r>
              <a:rPr lang="en-US" dirty="0"/>
              <a:t> </a:t>
            </a:r>
            <a:r>
              <a:rPr lang="en-US" dirty="0" err="1"/>
              <a:t>thay</a:t>
            </a:r>
            <a:r>
              <a:rPr lang="en-US" dirty="0"/>
              <a:t> </a:t>
            </a:r>
            <a:r>
              <a:rPr lang="en-US" dirty="0" err="1"/>
              <a:t>cho</a:t>
            </a:r>
            <a:r>
              <a:rPr lang="en-US" dirty="0"/>
              <a:t> </a:t>
            </a:r>
            <a:r>
              <a:rPr lang="en-US" dirty="0" err="1"/>
              <a:t>câu</a:t>
            </a:r>
            <a:r>
              <a:rPr lang="en-US" dirty="0"/>
              <a:t> </a:t>
            </a:r>
            <a:r>
              <a:rPr lang="en-US" dirty="0" err="1"/>
              <a:t>lệnh</a:t>
            </a:r>
            <a:r>
              <a:rPr lang="en-US" dirty="0"/>
              <a:t> SQL </a:t>
            </a:r>
            <a:r>
              <a:rPr lang="en-US" dirty="0" err="1"/>
              <a:t>vì</a:t>
            </a:r>
            <a:endParaRPr lang="en-US" dirty="0"/>
          </a:p>
          <a:p>
            <a:pPr lvl="1"/>
            <a:r>
              <a:rPr lang="en-US" dirty="0" err="1"/>
              <a:t>Tách</a:t>
            </a:r>
            <a:r>
              <a:rPr lang="en-US" dirty="0"/>
              <a:t> SQL </a:t>
            </a:r>
            <a:r>
              <a:rPr lang="en-US" dirty="0" err="1"/>
              <a:t>khỏi</a:t>
            </a:r>
            <a:r>
              <a:rPr lang="en-US" dirty="0"/>
              <a:t> </a:t>
            </a:r>
            <a:r>
              <a:rPr lang="en-US" dirty="0" err="1"/>
              <a:t>mã</a:t>
            </a:r>
            <a:r>
              <a:rPr lang="en-US" dirty="0"/>
              <a:t> </a:t>
            </a:r>
            <a:r>
              <a:rPr lang="en-US" dirty="0" err="1"/>
              <a:t>WebForm</a:t>
            </a:r>
            <a:endParaRPr lang="en-US" dirty="0"/>
          </a:p>
          <a:p>
            <a:pPr lvl="1"/>
            <a:r>
              <a:rPr lang="en-US" dirty="0" err="1"/>
              <a:t>Tăng</a:t>
            </a:r>
            <a:r>
              <a:rPr lang="en-US" dirty="0"/>
              <a:t> </a:t>
            </a:r>
            <a:r>
              <a:rPr lang="en-US" dirty="0" err="1"/>
              <a:t>khả</a:t>
            </a:r>
            <a:r>
              <a:rPr lang="en-US" dirty="0"/>
              <a:t> </a:t>
            </a:r>
            <a:r>
              <a:rPr lang="en-US" dirty="0" err="1"/>
              <a:t>năng</a:t>
            </a:r>
            <a:r>
              <a:rPr lang="en-US" dirty="0"/>
              <a:t> </a:t>
            </a:r>
            <a:r>
              <a:rPr lang="en-US" dirty="0" err="1"/>
              <a:t>tái</a:t>
            </a:r>
            <a:r>
              <a:rPr lang="en-US" dirty="0"/>
              <a:t> </a:t>
            </a:r>
            <a:r>
              <a:rPr lang="en-US" dirty="0" err="1"/>
              <a:t>sử</a:t>
            </a:r>
            <a:r>
              <a:rPr lang="en-US" dirty="0"/>
              <a:t> </a:t>
            </a:r>
            <a:r>
              <a:rPr lang="en-US" dirty="0" err="1"/>
              <a:t>dụng</a:t>
            </a:r>
            <a:r>
              <a:rPr lang="en-US" dirty="0"/>
              <a:t>: </a:t>
            </a:r>
            <a:r>
              <a:rPr lang="en-US" dirty="0" err="1"/>
              <a:t>một</a:t>
            </a:r>
            <a:r>
              <a:rPr lang="en-US" dirty="0"/>
              <a:t> </a:t>
            </a:r>
            <a:r>
              <a:rPr lang="en-US" dirty="0" err="1"/>
              <a:t>thủ</a:t>
            </a:r>
            <a:r>
              <a:rPr lang="en-US" dirty="0"/>
              <a:t> </a:t>
            </a:r>
            <a:r>
              <a:rPr lang="en-US" dirty="0" err="1"/>
              <a:t>tục</a:t>
            </a:r>
            <a:r>
              <a:rPr lang="en-US" dirty="0"/>
              <a:t> </a:t>
            </a:r>
            <a:r>
              <a:rPr lang="en-US" dirty="0" err="1"/>
              <a:t>nội</a:t>
            </a:r>
            <a:r>
              <a:rPr lang="en-US" dirty="0"/>
              <a:t> </a:t>
            </a:r>
            <a:r>
              <a:rPr lang="en-US" dirty="0" err="1"/>
              <a:t>tại</a:t>
            </a:r>
            <a:r>
              <a:rPr lang="en-US" dirty="0"/>
              <a:t> </a:t>
            </a:r>
            <a:r>
              <a:rPr lang="en-US" dirty="0" err="1"/>
              <a:t>có</a:t>
            </a:r>
            <a:r>
              <a:rPr lang="en-US" dirty="0"/>
              <a:t> </a:t>
            </a:r>
            <a:r>
              <a:rPr lang="en-US" dirty="0" err="1"/>
              <a:t>thể</a:t>
            </a:r>
            <a:r>
              <a:rPr lang="en-US" dirty="0"/>
              <a:t> </a:t>
            </a:r>
            <a:r>
              <a:rPr lang="en-US" dirty="0" err="1"/>
              <a:t>được</a:t>
            </a:r>
            <a:r>
              <a:rPr lang="en-US" dirty="0"/>
              <a:t> </a:t>
            </a:r>
            <a:r>
              <a:rPr lang="en-US" dirty="0" err="1"/>
              <a:t>gọi</a:t>
            </a:r>
            <a:r>
              <a:rPr lang="en-US" dirty="0"/>
              <a:t> </a:t>
            </a:r>
            <a:r>
              <a:rPr lang="en-US" dirty="0" err="1"/>
              <a:t>từ</a:t>
            </a:r>
            <a:r>
              <a:rPr lang="en-US" dirty="0"/>
              <a:t> </a:t>
            </a:r>
            <a:r>
              <a:rPr lang="en-US" dirty="0" err="1"/>
              <a:t>nhiều</a:t>
            </a:r>
            <a:r>
              <a:rPr lang="en-US" dirty="0"/>
              <a:t> </a:t>
            </a:r>
            <a:r>
              <a:rPr lang="en-US" dirty="0" err="1"/>
              <a:t>trang</a:t>
            </a:r>
            <a:r>
              <a:rPr lang="en-US" dirty="0"/>
              <a:t> webform, </a:t>
            </a:r>
            <a:r>
              <a:rPr lang="en-US" dirty="0" err="1"/>
              <a:t>không</a:t>
            </a:r>
            <a:r>
              <a:rPr lang="en-US" dirty="0"/>
              <a:t> </a:t>
            </a:r>
            <a:r>
              <a:rPr lang="en-US" dirty="0" err="1"/>
              <a:t>cần</a:t>
            </a:r>
            <a:r>
              <a:rPr lang="en-US" dirty="0"/>
              <a:t> </a:t>
            </a:r>
            <a:r>
              <a:rPr lang="en-US" dirty="0" err="1"/>
              <a:t>viết</a:t>
            </a:r>
            <a:r>
              <a:rPr lang="en-US" dirty="0"/>
              <a:t> </a:t>
            </a:r>
            <a:r>
              <a:rPr lang="en-US" dirty="0" err="1"/>
              <a:t>lại</a:t>
            </a:r>
            <a:r>
              <a:rPr lang="en-US" dirty="0"/>
              <a:t> </a:t>
            </a:r>
            <a:r>
              <a:rPr lang="en-US" dirty="0" err="1"/>
              <a:t>cùng</a:t>
            </a:r>
            <a:r>
              <a:rPr lang="en-US" dirty="0"/>
              <a:t> </a:t>
            </a:r>
            <a:r>
              <a:rPr lang="en-US" dirty="0" err="1"/>
              <a:t>một</a:t>
            </a:r>
            <a:r>
              <a:rPr lang="en-US" dirty="0"/>
              <a:t> </a:t>
            </a:r>
            <a:r>
              <a:rPr lang="en-US" dirty="0" err="1"/>
              <a:t>câu</a:t>
            </a:r>
            <a:r>
              <a:rPr lang="en-US" dirty="0"/>
              <a:t> SQL </a:t>
            </a:r>
            <a:r>
              <a:rPr lang="en-US" dirty="0" err="1"/>
              <a:t>nhiều</a:t>
            </a:r>
            <a:r>
              <a:rPr lang="en-US" dirty="0"/>
              <a:t> </a:t>
            </a:r>
            <a:r>
              <a:rPr lang="en-US" dirty="0" err="1"/>
              <a:t>lần</a:t>
            </a:r>
            <a:r>
              <a:rPr lang="en-US" dirty="0"/>
              <a:t>.</a:t>
            </a:r>
          </a:p>
          <a:p>
            <a:pPr lvl="1"/>
            <a:r>
              <a:rPr lang="en-US" dirty="0" err="1"/>
              <a:t>Dễ</a:t>
            </a:r>
            <a:r>
              <a:rPr lang="en-US" dirty="0"/>
              <a:t> </a:t>
            </a:r>
            <a:r>
              <a:rPr lang="en-US" dirty="0" err="1"/>
              <a:t>bảo</a:t>
            </a:r>
            <a:r>
              <a:rPr lang="en-US" dirty="0"/>
              <a:t> </a:t>
            </a:r>
            <a:r>
              <a:rPr lang="en-US" dirty="0" err="1"/>
              <a:t>trì</a:t>
            </a:r>
            <a:r>
              <a:rPr lang="en-US" dirty="0"/>
              <a:t>, </a:t>
            </a:r>
            <a:r>
              <a:rPr lang="en-US" dirty="0" err="1"/>
              <a:t>giả</a:t>
            </a:r>
            <a:r>
              <a:rPr lang="en-US" dirty="0"/>
              <a:t> </a:t>
            </a:r>
            <a:r>
              <a:rPr lang="en-US" dirty="0" err="1"/>
              <a:t>sử</a:t>
            </a:r>
            <a:r>
              <a:rPr lang="en-US" dirty="0"/>
              <a:t> </a:t>
            </a:r>
            <a:r>
              <a:rPr lang="en-US" dirty="0" err="1"/>
              <a:t>cần</a:t>
            </a:r>
            <a:r>
              <a:rPr lang="en-US" dirty="0"/>
              <a:t> </a:t>
            </a:r>
            <a:r>
              <a:rPr lang="en-US" dirty="0" err="1"/>
              <a:t>thay</a:t>
            </a:r>
            <a:r>
              <a:rPr lang="en-US" dirty="0"/>
              <a:t> </a:t>
            </a:r>
            <a:r>
              <a:rPr lang="en-US" dirty="0" err="1"/>
              <a:t>đổi</a:t>
            </a:r>
            <a:r>
              <a:rPr lang="en-US" dirty="0"/>
              <a:t> </a:t>
            </a:r>
            <a:r>
              <a:rPr lang="en-US" dirty="0" err="1"/>
              <a:t>truy</a:t>
            </a:r>
            <a:r>
              <a:rPr lang="en-US" dirty="0"/>
              <a:t> </a:t>
            </a:r>
            <a:r>
              <a:rPr lang="en-US" dirty="0" err="1"/>
              <a:t>vấn</a:t>
            </a:r>
            <a:r>
              <a:rPr lang="en-US" dirty="0"/>
              <a:t> </a:t>
            </a:r>
            <a:r>
              <a:rPr lang="en-US" dirty="0" err="1"/>
              <a:t>thành</a:t>
            </a:r>
            <a:r>
              <a:rPr lang="en-US" dirty="0"/>
              <a:t> </a:t>
            </a:r>
            <a:r>
              <a:rPr lang="en-US" dirty="0" err="1"/>
              <a:t>truy</a:t>
            </a:r>
            <a:r>
              <a:rPr lang="en-US" dirty="0"/>
              <a:t> </a:t>
            </a:r>
            <a:r>
              <a:rPr lang="en-US" dirty="0" err="1"/>
              <a:t>vấn</a:t>
            </a:r>
            <a:r>
              <a:rPr lang="en-US" dirty="0"/>
              <a:t> </a:t>
            </a:r>
            <a:r>
              <a:rPr lang="en-US" dirty="0" err="1"/>
              <a:t>phức</a:t>
            </a:r>
            <a:r>
              <a:rPr lang="en-US" dirty="0"/>
              <a:t> </a:t>
            </a:r>
            <a:r>
              <a:rPr lang="en-US" dirty="0" err="1"/>
              <a:t>tạp</a:t>
            </a:r>
            <a:r>
              <a:rPr lang="en-US" dirty="0"/>
              <a:t> </a:t>
            </a:r>
            <a:r>
              <a:rPr lang="en-US" dirty="0" err="1"/>
              <a:t>hơn</a:t>
            </a:r>
            <a:r>
              <a:rPr lang="en-US" dirty="0"/>
              <a:t>, ta </a:t>
            </a:r>
            <a:r>
              <a:rPr lang="en-US" dirty="0" err="1"/>
              <a:t>có</a:t>
            </a:r>
            <a:r>
              <a:rPr lang="en-US" dirty="0"/>
              <a:t> </a:t>
            </a:r>
            <a:r>
              <a:rPr lang="en-US" dirty="0" err="1"/>
              <a:t>thể</a:t>
            </a:r>
            <a:r>
              <a:rPr lang="en-US" dirty="0"/>
              <a:t> </a:t>
            </a:r>
            <a:r>
              <a:rPr lang="en-US" dirty="0" err="1"/>
              <a:t>sửa</a:t>
            </a:r>
            <a:r>
              <a:rPr lang="en-US" dirty="0"/>
              <a:t> </a:t>
            </a:r>
            <a:r>
              <a:rPr lang="en-US" dirty="0" err="1"/>
              <a:t>trong</a:t>
            </a:r>
            <a:r>
              <a:rPr lang="en-US" dirty="0"/>
              <a:t> Stored Procedure, code </a:t>
            </a:r>
            <a:r>
              <a:rPr lang="en-US" dirty="0" err="1"/>
              <a:t>trong</a:t>
            </a:r>
            <a:r>
              <a:rPr lang="en-US" dirty="0"/>
              <a:t> </a:t>
            </a:r>
            <a:r>
              <a:rPr lang="en-US" dirty="0" err="1"/>
              <a:t>WebForm</a:t>
            </a:r>
            <a:r>
              <a:rPr lang="en-US" dirty="0"/>
              <a:t> </a:t>
            </a:r>
            <a:r>
              <a:rPr lang="en-US" dirty="0" err="1"/>
              <a:t>có</a:t>
            </a:r>
            <a:r>
              <a:rPr lang="en-US" dirty="0"/>
              <a:t> </a:t>
            </a:r>
            <a:r>
              <a:rPr lang="en-US" dirty="0" err="1"/>
              <a:t>thể</a:t>
            </a:r>
            <a:r>
              <a:rPr lang="en-US" dirty="0"/>
              <a:t> </a:t>
            </a:r>
            <a:r>
              <a:rPr lang="en-US" dirty="0" err="1"/>
              <a:t>không</a:t>
            </a:r>
            <a:r>
              <a:rPr lang="en-US" dirty="0"/>
              <a:t> </a:t>
            </a:r>
            <a:r>
              <a:rPr lang="en-US" dirty="0" err="1"/>
              <a:t>cần</a:t>
            </a:r>
            <a:r>
              <a:rPr lang="en-US" dirty="0"/>
              <a:t> </a:t>
            </a:r>
            <a:r>
              <a:rPr lang="en-US" dirty="0" err="1"/>
              <a:t>thay</a:t>
            </a:r>
            <a:r>
              <a:rPr lang="en-US" dirty="0"/>
              <a:t> </a:t>
            </a:r>
            <a:r>
              <a:rPr lang="en-US" dirty="0" err="1"/>
              <a:t>đổi</a:t>
            </a:r>
            <a:r>
              <a:rPr lang="en-US" dirty="0"/>
              <a:t> </a:t>
            </a:r>
            <a:r>
              <a:rPr lang="en-US" dirty="0" err="1"/>
              <a:t>nếu</a:t>
            </a:r>
            <a:r>
              <a:rPr lang="en-US" dirty="0"/>
              <a:t> </a:t>
            </a:r>
            <a:r>
              <a:rPr lang="en-US" dirty="0" err="1"/>
              <a:t>tên</a:t>
            </a:r>
            <a:r>
              <a:rPr lang="en-US" dirty="0"/>
              <a:t> </a:t>
            </a:r>
            <a:r>
              <a:rPr lang="en-US" dirty="0" err="1"/>
              <a:t>và</a:t>
            </a:r>
            <a:r>
              <a:rPr lang="en-US" dirty="0"/>
              <a:t> </a:t>
            </a:r>
            <a:r>
              <a:rPr lang="en-US" dirty="0" err="1"/>
              <a:t>tham</a:t>
            </a:r>
            <a:r>
              <a:rPr lang="en-US" dirty="0"/>
              <a:t> </a:t>
            </a:r>
            <a:r>
              <a:rPr lang="en-US" dirty="0" err="1"/>
              <a:t>số</a:t>
            </a:r>
            <a:r>
              <a:rPr lang="en-US" dirty="0"/>
              <a:t> </a:t>
            </a:r>
            <a:r>
              <a:rPr lang="en-US" dirty="0" err="1"/>
              <a:t>của</a:t>
            </a:r>
            <a:r>
              <a:rPr lang="en-US" dirty="0"/>
              <a:t> </a:t>
            </a:r>
            <a:r>
              <a:rPr lang="en-US" dirty="0" err="1"/>
              <a:t>thủ</a:t>
            </a:r>
            <a:r>
              <a:rPr lang="en-US" dirty="0"/>
              <a:t> </a:t>
            </a:r>
            <a:r>
              <a:rPr lang="en-US" dirty="0" err="1"/>
              <a:t>tục</a:t>
            </a:r>
            <a:r>
              <a:rPr lang="en-US" dirty="0"/>
              <a:t> </a:t>
            </a:r>
            <a:r>
              <a:rPr lang="en-US" dirty="0" err="1"/>
              <a:t>vẫn</a:t>
            </a:r>
            <a:r>
              <a:rPr lang="en-US" dirty="0"/>
              <a:t> </a:t>
            </a:r>
            <a:r>
              <a:rPr lang="en-US" dirty="0" err="1"/>
              <a:t>giữ</a:t>
            </a:r>
            <a:r>
              <a:rPr lang="en-US" dirty="0"/>
              <a:t> </a:t>
            </a:r>
            <a:r>
              <a:rPr lang="en-US" dirty="0" err="1"/>
              <a:t>nguyên</a:t>
            </a:r>
            <a:endParaRPr lang="en-US" dirty="0"/>
          </a:p>
        </p:txBody>
      </p:sp>
      <p:sp>
        <p:nvSpPr>
          <p:cNvPr id="4" name="Slide Number Placeholder 3">
            <a:extLst>
              <a:ext uri="{FF2B5EF4-FFF2-40B4-BE49-F238E27FC236}">
                <a16:creationId xmlns:a16="http://schemas.microsoft.com/office/drawing/2014/main" id="{F9717330-59AF-E095-043D-B159B317CF0D}"/>
              </a:ext>
            </a:extLst>
          </p:cNvPr>
          <p:cNvSpPr>
            <a:spLocks noGrp="1"/>
          </p:cNvSpPr>
          <p:nvPr>
            <p:ph type="sldNum" sz="quarter" idx="10"/>
          </p:nvPr>
        </p:nvSpPr>
        <p:spPr/>
        <p:txBody>
          <a:bodyPr/>
          <a:lstStyle/>
          <a:p>
            <a:fld id="{2AEE2371-D0CC-4967-BE28-70407D2A399D}" type="slidenum">
              <a:rPr lang="en-US" smtClean="0"/>
              <a:t>24</a:t>
            </a:fld>
            <a:endParaRPr lang="en-US"/>
          </a:p>
        </p:txBody>
      </p:sp>
    </p:spTree>
    <p:extLst>
      <p:ext uri="{BB962C8B-B14F-4D97-AF65-F5344CB8AC3E}">
        <p14:creationId xmlns:p14="http://schemas.microsoft.com/office/powerpoint/2010/main" val="15174946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9C779-2E1B-40A1-7DE8-51CA0BC662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6AF300-F11A-C714-FB97-2A4DBC9EFA51}"/>
              </a:ext>
            </a:extLst>
          </p:cNvPr>
          <p:cNvSpPr>
            <a:spLocks noGrp="1"/>
          </p:cNvSpPr>
          <p:nvPr>
            <p:ph type="title"/>
          </p:nvPr>
        </p:nvSpPr>
        <p:spPr/>
        <p:txBody>
          <a:bodyPr/>
          <a:lstStyle/>
          <a:p>
            <a:r>
              <a:rPr lang="en-US" dirty="0" err="1"/>
              <a:t>Sử</a:t>
            </a:r>
            <a:r>
              <a:rPr lang="en-US" dirty="0"/>
              <a:t> </a:t>
            </a:r>
            <a:r>
              <a:rPr lang="en-US" dirty="0" err="1"/>
              <a:t>dụng</a:t>
            </a:r>
            <a:r>
              <a:rPr lang="en-US" dirty="0"/>
              <a:t> </a:t>
            </a:r>
            <a:r>
              <a:rPr lang="en-US" dirty="0" err="1"/>
              <a:t>thủ</a:t>
            </a:r>
            <a:r>
              <a:rPr lang="en-US" dirty="0"/>
              <a:t> </a:t>
            </a:r>
            <a:r>
              <a:rPr lang="en-US" dirty="0" err="1"/>
              <a:t>tục</a:t>
            </a:r>
            <a:r>
              <a:rPr lang="en-US" dirty="0"/>
              <a:t> </a:t>
            </a:r>
            <a:r>
              <a:rPr lang="en-US" dirty="0" err="1"/>
              <a:t>nội</a:t>
            </a:r>
            <a:r>
              <a:rPr lang="en-US" dirty="0"/>
              <a:t> </a:t>
            </a:r>
            <a:r>
              <a:rPr lang="en-US" dirty="0" err="1"/>
              <a:t>tại</a:t>
            </a:r>
            <a:r>
              <a:rPr lang="en-US" dirty="0"/>
              <a:t> </a:t>
            </a:r>
            <a:r>
              <a:rPr lang="en-US" dirty="0" err="1"/>
              <a:t>thay</a:t>
            </a:r>
            <a:r>
              <a:rPr lang="en-US" dirty="0"/>
              <a:t> </a:t>
            </a:r>
            <a:r>
              <a:rPr lang="en-US" dirty="0" err="1"/>
              <a:t>cho</a:t>
            </a:r>
            <a:r>
              <a:rPr lang="en-US" dirty="0"/>
              <a:t> </a:t>
            </a:r>
            <a:r>
              <a:rPr lang="en-US" dirty="0" err="1"/>
              <a:t>câu</a:t>
            </a:r>
            <a:r>
              <a:rPr lang="en-US" dirty="0"/>
              <a:t> </a:t>
            </a:r>
            <a:r>
              <a:rPr lang="en-US" dirty="0" err="1"/>
              <a:t>lệnh</a:t>
            </a:r>
            <a:r>
              <a:rPr lang="en-US" dirty="0"/>
              <a:t> </a:t>
            </a:r>
            <a:r>
              <a:rPr lang="en-US" dirty="0" err="1"/>
              <a:t>truy</a:t>
            </a:r>
            <a:r>
              <a:rPr lang="en-US" dirty="0"/>
              <a:t> </a:t>
            </a:r>
            <a:r>
              <a:rPr lang="en-US" dirty="0" err="1"/>
              <a:t>vấn</a:t>
            </a:r>
            <a:r>
              <a:rPr lang="en-US" dirty="0"/>
              <a:t> SQL</a:t>
            </a:r>
          </a:p>
        </p:txBody>
      </p:sp>
      <p:sp>
        <p:nvSpPr>
          <p:cNvPr id="3" name="Content Placeholder 2">
            <a:extLst>
              <a:ext uri="{FF2B5EF4-FFF2-40B4-BE49-F238E27FC236}">
                <a16:creationId xmlns:a16="http://schemas.microsoft.com/office/drawing/2014/main" id="{E27981A3-574F-E725-53EC-61142CB61845}"/>
              </a:ext>
            </a:extLst>
          </p:cNvPr>
          <p:cNvSpPr>
            <a:spLocks noGrp="1"/>
          </p:cNvSpPr>
          <p:nvPr>
            <p:ph idx="1"/>
          </p:nvPr>
        </p:nvSpPr>
        <p:spPr>
          <a:xfrm>
            <a:off x="668741" y="1501254"/>
            <a:ext cx="10613094" cy="4485207"/>
          </a:xfrm>
        </p:spPr>
        <p:txBody>
          <a:bodyPr/>
          <a:lstStyle/>
          <a:p>
            <a:r>
              <a:rPr lang="en-US" dirty="0"/>
              <a:t>Trong CSDL SQL Server ta </a:t>
            </a:r>
            <a:r>
              <a:rPr lang="en-US" dirty="0" err="1"/>
              <a:t>tạo</a:t>
            </a:r>
            <a:r>
              <a:rPr lang="en-US" dirty="0"/>
              <a:t> </a:t>
            </a:r>
            <a:r>
              <a:rPr lang="en-US" dirty="0" err="1"/>
              <a:t>một</a:t>
            </a:r>
            <a:r>
              <a:rPr lang="en-US" dirty="0"/>
              <a:t> </a:t>
            </a:r>
            <a:r>
              <a:rPr lang="en-US" dirty="0" err="1"/>
              <a:t>thủ</a:t>
            </a:r>
            <a:r>
              <a:rPr lang="en-US" dirty="0"/>
              <a:t> </a:t>
            </a:r>
            <a:r>
              <a:rPr lang="en-US" dirty="0" err="1"/>
              <a:t>tục</a:t>
            </a:r>
            <a:r>
              <a:rPr lang="en-US" dirty="0"/>
              <a:t> </a:t>
            </a:r>
            <a:r>
              <a:rPr lang="en-US" dirty="0" err="1"/>
              <a:t>nội</a:t>
            </a:r>
            <a:r>
              <a:rPr lang="en-US" dirty="0"/>
              <a:t> </a:t>
            </a:r>
            <a:r>
              <a:rPr lang="en-US" dirty="0" err="1"/>
              <a:t>tại</a:t>
            </a:r>
            <a:r>
              <a:rPr lang="en-US" dirty="0"/>
              <a:t>.</a:t>
            </a:r>
          </a:p>
          <a:p>
            <a:r>
              <a:rPr lang="en-US" dirty="0" err="1"/>
              <a:t>Vd</a:t>
            </a:r>
            <a:r>
              <a:rPr lang="en-US" dirty="0"/>
              <a:t> </a:t>
            </a:r>
            <a:r>
              <a:rPr lang="en-US" dirty="0" err="1"/>
              <a:t>sp_timCanBo</a:t>
            </a:r>
            <a:r>
              <a:rPr lang="en-US" dirty="0"/>
              <a:t> </a:t>
            </a:r>
            <a:r>
              <a:rPr lang="en-US" dirty="0" err="1"/>
              <a:t>với</a:t>
            </a:r>
            <a:r>
              <a:rPr lang="en-US" dirty="0"/>
              <a:t> </a:t>
            </a:r>
            <a:r>
              <a:rPr lang="en-US" dirty="0" err="1"/>
              <a:t>một</a:t>
            </a:r>
            <a:r>
              <a:rPr lang="en-US" dirty="0"/>
              <a:t> </a:t>
            </a:r>
            <a:r>
              <a:rPr lang="en-US" dirty="0" err="1"/>
              <a:t>tham</a:t>
            </a:r>
            <a:r>
              <a:rPr lang="en-US" dirty="0"/>
              <a:t> </a:t>
            </a:r>
            <a:r>
              <a:rPr lang="en-US" dirty="0" err="1"/>
              <a:t>số</a:t>
            </a:r>
            <a:r>
              <a:rPr lang="en-US" dirty="0"/>
              <a:t> </a:t>
            </a:r>
            <a:r>
              <a:rPr lang="en-US" dirty="0" err="1"/>
              <a:t>đầu</a:t>
            </a:r>
            <a:r>
              <a:rPr lang="en-US" dirty="0"/>
              <a:t> </a:t>
            </a:r>
            <a:r>
              <a:rPr lang="en-US" dirty="0" err="1"/>
              <a:t>vào</a:t>
            </a:r>
            <a:r>
              <a:rPr lang="en-US" dirty="0"/>
              <a:t> </a:t>
            </a:r>
            <a:r>
              <a:rPr lang="en-US" dirty="0" err="1"/>
              <a:t>là</a:t>
            </a:r>
            <a:r>
              <a:rPr lang="en-US" dirty="0"/>
              <a:t> @macb</a:t>
            </a:r>
          </a:p>
          <a:p>
            <a:pPr marL="230187" lvl="1" indent="0">
              <a:buNone/>
            </a:pPr>
            <a:r>
              <a:rPr lang="en-US" dirty="0">
                <a:solidFill>
                  <a:schemeClr val="accent1"/>
                </a:solidFill>
              </a:rPr>
              <a:t>Create proc </a:t>
            </a:r>
            <a:r>
              <a:rPr lang="en-US" dirty="0" err="1">
                <a:solidFill>
                  <a:schemeClr val="accent1"/>
                </a:solidFill>
              </a:rPr>
              <a:t>sp_timCanBo</a:t>
            </a:r>
            <a:endParaRPr lang="en-US" dirty="0">
              <a:solidFill>
                <a:schemeClr val="accent1"/>
              </a:solidFill>
            </a:endParaRPr>
          </a:p>
          <a:p>
            <a:pPr marL="230187" lvl="1" indent="0">
              <a:buNone/>
            </a:pPr>
            <a:r>
              <a:rPr lang="en-US" dirty="0">
                <a:solidFill>
                  <a:schemeClr val="accent1"/>
                </a:solidFill>
              </a:rPr>
              <a:t>@macb char(5)</a:t>
            </a:r>
          </a:p>
          <a:p>
            <a:pPr marL="230187" lvl="1" indent="0">
              <a:buNone/>
            </a:pPr>
            <a:r>
              <a:rPr lang="en-US" dirty="0">
                <a:solidFill>
                  <a:schemeClr val="accent1"/>
                </a:solidFill>
              </a:rPr>
              <a:t>As</a:t>
            </a:r>
          </a:p>
          <a:p>
            <a:pPr marL="230187" lvl="1" indent="0">
              <a:buNone/>
            </a:pPr>
            <a:r>
              <a:rPr lang="en-US" dirty="0">
                <a:solidFill>
                  <a:schemeClr val="accent1"/>
                </a:solidFill>
              </a:rPr>
              <a:t>Begin</a:t>
            </a:r>
          </a:p>
          <a:p>
            <a:pPr marL="230187" lvl="1" indent="0">
              <a:buNone/>
            </a:pPr>
            <a:r>
              <a:rPr lang="en-US" dirty="0">
                <a:solidFill>
                  <a:schemeClr val="accent1"/>
                </a:solidFill>
              </a:rPr>
              <a:t>	select * from CanBo where </a:t>
            </a:r>
            <a:r>
              <a:rPr lang="en-US" dirty="0" err="1">
                <a:solidFill>
                  <a:schemeClr val="accent1"/>
                </a:solidFill>
              </a:rPr>
              <a:t>MaCB</a:t>
            </a:r>
            <a:r>
              <a:rPr lang="en-US" dirty="0">
                <a:solidFill>
                  <a:schemeClr val="accent1"/>
                </a:solidFill>
              </a:rPr>
              <a:t>=@macb</a:t>
            </a:r>
          </a:p>
          <a:p>
            <a:pPr marL="230187" lvl="1" indent="0">
              <a:buNone/>
            </a:pPr>
            <a:r>
              <a:rPr lang="en-US" dirty="0">
                <a:solidFill>
                  <a:schemeClr val="accent1"/>
                </a:solidFill>
              </a:rPr>
              <a:t>end</a:t>
            </a:r>
          </a:p>
        </p:txBody>
      </p:sp>
      <p:sp>
        <p:nvSpPr>
          <p:cNvPr id="4" name="Slide Number Placeholder 3">
            <a:extLst>
              <a:ext uri="{FF2B5EF4-FFF2-40B4-BE49-F238E27FC236}">
                <a16:creationId xmlns:a16="http://schemas.microsoft.com/office/drawing/2014/main" id="{3016FEB3-332B-5727-9D21-723ACF972B8D}"/>
              </a:ext>
            </a:extLst>
          </p:cNvPr>
          <p:cNvSpPr>
            <a:spLocks noGrp="1"/>
          </p:cNvSpPr>
          <p:nvPr>
            <p:ph type="sldNum" sz="quarter" idx="10"/>
          </p:nvPr>
        </p:nvSpPr>
        <p:spPr/>
        <p:txBody>
          <a:bodyPr/>
          <a:lstStyle/>
          <a:p>
            <a:fld id="{2AEE2371-D0CC-4967-BE28-70407D2A399D}" type="slidenum">
              <a:rPr lang="en-US" smtClean="0"/>
              <a:t>25</a:t>
            </a:fld>
            <a:endParaRPr lang="en-US"/>
          </a:p>
        </p:txBody>
      </p:sp>
    </p:spTree>
    <p:extLst>
      <p:ext uri="{BB962C8B-B14F-4D97-AF65-F5344CB8AC3E}">
        <p14:creationId xmlns:p14="http://schemas.microsoft.com/office/powerpoint/2010/main" val="5793001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8CB93-1C16-43E9-549E-82C1E6AE93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74760-C870-B7E3-EEBE-3F153FC5423A}"/>
              </a:ext>
            </a:extLst>
          </p:cNvPr>
          <p:cNvSpPr>
            <a:spLocks noGrp="1"/>
          </p:cNvSpPr>
          <p:nvPr>
            <p:ph type="title"/>
          </p:nvPr>
        </p:nvSpPr>
        <p:spPr/>
        <p:txBody>
          <a:bodyPr/>
          <a:lstStyle/>
          <a:p>
            <a:r>
              <a:rPr lang="en-US" dirty="0" err="1"/>
              <a:t>Sử</a:t>
            </a:r>
            <a:r>
              <a:rPr lang="en-US" dirty="0"/>
              <a:t> </a:t>
            </a:r>
            <a:r>
              <a:rPr lang="en-US" dirty="0" err="1"/>
              <a:t>dụng</a:t>
            </a:r>
            <a:r>
              <a:rPr lang="en-US" dirty="0"/>
              <a:t> </a:t>
            </a:r>
            <a:r>
              <a:rPr lang="en-US" dirty="0" err="1"/>
              <a:t>thủ</a:t>
            </a:r>
            <a:r>
              <a:rPr lang="en-US" dirty="0"/>
              <a:t> </a:t>
            </a:r>
            <a:r>
              <a:rPr lang="en-US" dirty="0" err="1"/>
              <a:t>tục</a:t>
            </a:r>
            <a:r>
              <a:rPr lang="en-US" dirty="0"/>
              <a:t> </a:t>
            </a:r>
            <a:r>
              <a:rPr lang="en-US" dirty="0" err="1"/>
              <a:t>nội</a:t>
            </a:r>
            <a:r>
              <a:rPr lang="en-US" dirty="0"/>
              <a:t> </a:t>
            </a:r>
            <a:r>
              <a:rPr lang="en-US" dirty="0" err="1"/>
              <a:t>tại</a:t>
            </a:r>
            <a:r>
              <a:rPr lang="en-US" dirty="0"/>
              <a:t> </a:t>
            </a:r>
            <a:r>
              <a:rPr lang="en-US" dirty="0" err="1"/>
              <a:t>thay</a:t>
            </a:r>
            <a:r>
              <a:rPr lang="en-US" dirty="0"/>
              <a:t> </a:t>
            </a:r>
            <a:r>
              <a:rPr lang="en-US" dirty="0" err="1"/>
              <a:t>cho</a:t>
            </a:r>
            <a:r>
              <a:rPr lang="en-US" dirty="0"/>
              <a:t> </a:t>
            </a:r>
            <a:r>
              <a:rPr lang="en-US" dirty="0" err="1"/>
              <a:t>câu</a:t>
            </a:r>
            <a:r>
              <a:rPr lang="en-US" dirty="0"/>
              <a:t> </a:t>
            </a:r>
            <a:r>
              <a:rPr lang="en-US" dirty="0" err="1"/>
              <a:t>lệnh</a:t>
            </a:r>
            <a:r>
              <a:rPr lang="en-US" dirty="0"/>
              <a:t> </a:t>
            </a:r>
            <a:r>
              <a:rPr lang="en-US" dirty="0" err="1"/>
              <a:t>truy</a:t>
            </a:r>
            <a:r>
              <a:rPr lang="en-US" dirty="0"/>
              <a:t> </a:t>
            </a:r>
            <a:r>
              <a:rPr lang="en-US" dirty="0" err="1"/>
              <a:t>vấn</a:t>
            </a:r>
            <a:r>
              <a:rPr lang="en-US" dirty="0"/>
              <a:t> SQL</a:t>
            </a:r>
          </a:p>
        </p:txBody>
      </p:sp>
      <p:sp>
        <p:nvSpPr>
          <p:cNvPr id="3" name="Content Placeholder 2">
            <a:extLst>
              <a:ext uri="{FF2B5EF4-FFF2-40B4-BE49-F238E27FC236}">
                <a16:creationId xmlns:a16="http://schemas.microsoft.com/office/drawing/2014/main" id="{18FDA2B0-EF9A-E5A8-177B-7E7CC001488F}"/>
              </a:ext>
            </a:extLst>
          </p:cNvPr>
          <p:cNvSpPr>
            <a:spLocks noGrp="1"/>
          </p:cNvSpPr>
          <p:nvPr>
            <p:ph idx="1"/>
          </p:nvPr>
        </p:nvSpPr>
        <p:spPr>
          <a:xfrm>
            <a:off x="668078" y="1501254"/>
            <a:ext cx="10613094" cy="4485207"/>
          </a:xfrm>
        </p:spPr>
        <p:txBody>
          <a:bodyPr/>
          <a:lstStyle/>
          <a:p>
            <a:r>
              <a:rPr lang="en-US" dirty="0" err="1"/>
              <a:t>Để</a:t>
            </a:r>
            <a:r>
              <a:rPr lang="en-US" dirty="0"/>
              <a:t> </a:t>
            </a:r>
            <a:r>
              <a:rPr lang="en-US" dirty="0" err="1"/>
              <a:t>sử</a:t>
            </a:r>
            <a:r>
              <a:rPr lang="en-US" dirty="0"/>
              <a:t> </a:t>
            </a:r>
            <a:r>
              <a:rPr lang="en-US" dirty="0" err="1"/>
              <a:t>dụng</a:t>
            </a:r>
            <a:r>
              <a:rPr lang="en-US" dirty="0"/>
              <a:t> </a:t>
            </a:r>
            <a:r>
              <a:rPr lang="en-US" dirty="0" err="1"/>
              <a:t>thủ</a:t>
            </a:r>
            <a:r>
              <a:rPr lang="en-US" dirty="0"/>
              <a:t> </a:t>
            </a:r>
            <a:r>
              <a:rPr lang="en-US" dirty="0" err="1"/>
              <a:t>tục</a:t>
            </a:r>
            <a:r>
              <a:rPr lang="en-US" dirty="0"/>
              <a:t> </a:t>
            </a:r>
            <a:r>
              <a:rPr lang="en-US" dirty="0" err="1"/>
              <a:t>nội</a:t>
            </a:r>
            <a:r>
              <a:rPr lang="en-US" dirty="0"/>
              <a:t> </a:t>
            </a:r>
            <a:r>
              <a:rPr lang="en-US" dirty="0" err="1"/>
              <a:t>tại</a:t>
            </a:r>
            <a:r>
              <a:rPr lang="en-US" dirty="0"/>
              <a:t> </a:t>
            </a:r>
            <a:r>
              <a:rPr lang="en-US" dirty="0" err="1"/>
              <a:t>trong</a:t>
            </a:r>
            <a:r>
              <a:rPr lang="en-US" dirty="0"/>
              <a:t> </a:t>
            </a:r>
            <a:r>
              <a:rPr lang="en-US" dirty="0" err="1"/>
              <a:t>phần</a:t>
            </a:r>
            <a:r>
              <a:rPr lang="en-US" dirty="0"/>
              <a:t> code </a:t>
            </a:r>
            <a:r>
              <a:rPr lang="en-US" dirty="0" err="1"/>
              <a:t>của</a:t>
            </a:r>
            <a:r>
              <a:rPr lang="en-US" dirty="0"/>
              <a:t> </a:t>
            </a:r>
            <a:r>
              <a:rPr lang="en-US" dirty="0" err="1"/>
              <a:t>trang</a:t>
            </a:r>
            <a:r>
              <a:rPr lang="en-US" dirty="0"/>
              <a:t> webform ta </a:t>
            </a:r>
            <a:r>
              <a:rPr lang="en-US" dirty="0" err="1"/>
              <a:t>khai</a:t>
            </a:r>
            <a:r>
              <a:rPr lang="en-US" dirty="0"/>
              <a:t> </a:t>
            </a:r>
            <a:r>
              <a:rPr lang="en-US" dirty="0" err="1"/>
              <a:t>báo</a:t>
            </a:r>
            <a:r>
              <a:rPr lang="en-US" dirty="0"/>
              <a:t> </a:t>
            </a:r>
            <a:r>
              <a:rPr lang="en-US" dirty="0" err="1"/>
              <a:t>đối</a:t>
            </a:r>
            <a:r>
              <a:rPr lang="en-US" dirty="0"/>
              <a:t> </a:t>
            </a:r>
            <a:r>
              <a:rPr lang="en-US" dirty="0" err="1"/>
              <a:t>tượng</a:t>
            </a:r>
            <a:r>
              <a:rPr lang="en-US" dirty="0"/>
              <a:t> command </a:t>
            </a:r>
            <a:r>
              <a:rPr lang="en-US" dirty="0" err="1"/>
              <a:t>như</a:t>
            </a:r>
            <a:r>
              <a:rPr lang="en-US" dirty="0"/>
              <a:t> </a:t>
            </a:r>
            <a:r>
              <a:rPr lang="en-US" dirty="0" err="1"/>
              <a:t>sau</a:t>
            </a:r>
            <a:endParaRPr lang="en-US" dirty="0"/>
          </a:p>
          <a:p>
            <a:pPr marL="228600" lvl="1" indent="0">
              <a:buNone/>
            </a:pPr>
            <a:r>
              <a:rPr lang="en-US" dirty="0" err="1">
                <a:solidFill>
                  <a:schemeClr val="tx2"/>
                </a:solidFill>
              </a:rPr>
              <a:t>SqlCommand</a:t>
            </a:r>
            <a:r>
              <a:rPr lang="en-US" dirty="0">
                <a:solidFill>
                  <a:schemeClr val="tx2"/>
                </a:solidFill>
              </a:rPr>
              <a:t> </a:t>
            </a:r>
            <a:r>
              <a:rPr lang="en-US" dirty="0" err="1">
                <a:solidFill>
                  <a:schemeClr val="tx2"/>
                </a:solidFill>
              </a:rPr>
              <a:t>cmd</a:t>
            </a:r>
            <a:r>
              <a:rPr lang="en-US" dirty="0">
                <a:solidFill>
                  <a:schemeClr val="tx2"/>
                </a:solidFill>
              </a:rPr>
              <a:t> = new </a:t>
            </a:r>
            <a:r>
              <a:rPr lang="en-US" dirty="0" err="1">
                <a:solidFill>
                  <a:schemeClr val="tx2"/>
                </a:solidFill>
              </a:rPr>
              <a:t>SqlCommand</a:t>
            </a:r>
            <a:r>
              <a:rPr lang="en-US" dirty="0">
                <a:solidFill>
                  <a:schemeClr val="tx2"/>
                </a:solidFill>
              </a:rPr>
              <a:t>("</a:t>
            </a:r>
            <a:r>
              <a:rPr lang="en-US" dirty="0" err="1">
                <a:solidFill>
                  <a:schemeClr val="tx2"/>
                </a:solidFill>
              </a:rPr>
              <a:t>sp_timCanBo</a:t>
            </a:r>
            <a:r>
              <a:rPr lang="en-US" dirty="0">
                <a:solidFill>
                  <a:schemeClr val="tx2"/>
                </a:solidFill>
              </a:rPr>
              <a:t>", conn); //Trong </a:t>
            </a:r>
            <a:r>
              <a:rPr lang="en-US" dirty="0" err="1">
                <a:solidFill>
                  <a:schemeClr val="tx2"/>
                </a:solidFill>
              </a:rPr>
              <a:t>đó</a:t>
            </a:r>
            <a:r>
              <a:rPr lang="en-US" dirty="0">
                <a:solidFill>
                  <a:schemeClr val="tx2"/>
                </a:solidFill>
              </a:rPr>
              <a:t> "</a:t>
            </a:r>
            <a:r>
              <a:rPr lang="en-US" dirty="0" err="1">
                <a:solidFill>
                  <a:schemeClr val="tx2"/>
                </a:solidFill>
              </a:rPr>
              <a:t>sp_timCanBo</a:t>
            </a:r>
            <a:r>
              <a:rPr lang="en-US" dirty="0">
                <a:solidFill>
                  <a:schemeClr val="tx2"/>
                </a:solidFill>
              </a:rPr>
              <a:t>" </a:t>
            </a:r>
            <a:r>
              <a:rPr lang="en-US" dirty="0" err="1">
                <a:solidFill>
                  <a:schemeClr val="tx2"/>
                </a:solidFill>
              </a:rPr>
              <a:t>là</a:t>
            </a:r>
            <a:r>
              <a:rPr lang="en-US" dirty="0">
                <a:solidFill>
                  <a:schemeClr val="tx2"/>
                </a:solidFill>
              </a:rPr>
              <a:t> </a:t>
            </a:r>
            <a:r>
              <a:rPr lang="en-US" b="1" dirty="0" err="1">
                <a:solidFill>
                  <a:schemeClr val="tx2"/>
                </a:solidFill>
              </a:rPr>
              <a:t>tên</a:t>
            </a:r>
            <a:r>
              <a:rPr lang="en-US" b="1" dirty="0">
                <a:solidFill>
                  <a:schemeClr val="tx2"/>
                </a:solidFill>
              </a:rPr>
              <a:t> Stored Procedure</a:t>
            </a:r>
            <a:r>
              <a:rPr lang="en-US" dirty="0">
                <a:solidFill>
                  <a:schemeClr val="tx2"/>
                </a:solidFill>
              </a:rPr>
              <a:t>, conn </a:t>
            </a:r>
            <a:r>
              <a:rPr lang="en-US" dirty="0" err="1">
                <a:solidFill>
                  <a:schemeClr val="tx2"/>
                </a:solidFill>
              </a:rPr>
              <a:t>là</a:t>
            </a:r>
            <a:r>
              <a:rPr lang="en-US" dirty="0">
                <a:solidFill>
                  <a:schemeClr val="tx2"/>
                </a:solidFill>
              </a:rPr>
              <a:t> </a:t>
            </a:r>
            <a:r>
              <a:rPr lang="en-US" dirty="0" err="1">
                <a:solidFill>
                  <a:schemeClr val="tx2"/>
                </a:solidFill>
              </a:rPr>
              <a:t>đối</a:t>
            </a:r>
            <a:r>
              <a:rPr lang="en-US" dirty="0">
                <a:solidFill>
                  <a:schemeClr val="tx2"/>
                </a:solidFill>
              </a:rPr>
              <a:t> </a:t>
            </a:r>
            <a:r>
              <a:rPr lang="en-US" dirty="0" err="1">
                <a:solidFill>
                  <a:schemeClr val="tx2"/>
                </a:solidFill>
              </a:rPr>
              <a:t>tượng</a:t>
            </a:r>
            <a:r>
              <a:rPr lang="en-US" dirty="0">
                <a:solidFill>
                  <a:schemeClr val="tx2"/>
                </a:solidFill>
              </a:rPr>
              <a:t> </a:t>
            </a:r>
            <a:r>
              <a:rPr lang="en-US" dirty="0" err="1">
                <a:solidFill>
                  <a:schemeClr val="tx2"/>
                </a:solidFill>
              </a:rPr>
              <a:t>SQLConnection</a:t>
            </a:r>
            <a:r>
              <a:rPr lang="en-US" dirty="0">
                <a:solidFill>
                  <a:schemeClr val="tx2"/>
                </a:solidFill>
              </a:rPr>
              <a:t> </a:t>
            </a:r>
            <a:r>
              <a:rPr lang="en-US" dirty="0" err="1">
                <a:solidFill>
                  <a:schemeClr val="tx2"/>
                </a:solidFill>
              </a:rPr>
              <a:t>đã</a:t>
            </a:r>
            <a:r>
              <a:rPr lang="en-US" dirty="0">
                <a:solidFill>
                  <a:schemeClr val="tx2"/>
                </a:solidFill>
              </a:rPr>
              <a:t> </a:t>
            </a:r>
            <a:r>
              <a:rPr lang="en-US" dirty="0" err="1">
                <a:solidFill>
                  <a:schemeClr val="tx2"/>
                </a:solidFill>
              </a:rPr>
              <a:t>khai</a:t>
            </a:r>
            <a:r>
              <a:rPr lang="en-US" dirty="0">
                <a:solidFill>
                  <a:schemeClr val="tx2"/>
                </a:solidFill>
              </a:rPr>
              <a:t> </a:t>
            </a:r>
            <a:r>
              <a:rPr lang="en-US" dirty="0" err="1">
                <a:solidFill>
                  <a:schemeClr val="tx2"/>
                </a:solidFill>
              </a:rPr>
              <a:t>báo</a:t>
            </a:r>
            <a:r>
              <a:rPr lang="en-US" dirty="0">
                <a:solidFill>
                  <a:schemeClr val="tx2"/>
                </a:solidFill>
              </a:rPr>
              <a:t> </a:t>
            </a:r>
            <a:r>
              <a:rPr lang="en-US" dirty="0" err="1">
                <a:solidFill>
                  <a:schemeClr val="tx2"/>
                </a:solidFill>
              </a:rPr>
              <a:t>trước</a:t>
            </a:r>
            <a:r>
              <a:rPr lang="en-US" dirty="0">
                <a:solidFill>
                  <a:schemeClr val="tx2"/>
                </a:solidFill>
              </a:rPr>
              <a:t> </a:t>
            </a:r>
            <a:r>
              <a:rPr lang="en-US" dirty="0" err="1">
                <a:solidFill>
                  <a:schemeClr val="tx2"/>
                </a:solidFill>
              </a:rPr>
              <a:t>đó</a:t>
            </a:r>
            <a:r>
              <a:rPr lang="en-US" dirty="0">
                <a:solidFill>
                  <a:schemeClr val="tx2"/>
                </a:solidFill>
              </a:rPr>
              <a:t>.</a:t>
            </a:r>
          </a:p>
          <a:p>
            <a:pPr marL="228600" lvl="1" indent="0">
              <a:buNone/>
            </a:pPr>
            <a:r>
              <a:rPr lang="en-US" dirty="0" err="1">
                <a:solidFill>
                  <a:schemeClr val="tx2"/>
                </a:solidFill>
              </a:rPr>
              <a:t>cmd.CommandType</a:t>
            </a:r>
            <a:r>
              <a:rPr lang="en-US" dirty="0">
                <a:solidFill>
                  <a:schemeClr val="tx2"/>
                </a:solidFill>
              </a:rPr>
              <a:t> = </a:t>
            </a:r>
            <a:r>
              <a:rPr lang="en-US" dirty="0" err="1">
                <a:solidFill>
                  <a:schemeClr val="tx2"/>
                </a:solidFill>
              </a:rPr>
              <a:t>CommandType.StoredProcedure</a:t>
            </a:r>
            <a:r>
              <a:rPr lang="en-US" dirty="0">
                <a:solidFill>
                  <a:schemeClr val="tx2"/>
                </a:solidFill>
              </a:rPr>
              <a:t>; //Khai </a:t>
            </a:r>
            <a:r>
              <a:rPr lang="en-US" dirty="0" err="1">
                <a:solidFill>
                  <a:schemeClr val="tx2"/>
                </a:solidFill>
              </a:rPr>
              <a:t>báo</a:t>
            </a:r>
            <a:r>
              <a:rPr lang="en-US" dirty="0">
                <a:solidFill>
                  <a:schemeClr val="tx2"/>
                </a:solidFill>
              </a:rPr>
              <a:t> </a:t>
            </a:r>
            <a:r>
              <a:rPr lang="en-US" dirty="0" err="1">
                <a:solidFill>
                  <a:schemeClr val="tx2"/>
                </a:solidFill>
              </a:rPr>
              <a:t>sử</a:t>
            </a:r>
            <a:r>
              <a:rPr lang="en-US" dirty="0">
                <a:solidFill>
                  <a:schemeClr val="tx2"/>
                </a:solidFill>
              </a:rPr>
              <a:t> </a:t>
            </a:r>
            <a:r>
              <a:rPr lang="en-US" dirty="0" err="1">
                <a:solidFill>
                  <a:schemeClr val="tx2"/>
                </a:solidFill>
              </a:rPr>
              <a:t>dụng</a:t>
            </a:r>
            <a:r>
              <a:rPr lang="en-US" dirty="0">
                <a:solidFill>
                  <a:schemeClr val="tx2"/>
                </a:solidFill>
              </a:rPr>
              <a:t> </a:t>
            </a:r>
            <a:r>
              <a:rPr lang="en-US" dirty="0" err="1">
                <a:solidFill>
                  <a:schemeClr val="tx2"/>
                </a:solidFill>
              </a:rPr>
              <a:t>thủ</a:t>
            </a:r>
            <a:r>
              <a:rPr lang="en-US" dirty="0">
                <a:solidFill>
                  <a:schemeClr val="tx2"/>
                </a:solidFill>
              </a:rPr>
              <a:t> </a:t>
            </a:r>
            <a:r>
              <a:rPr lang="en-US" dirty="0" err="1">
                <a:solidFill>
                  <a:schemeClr val="tx2"/>
                </a:solidFill>
              </a:rPr>
              <a:t>tục</a:t>
            </a:r>
            <a:r>
              <a:rPr lang="en-US" dirty="0">
                <a:solidFill>
                  <a:schemeClr val="tx2"/>
                </a:solidFill>
              </a:rPr>
              <a:t> </a:t>
            </a:r>
            <a:r>
              <a:rPr lang="en-US" dirty="0" err="1">
                <a:solidFill>
                  <a:schemeClr val="tx2"/>
                </a:solidFill>
              </a:rPr>
              <a:t>nội</a:t>
            </a:r>
            <a:r>
              <a:rPr lang="en-US" dirty="0">
                <a:solidFill>
                  <a:schemeClr val="tx2"/>
                </a:solidFill>
              </a:rPr>
              <a:t> </a:t>
            </a:r>
            <a:r>
              <a:rPr lang="en-US" dirty="0" err="1">
                <a:solidFill>
                  <a:schemeClr val="tx2"/>
                </a:solidFill>
              </a:rPr>
              <a:t>tại</a:t>
            </a:r>
            <a:endParaRPr lang="en-US" dirty="0">
              <a:solidFill>
                <a:schemeClr val="tx2"/>
              </a:solidFill>
            </a:endParaRPr>
          </a:p>
          <a:p>
            <a:pPr marL="228600" lvl="1" indent="0">
              <a:buNone/>
            </a:pPr>
            <a:r>
              <a:rPr lang="en-US" dirty="0" err="1">
                <a:solidFill>
                  <a:schemeClr val="tx2"/>
                </a:solidFill>
              </a:rPr>
              <a:t>cmd.Parameters.AddWithValue</a:t>
            </a:r>
            <a:r>
              <a:rPr lang="en-US" dirty="0">
                <a:solidFill>
                  <a:schemeClr val="tx2"/>
                </a:solidFill>
              </a:rPr>
              <a:t>( "@</a:t>
            </a:r>
            <a:r>
              <a:rPr lang="en-US" dirty="0" err="1">
                <a:solidFill>
                  <a:schemeClr val="tx2"/>
                </a:solidFill>
              </a:rPr>
              <a:t>macb</a:t>
            </a:r>
            <a:r>
              <a:rPr lang="en-US" dirty="0">
                <a:solidFill>
                  <a:schemeClr val="tx2"/>
                </a:solidFill>
              </a:rPr>
              <a:t>", </a:t>
            </a:r>
            <a:r>
              <a:rPr lang="en-US" dirty="0" err="1">
                <a:solidFill>
                  <a:schemeClr val="tx2"/>
                </a:solidFill>
              </a:rPr>
              <a:t>txtMaCB.Text</a:t>
            </a:r>
            <a:r>
              <a:rPr lang="en-US" dirty="0">
                <a:solidFill>
                  <a:schemeClr val="tx2"/>
                </a:solidFill>
              </a:rPr>
              <a:t>);// </a:t>
            </a:r>
            <a:r>
              <a:rPr lang="en-US" dirty="0" err="1">
                <a:solidFill>
                  <a:schemeClr val="tx2"/>
                </a:solidFill>
              </a:rPr>
              <a:t>truyền</a:t>
            </a:r>
            <a:r>
              <a:rPr lang="en-US" dirty="0">
                <a:solidFill>
                  <a:schemeClr val="tx2"/>
                </a:solidFill>
              </a:rPr>
              <a:t> </a:t>
            </a:r>
            <a:r>
              <a:rPr lang="en-US" dirty="0" err="1">
                <a:solidFill>
                  <a:schemeClr val="tx2"/>
                </a:solidFill>
              </a:rPr>
              <a:t>tham</a:t>
            </a:r>
            <a:r>
              <a:rPr lang="en-US" dirty="0">
                <a:solidFill>
                  <a:schemeClr val="tx2"/>
                </a:solidFill>
              </a:rPr>
              <a:t> </a:t>
            </a:r>
            <a:r>
              <a:rPr lang="en-US" dirty="0" err="1">
                <a:solidFill>
                  <a:schemeClr val="tx2"/>
                </a:solidFill>
              </a:rPr>
              <a:t>số</a:t>
            </a:r>
            <a:r>
              <a:rPr lang="en-US" dirty="0">
                <a:solidFill>
                  <a:schemeClr val="tx2"/>
                </a:solidFill>
              </a:rPr>
              <a:t> </a:t>
            </a:r>
            <a:r>
              <a:rPr lang="en-US" dirty="0" err="1">
                <a:solidFill>
                  <a:schemeClr val="tx2"/>
                </a:solidFill>
              </a:rPr>
              <a:t>vào</a:t>
            </a:r>
            <a:r>
              <a:rPr lang="en-US" dirty="0">
                <a:solidFill>
                  <a:schemeClr val="tx2"/>
                </a:solidFill>
              </a:rPr>
              <a:t> </a:t>
            </a:r>
            <a:r>
              <a:rPr lang="en-US" dirty="0" err="1">
                <a:solidFill>
                  <a:schemeClr val="tx2"/>
                </a:solidFill>
              </a:rPr>
              <a:t>thủ</a:t>
            </a:r>
            <a:r>
              <a:rPr lang="en-US" dirty="0">
                <a:solidFill>
                  <a:schemeClr val="tx2"/>
                </a:solidFill>
              </a:rPr>
              <a:t> </a:t>
            </a:r>
            <a:r>
              <a:rPr lang="en-US" dirty="0" err="1">
                <a:solidFill>
                  <a:schemeClr val="tx2"/>
                </a:solidFill>
              </a:rPr>
              <a:t>tục</a:t>
            </a:r>
            <a:r>
              <a:rPr lang="en-US" dirty="0">
                <a:solidFill>
                  <a:schemeClr val="tx2"/>
                </a:solidFill>
              </a:rPr>
              <a:t> </a:t>
            </a:r>
            <a:r>
              <a:rPr lang="en-US" dirty="0" err="1">
                <a:solidFill>
                  <a:schemeClr val="tx2"/>
                </a:solidFill>
              </a:rPr>
              <a:t>nội</a:t>
            </a:r>
            <a:r>
              <a:rPr lang="en-US" dirty="0">
                <a:solidFill>
                  <a:schemeClr val="tx2"/>
                </a:solidFill>
              </a:rPr>
              <a:t> </a:t>
            </a:r>
            <a:r>
              <a:rPr lang="en-US" dirty="0" err="1">
                <a:solidFill>
                  <a:schemeClr val="tx2"/>
                </a:solidFill>
              </a:rPr>
              <a:t>tại</a:t>
            </a:r>
            <a:endParaRPr lang="en-US" dirty="0">
              <a:solidFill>
                <a:schemeClr val="tx2"/>
              </a:solidFill>
            </a:endParaRPr>
          </a:p>
          <a:p>
            <a:pPr marL="228600" lvl="1" indent="0">
              <a:buNone/>
            </a:pPr>
            <a:r>
              <a:rPr lang="en-US" dirty="0" err="1">
                <a:solidFill>
                  <a:schemeClr val="tx2"/>
                </a:solidFill>
              </a:rPr>
              <a:t>SqlDataReader</a:t>
            </a:r>
            <a:r>
              <a:rPr lang="en-US" dirty="0">
                <a:solidFill>
                  <a:schemeClr val="tx2"/>
                </a:solidFill>
              </a:rPr>
              <a:t> reader = </a:t>
            </a:r>
            <a:r>
              <a:rPr lang="en-US" dirty="0" err="1">
                <a:solidFill>
                  <a:schemeClr val="tx2"/>
                </a:solidFill>
              </a:rPr>
              <a:t>cmd.ExecuteReader</a:t>
            </a:r>
            <a:r>
              <a:rPr lang="en-US" dirty="0">
                <a:solidFill>
                  <a:schemeClr val="tx2"/>
                </a:solidFill>
              </a:rPr>
              <a:t>();// </a:t>
            </a:r>
            <a:r>
              <a:rPr lang="en-US" dirty="0" err="1">
                <a:solidFill>
                  <a:schemeClr val="tx2"/>
                </a:solidFill>
              </a:rPr>
              <a:t>thực</a:t>
            </a:r>
            <a:r>
              <a:rPr lang="en-US" dirty="0">
                <a:solidFill>
                  <a:schemeClr val="tx2"/>
                </a:solidFill>
              </a:rPr>
              <a:t> </a:t>
            </a:r>
            <a:r>
              <a:rPr lang="en-US" dirty="0" err="1">
                <a:solidFill>
                  <a:schemeClr val="tx2"/>
                </a:solidFill>
              </a:rPr>
              <a:t>thi</a:t>
            </a:r>
            <a:endParaRPr lang="en-US" dirty="0">
              <a:solidFill>
                <a:schemeClr val="tx2"/>
              </a:solidFill>
            </a:endParaRPr>
          </a:p>
        </p:txBody>
      </p:sp>
      <p:sp>
        <p:nvSpPr>
          <p:cNvPr id="4" name="Slide Number Placeholder 3">
            <a:extLst>
              <a:ext uri="{FF2B5EF4-FFF2-40B4-BE49-F238E27FC236}">
                <a16:creationId xmlns:a16="http://schemas.microsoft.com/office/drawing/2014/main" id="{65526327-64C8-4183-EB51-6CDFF741F605}"/>
              </a:ext>
            </a:extLst>
          </p:cNvPr>
          <p:cNvSpPr>
            <a:spLocks noGrp="1"/>
          </p:cNvSpPr>
          <p:nvPr>
            <p:ph type="sldNum" sz="quarter" idx="10"/>
          </p:nvPr>
        </p:nvSpPr>
        <p:spPr/>
        <p:txBody>
          <a:bodyPr/>
          <a:lstStyle/>
          <a:p>
            <a:fld id="{2AEE2371-D0CC-4967-BE28-70407D2A399D}" type="slidenum">
              <a:rPr lang="en-US" smtClean="0"/>
              <a:t>26</a:t>
            </a:fld>
            <a:endParaRPr lang="en-US"/>
          </a:p>
        </p:txBody>
      </p:sp>
    </p:spTree>
    <p:extLst>
      <p:ext uri="{BB962C8B-B14F-4D97-AF65-F5344CB8AC3E}">
        <p14:creationId xmlns:p14="http://schemas.microsoft.com/office/powerpoint/2010/main" val="30147759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318" y="558030"/>
            <a:ext cx="10993967" cy="498475"/>
          </a:xfrm>
        </p:spPr>
        <p:txBody>
          <a:bodyPr/>
          <a:lstStyle/>
          <a:p>
            <a:r>
              <a:rPr lang="en-US" dirty="0"/>
              <a:t>3.3. </a:t>
            </a:r>
            <a:r>
              <a:rPr lang="en-US" dirty="0" err="1"/>
              <a:t>Đối</a:t>
            </a:r>
            <a:r>
              <a:rPr lang="en-US" dirty="0"/>
              <a:t> </a:t>
            </a:r>
            <a:r>
              <a:rPr lang="en-US" dirty="0" err="1"/>
              <a:t>tượng</a:t>
            </a:r>
            <a:r>
              <a:rPr lang="en-US" dirty="0"/>
              <a:t> Data Reader </a:t>
            </a:r>
          </a:p>
        </p:txBody>
      </p:sp>
      <p:sp>
        <p:nvSpPr>
          <p:cNvPr id="3" name="Content Placeholder 2"/>
          <p:cNvSpPr>
            <a:spLocks noGrp="1"/>
          </p:cNvSpPr>
          <p:nvPr>
            <p:ph idx="1"/>
          </p:nvPr>
        </p:nvSpPr>
        <p:spPr>
          <a:xfrm>
            <a:off x="831852" y="1161008"/>
            <a:ext cx="10367433" cy="5278981"/>
          </a:xfrm>
        </p:spPr>
        <p:txBody>
          <a:bodyPr/>
          <a:lstStyle/>
          <a:p>
            <a:r>
              <a:rPr lang="en-US" dirty="0"/>
              <a:t>Đ</a:t>
            </a:r>
            <a:r>
              <a:rPr lang="vi-VN" dirty="0"/>
              <a:t>ối tượng này được </a:t>
            </a:r>
            <a:r>
              <a:rPr lang="en-US" dirty="0"/>
              <a:t>.N</a:t>
            </a:r>
            <a:r>
              <a:rPr lang="vi-VN" dirty="0"/>
              <a:t>et cung cấp để đọc dữ liệu từ bảng cơ sở dữ liệu, nó là đối tượng chỉ phục vụ thao tác đọc dữ liệu(Read only). </a:t>
            </a:r>
            <a:endParaRPr lang="en-US" dirty="0"/>
          </a:p>
          <a:p>
            <a:r>
              <a:rPr lang="vi-VN" dirty="0"/>
              <a:t>Trong khi truy xuất dữ liệu nó sẽ giữ kết nối liên tục với databas</a:t>
            </a:r>
            <a:r>
              <a:rPr lang="en-US" dirty="0"/>
              <a:t>e</a:t>
            </a:r>
          </a:p>
          <a:p>
            <a:r>
              <a:rPr lang="vi-VN" dirty="0"/>
              <a:t>Khai báo và khởi tạo đối tượng</a:t>
            </a:r>
          </a:p>
          <a:p>
            <a:pPr marL="454025" lvl="2" indent="0">
              <a:buNone/>
            </a:pPr>
            <a:r>
              <a:rPr lang="en-US" sz="2200" dirty="0" err="1">
                <a:solidFill>
                  <a:schemeClr val="accent1"/>
                </a:solidFill>
              </a:rPr>
              <a:t>SqlDataReader</a:t>
            </a:r>
            <a:r>
              <a:rPr lang="en-US" sz="2200" dirty="0">
                <a:solidFill>
                  <a:schemeClr val="accent1"/>
                </a:solidFill>
              </a:rPr>
              <a:t> </a:t>
            </a:r>
            <a:r>
              <a:rPr lang="en-US" sz="2200" dirty="0" err="1">
                <a:solidFill>
                  <a:schemeClr val="accent1"/>
                </a:solidFill>
              </a:rPr>
              <a:t>sqlreader</a:t>
            </a:r>
            <a:r>
              <a:rPr lang="en-US" sz="2200" dirty="0">
                <a:solidFill>
                  <a:schemeClr val="accent1"/>
                </a:solidFill>
              </a:rPr>
              <a:t>; </a:t>
            </a:r>
            <a:br>
              <a:rPr lang="en-US" sz="2200" dirty="0">
                <a:solidFill>
                  <a:schemeClr val="accent1"/>
                </a:solidFill>
              </a:rPr>
            </a:br>
            <a:r>
              <a:rPr lang="en-US" sz="2200" dirty="0" err="1">
                <a:solidFill>
                  <a:schemeClr val="accent1"/>
                </a:solidFill>
              </a:rPr>
              <a:t>sqlreader</a:t>
            </a:r>
            <a:r>
              <a:rPr lang="en-US" sz="2200" dirty="0">
                <a:solidFill>
                  <a:schemeClr val="accent1"/>
                </a:solidFill>
              </a:rPr>
              <a:t> = </a:t>
            </a:r>
            <a:r>
              <a:rPr lang="en-US" sz="2200" dirty="0" err="1">
                <a:solidFill>
                  <a:schemeClr val="accent1"/>
                </a:solidFill>
              </a:rPr>
              <a:t>myCommand.ExecuteReader</a:t>
            </a:r>
            <a:r>
              <a:rPr lang="en-US" sz="2200" dirty="0">
                <a:solidFill>
                  <a:schemeClr val="accent1"/>
                </a:solidFill>
              </a:rPr>
              <a:t>();</a:t>
            </a:r>
          </a:p>
          <a:p>
            <a:r>
              <a:rPr lang="en-US" sz="2600" dirty="0" err="1"/>
              <a:t>Để</a:t>
            </a:r>
            <a:r>
              <a:rPr lang="en-US" sz="2600" dirty="0"/>
              <a:t> </a:t>
            </a:r>
            <a:r>
              <a:rPr lang="en-US" sz="2600" dirty="0" err="1"/>
              <a:t>duyệt</a:t>
            </a:r>
            <a:r>
              <a:rPr lang="en-US" sz="2600" dirty="0"/>
              <a:t> qua </a:t>
            </a:r>
            <a:r>
              <a:rPr lang="en-US" sz="2600" dirty="0" err="1"/>
              <a:t>các</a:t>
            </a:r>
            <a:r>
              <a:rPr lang="en-US" sz="2600" dirty="0"/>
              <a:t> </a:t>
            </a:r>
            <a:r>
              <a:rPr lang="en-US" sz="2600" dirty="0" err="1"/>
              <a:t>mẫu</a:t>
            </a:r>
            <a:r>
              <a:rPr lang="en-US" sz="2600" dirty="0"/>
              <a:t> tin </a:t>
            </a:r>
            <a:r>
              <a:rPr lang="en-US" sz="2600" dirty="0" err="1"/>
              <a:t>dùng</a:t>
            </a:r>
            <a:r>
              <a:rPr lang="en-US" sz="2600" dirty="0"/>
              <a:t> </a:t>
            </a:r>
            <a:r>
              <a:rPr lang="en-US" sz="2600" dirty="0" err="1"/>
              <a:t>phương</a:t>
            </a:r>
            <a:r>
              <a:rPr lang="en-US" sz="2600" dirty="0"/>
              <a:t> </a:t>
            </a:r>
            <a:r>
              <a:rPr lang="en-US" sz="2600" dirty="0" err="1"/>
              <a:t>thức</a:t>
            </a:r>
            <a:r>
              <a:rPr lang="en-US" sz="2600" dirty="0"/>
              <a:t> </a:t>
            </a:r>
            <a:r>
              <a:rPr lang="en-US" sz="2600" dirty="0">
                <a:solidFill>
                  <a:schemeClr val="accent1"/>
                </a:solidFill>
              </a:rPr>
              <a:t>read()</a:t>
            </a:r>
            <a:r>
              <a:rPr lang="en-US" sz="2600" dirty="0"/>
              <a:t>, (</a:t>
            </a:r>
            <a:r>
              <a:rPr lang="en-US" sz="2600" dirty="0" err="1"/>
              <a:t>trả</a:t>
            </a:r>
            <a:r>
              <a:rPr lang="en-US" sz="2600" dirty="0"/>
              <a:t> </a:t>
            </a:r>
            <a:r>
              <a:rPr lang="en-US" sz="2600" dirty="0" err="1"/>
              <a:t>ra</a:t>
            </a:r>
            <a:r>
              <a:rPr lang="en-US" sz="2600" dirty="0"/>
              <a:t> </a:t>
            </a:r>
            <a:r>
              <a:rPr lang="en-US" sz="2600" dirty="0" err="1"/>
              <a:t>giá</a:t>
            </a:r>
            <a:r>
              <a:rPr lang="en-US" sz="2600" dirty="0"/>
              <a:t> </a:t>
            </a:r>
            <a:r>
              <a:rPr lang="en-US" sz="2600" dirty="0" err="1"/>
              <a:t>trị</a:t>
            </a:r>
            <a:r>
              <a:rPr lang="en-US" sz="2600" dirty="0"/>
              <a:t> false </a:t>
            </a:r>
            <a:r>
              <a:rPr lang="en-US" sz="2600" dirty="0" err="1"/>
              <a:t>nếu</a:t>
            </a:r>
            <a:r>
              <a:rPr lang="en-US" sz="2600" dirty="0"/>
              <a:t> </a:t>
            </a:r>
            <a:r>
              <a:rPr lang="en-US" sz="2600" dirty="0" err="1"/>
              <a:t>duyêt</a:t>
            </a:r>
            <a:r>
              <a:rPr lang="en-US" sz="2600" dirty="0"/>
              <a:t> qua </a:t>
            </a:r>
            <a:r>
              <a:rPr lang="en-US" sz="2600" dirty="0" err="1"/>
              <a:t>mẫu</a:t>
            </a:r>
            <a:r>
              <a:rPr lang="en-US" sz="2600" dirty="0"/>
              <a:t> tin </a:t>
            </a:r>
            <a:r>
              <a:rPr lang="en-US" sz="2600" dirty="0" err="1"/>
              <a:t>cuối</a:t>
            </a:r>
            <a:r>
              <a:rPr lang="en-US" sz="2600" dirty="0"/>
              <a:t> </a:t>
            </a:r>
            <a:r>
              <a:rPr lang="en-US" sz="2600" dirty="0" err="1"/>
              <a:t>cùng</a:t>
            </a:r>
            <a:r>
              <a:rPr lang="en-US" sz="2600" dirty="0"/>
              <a:t>)</a:t>
            </a:r>
          </a:p>
          <a:p>
            <a:r>
              <a:rPr lang="en-US" sz="2600" dirty="0"/>
              <a:t>Đ</a:t>
            </a:r>
            <a:r>
              <a:rPr lang="vi-VN" sz="2600" dirty="0"/>
              <a:t>ể giải phóng đối tượng kết nối</a:t>
            </a:r>
            <a:r>
              <a:rPr lang="en-US" sz="2800" dirty="0"/>
              <a:t> ta </a:t>
            </a:r>
            <a:r>
              <a:rPr lang="en-US" sz="2800" dirty="0" err="1"/>
              <a:t>gọi</a:t>
            </a:r>
            <a:r>
              <a:rPr lang="en-US" sz="2800" dirty="0"/>
              <a:t> </a:t>
            </a:r>
            <a:r>
              <a:rPr lang="en-US" sz="2800" dirty="0" err="1"/>
              <a:t>phương</a:t>
            </a:r>
            <a:r>
              <a:rPr lang="en-US" sz="2800" dirty="0"/>
              <a:t> </a:t>
            </a:r>
            <a:r>
              <a:rPr lang="en-US" sz="2800" dirty="0" err="1"/>
              <a:t>thức</a:t>
            </a:r>
            <a:r>
              <a:rPr lang="en-US" sz="2800" dirty="0"/>
              <a:t> </a:t>
            </a:r>
            <a:r>
              <a:rPr lang="en-US" sz="2800" dirty="0">
                <a:solidFill>
                  <a:schemeClr val="accent1"/>
                </a:solidFill>
              </a:rPr>
              <a:t>Close().</a:t>
            </a:r>
            <a:endParaRPr lang="en-US" sz="2600" dirty="0">
              <a:solidFill>
                <a:schemeClr val="accent1"/>
              </a:solidFill>
            </a:endParaRPr>
          </a:p>
        </p:txBody>
      </p:sp>
      <p:sp>
        <p:nvSpPr>
          <p:cNvPr id="4" name="Slide Number Placeholder 3"/>
          <p:cNvSpPr>
            <a:spLocks noGrp="1"/>
          </p:cNvSpPr>
          <p:nvPr>
            <p:ph type="sldNum" sz="quarter" idx="10"/>
          </p:nvPr>
        </p:nvSpPr>
        <p:spPr/>
        <p:txBody>
          <a:bodyPr/>
          <a:lstStyle/>
          <a:p>
            <a:fld id="{2AEE2371-D0CC-4967-BE28-70407D2A399D}" type="slidenum">
              <a:rPr lang="en-US" smtClean="0"/>
              <a:t>27</a:t>
            </a:fld>
            <a:endParaRPr lang="en-US"/>
          </a:p>
        </p:txBody>
      </p:sp>
    </p:spTree>
    <p:extLst>
      <p:ext uri="{BB962C8B-B14F-4D97-AF65-F5344CB8AC3E}">
        <p14:creationId xmlns:p14="http://schemas.microsoft.com/office/powerpoint/2010/main" val="1154159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Xây</a:t>
            </a:r>
            <a:r>
              <a:rPr lang="en-US" dirty="0"/>
              <a:t> </a:t>
            </a:r>
            <a:r>
              <a:rPr lang="en-US" dirty="0" err="1"/>
              <a:t>dựng</a:t>
            </a:r>
            <a:r>
              <a:rPr lang="en-US" dirty="0"/>
              <a:t> </a:t>
            </a:r>
            <a:r>
              <a:rPr lang="en-US" dirty="0" err="1"/>
              <a:t>trang</a:t>
            </a:r>
            <a:r>
              <a:rPr lang="en-US" dirty="0"/>
              <a:t> Web </a:t>
            </a:r>
            <a:r>
              <a:rPr lang="en-US" dirty="0" err="1"/>
              <a:t>lấy</a:t>
            </a:r>
            <a:r>
              <a:rPr lang="en-US" dirty="0"/>
              <a:t> </a:t>
            </a:r>
            <a:r>
              <a:rPr lang="en-US" dirty="0" err="1"/>
              <a:t>dữ</a:t>
            </a:r>
            <a:r>
              <a:rPr lang="en-US" dirty="0"/>
              <a:t> </a:t>
            </a:r>
            <a:r>
              <a:rPr lang="en-US" dirty="0" err="1"/>
              <a:t>liệu</a:t>
            </a:r>
            <a:r>
              <a:rPr lang="en-US" dirty="0"/>
              <a:t> </a:t>
            </a:r>
            <a:r>
              <a:rPr lang="en-US" dirty="0" err="1"/>
              <a:t>từ</a:t>
            </a:r>
            <a:r>
              <a:rPr lang="en-US" dirty="0"/>
              <a:t> </a:t>
            </a:r>
            <a:r>
              <a:rPr lang="en-US" dirty="0" err="1"/>
              <a:t>bảng</a:t>
            </a:r>
            <a:r>
              <a:rPr lang="en-US" dirty="0"/>
              <a:t> </a:t>
            </a:r>
            <a:r>
              <a:rPr lang="en-US" dirty="0" err="1"/>
              <a:t>cán</a:t>
            </a:r>
            <a:r>
              <a:rPr lang="en-US" dirty="0"/>
              <a:t> </a:t>
            </a:r>
            <a:r>
              <a:rPr lang="en-US" dirty="0" err="1"/>
              <a:t>bộ</a:t>
            </a:r>
            <a:r>
              <a:rPr lang="en-US" dirty="0"/>
              <a:t> </a:t>
            </a:r>
            <a:r>
              <a:rPr lang="en-US" dirty="0" err="1"/>
              <a:t>và</a:t>
            </a:r>
            <a:r>
              <a:rPr lang="en-US" dirty="0"/>
              <a:t> </a:t>
            </a:r>
            <a:r>
              <a:rPr lang="en-US" dirty="0" err="1"/>
              <a:t>hiển</a:t>
            </a:r>
            <a:r>
              <a:rPr lang="en-US" dirty="0"/>
              <a:t> </a:t>
            </a:r>
            <a:r>
              <a:rPr lang="en-US" dirty="0" err="1"/>
              <a:t>thị</a:t>
            </a:r>
            <a:r>
              <a:rPr lang="en-US" dirty="0"/>
              <a:t> </a:t>
            </a:r>
            <a:r>
              <a:rPr lang="en-US" dirty="0" err="1"/>
              <a:t>ra</a:t>
            </a:r>
            <a:r>
              <a:rPr lang="en-US" dirty="0"/>
              <a:t> </a:t>
            </a:r>
            <a:r>
              <a:rPr lang="en-US" dirty="0" err="1"/>
              <a:t>màn</a:t>
            </a:r>
            <a:r>
              <a:rPr lang="en-US" dirty="0"/>
              <a:t> </a:t>
            </a:r>
            <a:r>
              <a:rPr lang="en-US" dirty="0" err="1"/>
              <a:t>hình</a:t>
            </a:r>
            <a:endParaRPr lang="en-US" dirty="0"/>
          </a:p>
        </p:txBody>
      </p:sp>
      <p:sp>
        <p:nvSpPr>
          <p:cNvPr id="3" name="Content Placeholder 2"/>
          <p:cNvSpPr>
            <a:spLocks noGrp="1"/>
          </p:cNvSpPr>
          <p:nvPr>
            <p:ph idx="1"/>
          </p:nvPr>
        </p:nvSpPr>
        <p:spPr>
          <a:xfrm>
            <a:off x="831852" y="1370014"/>
            <a:ext cx="10367433" cy="3902075"/>
          </a:xfrm>
        </p:spPr>
        <p:txBody>
          <a:bodyPr/>
          <a:lstStyle/>
          <a:p>
            <a:r>
              <a:rPr lang="en-US" sz="2000" dirty="0">
                <a:solidFill>
                  <a:schemeClr val="accent1"/>
                </a:solidFill>
              </a:rPr>
              <a:t>string </a:t>
            </a:r>
            <a:r>
              <a:rPr lang="en-US" sz="2000" dirty="0" err="1"/>
              <a:t>connString</a:t>
            </a:r>
            <a:r>
              <a:rPr lang="en-US" sz="2000" dirty="0">
                <a:solidFill>
                  <a:schemeClr val="accent1"/>
                </a:solidFill>
              </a:rPr>
              <a:t> </a:t>
            </a:r>
            <a:r>
              <a:rPr lang="en-US" sz="2000" dirty="0"/>
              <a:t>=</a:t>
            </a:r>
            <a:r>
              <a:rPr lang="en-US" sz="2000" dirty="0">
                <a:solidFill>
                  <a:schemeClr val="accent1"/>
                </a:solidFill>
              </a:rPr>
              <a:t> </a:t>
            </a:r>
            <a:r>
              <a:rPr lang="en-US" sz="2000" dirty="0">
                <a:solidFill>
                  <a:srgbClr val="C00000"/>
                </a:solidFill>
              </a:rPr>
              <a:t>@"Data Source=.\</a:t>
            </a:r>
            <a:r>
              <a:rPr lang="en-US" sz="2000" dirty="0" err="1">
                <a:solidFill>
                  <a:srgbClr val="C00000"/>
                </a:solidFill>
              </a:rPr>
              <a:t>SQLEXPRESS;Database</a:t>
            </a:r>
            <a:r>
              <a:rPr lang="en-US" sz="2000" dirty="0">
                <a:solidFill>
                  <a:srgbClr val="C00000"/>
                </a:solidFill>
              </a:rPr>
              <a:t>= D:\testDemo\App_Data\test.mdf;Integrated Security=</a:t>
            </a:r>
            <a:r>
              <a:rPr lang="en-US" sz="2000" dirty="0" err="1">
                <a:solidFill>
                  <a:srgbClr val="C00000"/>
                </a:solidFill>
              </a:rPr>
              <a:t>True;User</a:t>
            </a:r>
            <a:r>
              <a:rPr lang="en-US" sz="2000" dirty="0">
                <a:solidFill>
                  <a:srgbClr val="C00000"/>
                </a:solidFill>
              </a:rPr>
              <a:t> Instance=True"</a:t>
            </a:r>
            <a:r>
              <a:rPr lang="en-US" sz="2000" dirty="0"/>
              <a:t>;</a:t>
            </a:r>
            <a:br>
              <a:rPr lang="en-US" sz="2000" dirty="0"/>
            </a:br>
            <a:r>
              <a:rPr lang="en-US" sz="2000" dirty="0" err="1">
                <a:solidFill>
                  <a:schemeClr val="accent1"/>
                </a:solidFill>
              </a:rPr>
              <a:t>SqlConnection</a:t>
            </a:r>
            <a:r>
              <a:rPr lang="en-US" sz="2000" dirty="0">
                <a:solidFill>
                  <a:schemeClr val="accent1"/>
                </a:solidFill>
              </a:rPr>
              <a:t> </a:t>
            </a:r>
            <a:r>
              <a:rPr lang="en-US" sz="2000" dirty="0" err="1"/>
              <a:t>myconn</a:t>
            </a:r>
            <a:r>
              <a:rPr lang="en-US" sz="2000" dirty="0">
                <a:solidFill>
                  <a:schemeClr val="accent1"/>
                </a:solidFill>
              </a:rPr>
              <a:t> = new </a:t>
            </a:r>
            <a:r>
              <a:rPr lang="en-US" sz="2000" dirty="0" err="1"/>
              <a:t>SqlConnection</a:t>
            </a:r>
            <a:r>
              <a:rPr lang="en-US" sz="2000" dirty="0"/>
              <a:t>(</a:t>
            </a:r>
            <a:r>
              <a:rPr lang="en-US" sz="2000" dirty="0" err="1"/>
              <a:t>connString</a:t>
            </a:r>
            <a:r>
              <a:rPr lang="en-US" sz="2000" dirty="0"/>
              <a:t>);</a:t>
            </a:r>
            <a:br>
              <a:rPr lang="en-US" sz="2000" dirty="0">
                <a:solidFill>
                  <a:schemeClr val="accent1"/>
                </a:solidFill>
              </a:rPr>
            </a:br>
            <a:r>
              <a:rPr lang="en-US" sz="2000" dirty="0" err="1"/>
              <a:t>myconn.Open</a:t>
            </a:r>
            <a:r>
              <a:rPr lang="en-US" sz="2000" dirty="0"/>
              <a:t>();</a:t>
            </a:r>
            <a:br>
              <a:rPr lang="en-US" sz="2000" dirty="0"/>
            </a:br>
            <a:r>
              <a:rPr lang="en-US" sz="2000" dirty="0">
                <a:solidFill>
                  <a:schemeClr val="accent1"/>
                </a:solidFill>
              </a:rPr>
              <a:t>string </a:t>
            </a:r>
            <a:r>
              <a:rPr lang="en-US" sz="2000" dirty="0" err="1"/>
              <a:t>sql</a:t>
            </a:r>
            <a:r>
              <a:rPr lang="en-US" sz="2000" dirty="0">
                <a:solidFill>
                  <a:schemeClr val="accent1"/>
                </a:solidFill>
              </a:rPr>
              <a:t>=</a:t>
            </a:r>
            <a:r>
              <a:rPr lang="en-US" sz="2000" dirty="0">
                <a:solidFill>
                  <a:srgbClr val="C00000"/>
                </a:solidFill>
              </a:rPr>
              <a:t>"select * from </a:t>
            </a:r>
            <a:r>
              <a:rPr lang="en-US" sz="2000" dirty="0" err="1">
                <a:solidFill>
                  <a:srgbClr val="C00000"/>
                </a:solidFill>
              </a:rPr>
              <a:t>canbo</a:t>
            </a:r>
            <a:r>
              <a:rPr lang="en-US" sz="2000" dirty="0">
                <a:solidFill>
                  <a:srgbClr val="C00000"/>
                </a:solidFill>
              </a:rPr>
              <a:t>"</a:t>
            </a:r>
            <a:r>
              <a:rPr lang="en-US" sz="2000" dirty="0">
                <a:solidFill>
                  <a:schemeClr val="accent1"/>
                </a:solidFill>
              </a:rPr>
              <a:t>;</a:t>
            </a:r>
            <a:br>
              <a:rPr lang="en-US" sz="2000" dirty="0">
                <a:solidFill>
                  <a:schemeClr val="accent1"/>
                </a:solidFill>
              </a:rPr>
            </a:br>
            <a:r>
              <a:rPr lang="en-US" sz="2000" dirty="0" err="1">
                <a:solidFill>
                  <a:schemeClr val="accent1"/>
                </a:solidFill>
              </a:rPr>
              <a:t>SqlCommand</a:t>
            </a:r>
            <a:r>
              <a:rPr lang="en-US" sz="2000" dirty="0">
                <a:solidFill>
                  <a:schemeClr val="accent1"/>
                </a:solidFill>
              </a:rPr>
              <a:t> </a:t>
            </a:r>
            <a:r>
              <a:rPr lang="en-US" sz="2000" dirty="0" err="1"/>
              <a:t>sqlcomm</a:t>
            </a:r>
            <a:r>
              <a:rPr lang="en-US" sz="2000" dirty="0">
                <a:solidFill>
                  <a:schemeClr val="accent1"/>
                </a:solidFill>
              </a:rPr>
              <a:t> = new </a:t>
            </a:r>
            <a:r>
              <a:rPr lang="en-US" sz="2000" dirty="0" err="1"/>
              <a:t>SqlCommand</a:t>
            </a:r>
            <a:r>
              <a:rPr lang="en-US" sz="2000" dirty="0"/>
              <a:t>(</a:t>
            </a:r>
            <a:r>
              <a:rPr lang="en-US" sz="2000" dirty="0" err="1"/>
              <a:t>sql</a:t>
            </a:r>
            <a:r>
              <a:rPr lang="en-US" sz="2000" dirty="0"/>
              <a:t>, </a:t>
            </a:r>
            <a:r>
              <a:rPr lang="en-US" sz="2000" dirty="0" err="1"/>
              <a:t>myconn</a:t>
            </a:r>
            <a:r>
              <a:rPr lang="en-US" sz="2000" dirty="0"/>
              <a:t>);</a:t>
            </a:r>
            <a:br>
              <a:rPr lang="en-US" sz="2000" dirty="0"/>
            </a:br>
            <a:r>
              <a:rPr lang="en-US" sz="2000" dirty="0" err="1">
                <a:solidFill>
                  <a:schemeClr val="accent1"/>
                </a:solidFill>
              </a:rPr>
              <a:t>SqlDataReader</a:t>
            </a:r>
            <a:r>
              <a:rPr lang="en-US" sz="2000" dirty="0">
                <a:solidFill>
                  <a:schemeClr val="accent1"/>
                </a:solidFill>
              </a:rPr>
              <a:t> </a:t>
            </a:r>
            <a:r>
              <a:rPr lang="en-US" sz="2000" dirty="0" err="1"/>
              <a:t>sqldata</a:t>
            </a:r>
            <a:r>
              <a:rPr lang="en-US" sz="2000" dirty="0"/>
              <a:t>=</a:t>
            </a:r>
            <a:r>
              <a:rPr lang="en-US" sz="2000" dirty="0" err="1"/>
              <a:t>sqlcomm.ExecuteReader</a:t>
            </a:r>
            <a:r>
              <a:rPr lang="en-US" sz="2000" dirty="0"/>
              <a:t>();</a:t>
            </a:r>
            <a:br>
              <a:rPr lang="en-US" sz="2000" dirty="0"/>
            </a:br>
            <a:r>
              <a:rPr lang="en-US" sz="2000" dirty="0">
                <a:solidFill>
                  <a:schemeClr val="accent1"/>
                </a:solidFill>
              </a:rPr>
              <a:t>while </a:t>
            </a:r>
            <a:r>
              <a:rPr lang="en-US" sz="2000" dirty="0"/>
              <a:t>(</a:t>
            </a:r>
            <a:r>
              <a:rPr lang="en-US" sz="2000" dirty="0" err="1"/>
              <a:t>sqldata.Read</a:t>
            </a:r>
            <a:r>
              <a:rPr lang="en-US" sz="2000" dirty="0"/>
              <a:t>()) {</a:t>
            </a:r>
            <a:br>
              <a:rPr lang="en-US" sz="2000" dirty="0"/>
            </a:br>
            <a:r>
              <a:rPr lang="en-US" sz="2000" dirty="0">
                <a:solidFill>
                  <a:schemeClr val="accent1"/>
                </a:solidFill>
              </a:rPr>
              <a:t>string</a:t>
            </a:r>
            <a:r>
              <a:rPr lang="en-US" sz="2000" dirty="0"/>
              <a:t> name = </a:t>
            </a:r>
            <a:r>
              <a:rPr lang="en-US" sz="2000" dirty="0" err="1"/>
              <a:t>sqldata</a:t>
            </a:r>
            <a:r>
              <a:rPr lang="en-US" sz="2000" dirty="0"/>
              <a:t>[</a:t>
            </a:r>
            <a:r>
              <a:rPr lang="en-US" sz="2000" dirty="0">
                <a:solidFill>
                  <a:srgbClr val="C00000"/>
                </a:solidFill>
              </a:rPr>
              <a:t>"</a:t>
            </a:r>
            <a:r>
              <a:rPr lang="en-US" sz="2000" dirty="0" err="1">
                <a:solidFill>
                  <a:srgbClr val="C00000"/>
                </a:solidFill>
              </a:rPr>
              <a:t>tenCB</a:t>
            </a:r>
            <a:r>
              <a:rPr lang="en-US" sz="2000" dirty="0">
                <a:solidFill>
                  <a:srgbClr val="C00000"/>
                </a:solidFill>
              </a:rPr>
              <a:t>"</a:t>
            </a:r>
            <a:r>
              <a:rPr lang="en-US" sz="2000" dirty="0"/>
              <a:t>].</a:t>
            </a:r>
            <a:r>
              <a:rPr lang="en-US" sz="2000" dirty="0" err="1"/>
              <a:t>ToString</a:t>
            </a:r>
            <a:r>
              <a:rPr lang="en-US" sz="2000" dirty="0"/>
              <a:t>();</a:t>
            </a:r>
            <a:br>
              <a:rPr lang="en-US" sz="2000" dirty="0"/>
            </a:br>
            <a:r>
              <a:rPr lang="en-US" sz="2000" dirty="0">
                <a:solidFill>
                  <a:schemeClr val="accent1"/>
                </a:solidFill>
              </a:rPr>
              <a:t>string</a:t>
            </a:r>
            <a:r>
              <a:rPr lang="en-US" sz="2000" dirty="0"/>
              <a:t> city = </a:t>
            </a:r>
            <a:r>
              <a:rPr lang="en-US" sz="2000" dirty="0" err="1"/>
              <a:t>sqldata</a:t>
            </a:r>
            <a:r>
              <a:rPr lang="en-US" sz="2000" dirty="0"/>
              <a:t>[</a:t>
            </a:r>
            <a:r>
              <a:rPr lang="en-US" sz="2000" dirty="0">
                <a:solidFill>
                  <a:srgbClr val="C00000"/>
                </a:solidFill>
              </a:rPr>
              <a:t>"</a:t>
            </a:r>
            <a:r>
              <a:rPr lang="en-US" sz="2000" dirty="0" err="1">
                <a:solidFill>
                  <a:srgbClr val="C00000"/>
                </a:solidFill>
              </a:rPr>
              <a:t>tinh</a:t>
            </a:r>
            <a:r>
              <a:rPr lang="en-US" sz="2000" dirty="0">
                <a:solidFill>
                  <a:srgbClr val="C00000"/>
                </a:solidFill>
              </a:rPr>
              <a:t>"</a:t>
            </a:r>
            <a:r>
              <a:rPr lang="en-US" sz="2000" dirty="0"/>
              <a:t>].</a:t>
            </a:r>
            <a:r>
              <a:rPr lang="en-US" sz="2000" dirty="0" err="1"/>
              <a:t>ToString</a:t>
            </a:r>
            <a:r>
              <a:rPr lang="en-US" sz="2000" dirty="0"/>
              <a:t>();</a:t>
            </a:r>
            <a:br>
              <a:rPr lang="en-US" sz="2000" dirty="0"/>
            </a:br>
            <a:r>
              <a:rPr lang="en-US" sz="2000" dirty="0" err="1"/>
              <a:t>Response.Write</a:t>
            </a:r>
            <a:r>
              <a:rPr lang="en-US" sz="2000" dirty="0"/>
              <a:t>(</a:t>
            </a:r>
            <a:r>
              <a:rPr lang="en-US" sz="2000" dirty="0">
                <a:solidFill>
                  <a:srgbClr val="C00000"/>
                </a:solidFill>
              </a:rPr>
              <a:t>"Name: "</a:t>
            </a:r>
            <a:r>
              <a:rPr lang="en-US" sz="2000" dirty="0"/>
              <a:t> + name);</a:t>
            </a:r>
            <a:br>
              <a:rPr lang="en-US" sz="2000" dirty="0"/>
            </a:br>
            <a:r>
              <a:rPr lang="en-US" sz="2000" dirty="0" err="1"/>
              <a:t>Response.Write</a:t>
            </a:r>
            <a:r>
              <a:rPr lang="en-US" sz="2000" dirty="0"/>
              <a:t>(</a:t>
            </a:r>
            <a:r>
              <a:rPr lang="en-US" sz="2000" dirty="0">
                <a:solidFill>
                  <a:srgbClr val="C00000"/>
                </a:solidFill>
              </a:rPr>
              <a:t>" City: "</a:t>
            </a:r>
            <a:r>
              <a:rPr lang="en-US" sz="2000" dirty="0"/>
              <a:t> + city + </a:t>
            </a:r>
            <a:r>
              <a:rPr lang="en-US" sz="2000" dirty="0">
                <a:solidFill>
                  <a:srgbClr val="C00000"/>
                </a:solidFill>
              </a:rPr>
              <a:t>"&lt;</a:t>
            </a:r>
            <a:r>
              <a:rPr lang="en-US" sz="2000" dirty="0" err="1">
                <a:solidFill>
                  <a:srgbClr val="C00000"/>
                </a:solidFill>
              </a:rPr>
              <a:t>br</a:t>
            </a:r>
            <a:r>
              <a:rPr lang="en-US" sz="2000" dirty="0">
                <a:solidFill>
                  <a:srgbClr val="C00000"/>
                </a:solidFill>
              </a:rPr>
              <a:t>/&gt;"</a:t>
            </a:r>
            <a:r>
              <a:rPr lang="en-US" sz="2000" dirty="0"/>
              <a:t>);</a:t>
            </a:r>
            <a:br>
              <a:rPr lang="en-US" sz="2000" dirty="0"/>
            </a:br>
            <a:r>
              <a:rPr lang="en-US" sz="2000" dirty="0">
                <a:solidFill>
                  <a:schemeClr val="accent1"/>
                </a:solidFill>
              </a:rPr>
              <a:t> }</a:t>
            </a:r>
            <a:br>
              <a:rPr lang="en-US" sz="2000" dirty="0">
                <a:solidFill>
                  <a:schemeClr val="accent1"/>
                </a:solidFill>
              </a:rPr>
            </a:br>
            <a:r>
              <a:rPr lang="en-US" sz="2000" dirty="0" err="1"/>
              <a:t>myconn.Close</a:t>
            </a:r>
            <a:r>
              <a:rPr lang="en-US" sz="2000" dirty="0"/>
              <a:t>();</a:t>
            </a:r>
          </a:p>
        </p:txBody>
      </p:sp>
      <p:sp>
        <p:nvSpPr>
          <p:cNvPr id="4" name="Slide Number Placeholder 3"/>
          <p:cNvSpPr>
            <a:spLocks noGrp="1"/>
          </p:cNvSpPr>
          <p:nvPr>
            <p:ph type="sldNum" sz="quarter" idx="10"/>
          </p:nvPr>
        </p:nvSpPr>
        <p:spPr/>
        <p:txBody>
          <a:bodyPr/>
          <a:lstStyle/>
          <a:p>
            <a:fld id="{2AEE2371-D0CC-4967-BE28-70407D2A399D}" type="slidenum">
              <a:rPr lang="en-US" smtClean="0"/>
              <a:t>28</a:t>
            </a:fld>
            <a:endParaRPr lang="en-US"/>
          </a:p>
        </p:txBody>
      </p:sp>
    </p:spTree>
    <p:extLst>
      <p:ext uri="{BB962C8B-B14F-4D97-AF65-F5344CB8AC3E}">
        <p14:creationId xmlns:p14="http://schemas.microsoft.com/office/powerpoint/2010/main" val="6903674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Bài</a:t>
            </a:r>
            <a:r>
              <a:rPr lang="en-US" dirty="0"/>
              <a:t> </a:t>
            </a:r>
            <a:r>
              <a:rPr lang="en-US" dirty="0" err="1"/>
              <a:t>tập</a:t>
            </a:r>
            <a:endParaRPr lang="en-US" dirty="0"/>
          </a:p>
        </p:txBody>
      </p:sp>
      <p:sp>
        <p:nvSpPr>
          <p:cNvPr id="3" name="Content Placeholder 2"/>
          <p:cNvSpPr>
            <a:spLocks noGrp="1"/>
          </p:cNvSpPr>
          <p:nvPr>
            <p:ph idx="1"/>
          </p:nvPr>
        </p:nvSpPr>
        <p:spPr>
          <a:xfrm>
            <a:off x="914401" y="1487606"/>
            <a:ext cx="10367433" cy="4190883"/>
          </a:xfrm>
        </p:spPr>
        <p:txBody>
          <a:bodyPr/>
          <a:lstStyle/>
          <a:p>
            <a:r>
              <a:rPr lang="en-US" dirty="0" err="1"/>
              <a:t>Thiết</a:t>
            </a:r>
            <a:r>
              <a:rPr lang="en-US" dirty="0"/>
              <a:t> </a:t>
            </a:r>
            <a:r>
              <a:rPr lang="en-US" dirty="0" err="1"/>
              <a:t>kế</a:t>
            </a:r>
            <a:r>
              <a:rPr lang="en-US" dirty="0"/>
              <a:t> </a:t>
            </a:r>
            <a:r>
              <a:rPr lang="en-US" dirty="0" err="1"/>
              <a:t>trang</a:t>
            </a:r>
            <a:r>
              <a:rPr lang="en-US" dirty="0"/>
              <a:t> themcb.aspx </a:t>
            </a:r>
            <a:r>
              <a:rPr lang="en-US" dirty="0" err="1"/>
              <a:t>có</a:t>
            </a:r>
            <a:r>
              <a:rPr lang="en-US" dirty="0"/>
              <a:t> form </a:t>
            </a:r>
            <a:r>
              <a:rPr lang="en-US" dirty="0" err="1"/>
              <a:t>cho</a:t>
            </a:r>
            <a:r>
              <a:rPr lang="en-US" dirty="0"/>
              <a:t> </a:t>
            </a:r>
            <a:r>
              <a:rPr lang="en-US" dirty="0" err="1"/>
              <a:t>phép</a:t>
            </a:r>
            <a:r>
              <a:rPr lang="en-US" dirty="0"/>
              <a:t> </a:t>
            </a:r>
            <a:r>
              <a:rPr lang="en-US" dirty="0" err="1"/>
              <a:t>người</a:t>
            </a:r>
            <a:r>
              <a:rPr lang="en-US" dirty="0"/>
              <a:t> </a:t>
            </a:r>
            <a:r>
              <a:rPr lang="en-US" dirty="0" err="1"/>
              <a:t>dùng</a:t>
            </a:r>
            <a:r>
              <a:rPr lang="en-US" dirty="0"/>
              <a:t> </a:t>
            </a:r>
            <a:r>
              <a:rPr lang="en-US" dirty="0" err="1"/>
              <a:t>thực</a:t>
            </a:r>
            <a:r>
              <a:rPr lang="en-US" dirty="0"/>
              <a:t> </a:t>
            </a:r>
            <a:r>
              <a:rPr lang="en-US" dirty="0" err="1"/>
              <a:t>hiện</a:t>
            </a:r>
            <a:r>
              <a:rPr lang="en-US" dirty="0"/>
              <a:t> </a:t>
            </a:r>
            <a:r>
              <a:rPr lang="en-US" dirty="0" err="1"/>
              <a:t>thêm</a:t>
            </a:r>
            <a:r>
              <a:rPr lang="en-US" dirty="0"/>
              <a:t> </a:t>
            </a:r>
            <a:r>
              <a:rPr lang="en-US" dirty="0" err="1"/>
              <a:t>mới</a:t>
            </a:r>
            <a:r>
              <a:rPr lang="en-US" dirty="0"/>
              <a:t> </a:t>
            </a:r>
            <a:r>
              <a:rPr lang="en-US" dirty="0" err="1"/>
              <a:t>một</a:t>
            </a:r>
            <a:r>
              <a:rPr lang="en-US" dirty="0"/>
              <a:t> </a:t>
            </a:r>
            <a:r>
              <a:rPr lang="en-US" dirty="0" err="1"/>
              <a:t>nhân</a:t>
            </a:r>
            <a:r>
              <a:rPr lang="en-US" dirty="0"/>
              <a:t> </a:t>
            </a:r>
            <a:r>
              <a:rPr lang="en-US" dirty="0" err="1"/>
              <a:t>viên</a:t>
            </a:r>
            <a:r>
              <a:rPr lang="en-US" dirty="0"/>
              <a:t> </a:t>
            </a:r>
            <a:r>
              <a:rPr lang="en-US" dirty="0" err="1"/>
              <a:t>vào</a:t>
            </a:r>
            <a:r>
              <a:rPr lang="en-US" dirty="0"/>
              <a:t> </a:t>
            </a:r>
            <a:r>
              <a:rPr lang="en-US" dirty="0" err="1"/>
              <a:t>bảng</a:t>
            </a:r>
            <a:r>
              <a:rPr lang="en-US" dirty="0"/>
              <a:t> </a:t>
            </a:r>
            <a:r>
              <a:rPr lang="en-US" dirty="0" err="1"/>
              <a:t>CanBo</a:t>
            </a:r>
            <a:r>
              <a:rPr lang="en-US" dirty="0"/>
              <a:t> </a:t>
            </a:r>
            <a:r>
              <a:rPr lang="en-US" dirty="0" err="1"/>
              <a:t>trong</a:t>
            </a:r>
            <a:r>
              <a:rPr lang="en-US" dirty="0"/>
              <a:t> CSDL </a:t>
            </a:r>
            <a:r>
              <a:rPr lang="en-US" dirty="0" err="1"/>
              <a:t>QLNhanVien</a:t>
            </a:r>
            <a:r>
              <a:rPr lang="en-US" dirty="0"/>
              <a:t>. Form </a:t>
            </a:r>
            <a:r>
              <a:rPr lang="en-US" dirty="0" err="1"/>
              <a:t>này</a:t>
            </a:r>
            <a:r>
              <a:rPr lang="en-US" dirty="0"/>
              <a:t> </a:t>
            </a:r>
            <a:r>
              <a:rPr lang="en-US" dirty="0" err="1"/>
              <a:t>gồm</a:t>
            </a:r>
            <a:r>
              <a:rPr lang="en-US" dirty="0"/>
              <a:t> </a:t>
            </a:r>
            <a:r>
              <a:rPr lang="en-US" dirty="0" err="1"/>
              <a:t>các</a:t>
            </a:r>
            <a:r>
              <a:rPr lang="en-US" dirty="0"/>
              <a:t> </a:t>
            </a:r>
            <a:r>
              <a:rPr lang="en-US" dirty="0" err="1"/>
              <a:t>điều</a:t>
            </a:r>
            <a:r>
              <a:rPr lang="en-US" dirty="0"/>
              <a:t> </a:t>
            </a:r>
            <a:r>
              <a:rPr lang="en-US" dirty="0" err="1"/>
              <a:t>khiển</a:t>
            </a:r>
            <a:r>
              <a:rPr lang="en-US" dirty="0"/>
              <a:t> </a:t>
            </a:r>
            <a:r>
              <a:rPr lang="en-US" dirty="0" err="1"/>
              <a:t>cho</a:t>
            </a:r>
            <a:r>
              <a:rPr lang="en-US" dirty="0"/>
              <a:t> </a:t>
            </a:r>
            <a:r>
              <a:rPr lang="en-US" dirty="0" err="1"/>
              <a:t>phép</a:t>
            </a:r>
            <a:r>
              <a:rPr lang="en-US" dirty="0"/>
              <a:t> </a:t>
            </a:r>
            <a:r>
              <a:rPr lang="en-US" dirty="0" err="1"/>
              <a:t>người</a:t>
            </a:r>
            <a:r>
              <a:rPr lang="en-US" dirty="0"/>
              <a:t> </a:t>
            </a:r>
            <a:r>
              <a:rPr lang="en-US" dirty="0" err="1"/>
              <a:t>dùng</a:t>
            </a:r>
            <a:r>
              <a:rPr lang="en-US" dirty="0"/>
              <a:t> </a:t>
            </a:r>
            <a:r>
              <a:rPr lang="en-US" dirty="0" err="1"/>
              <a:t>nhập</a:t>
            </a:r>
            <a:r>
              <a:rPr lang="en-US" dirty="0"/>
              <a:t> </a:t>
            </a:r>
            <a:r>
              <a:rPr lang="en-US" dirty="0" err="1"/>
              <a:t>MaCB</a:t>
            </a:r>
            <a:r>
              <a:rPr lang="en-US" dirty="0"/>
              <a:t>, </a:t>
            </a:r>
            <a:r>
              <a:rPr lang="en-US" dirty="0" err="1"/>
              <a:t>Họ</a:t>
            </a:r>
            <a:r>
              <a:rPr lang="en-US" dirty="0"/>
              <a:t> </a:t>
            </a:r>
            <a:r>
              <a:rPr lang="en-US" dirty="0" err="1"/>
              <a:t>tên</a:t>
            </a:r>
            <a:r>
              <a:rPr lang="en-US" dirty="0"/>
              <a:t> </a:t>
            </a:r>
            <a:r>
              <a:rPr lang="en-US" dirty="0" err="1"/>
              <a:t>Cán</a:t>
            </a:r>
            <a:r>
              <a:rPr lang="en-US" dirty="0"/>
              <a:t> </a:t>
            </a:r>
            <a:r>
              <a:rPr lang="en-US" dirty="0" err="1"/>
              <a:t>bộ</a:t>
            </a:r>
            <a:r>
              <a:rPr lang="en-US" dirty="0"/>
              <a:t>, </a:t>
            </a:r>
            <a:r>
              <a:rPr lang="en-US" dirty="0" err="1"/>
              <a:t>Ngày</a:t>
            </a:r>
            <a:r>
              <a:rPr lang="en-US" dirty="0"/>
              <a:t> </a:t>
            </a:r>
            <a:r>
              <a:rPr lang="en-US" dirty="0" err="1"/>
              <a:t>sinh</a:t>
            </a:r>
            <a:r>
              <a:rPr lang="en-US" dirty="0"/>
              <a:t>, </a:t>
            </a:r>
            <a:r>
              <a:rPr lang="en-US" dirty="0" err="1"/>
              <a:t>Giới</a:t>
            </a:r>
            <a:r>
              <a:rPr lang="en-US" dirty="0"/>
              <a:t> </a:t>
            </a:r>
            <a:r>
              <a:rPr lang="en-US" dirty="0" err="1"/>
              <a:t>tính</a:t>
            </a:r>
            <a:r>
              <a:rPr lang="en-US" dirty="0"/>
              <a:t>, </a:t>
            </a:r>
            <a:r>
              <a:rPr lang="en-US" dirty="0" err="1"/>
              <a:t>TỈnh</a:t>
            </a:r>
            <a:r>
              <a:rPr lang="en-US" dirty="0"/>
              <a:t>/Thành </a:t>
            </a:r>
            <a:r>
              <a:rPr lang="en-US" dirty="0" err="1"/>
              <a:t>phố</a:t>
            </a:r>
            <a:r>
              <a:rPr lang="en-US" dirty="0"/>
              <a:t>, </a:t>
            </a:r>
            <a:r>
              <a:rPr lang="en-US" dirty="0" err="1"/>
              <a:t>có</a:t>
            </a:r>
            <a:r>
              <a:rPr lang="en-US" dirty="0"/>
              <a:t> </a:t>
            </a:r>
            <a:r>
              <a:rPr lang="en-US" dirty="0" err="1"/>
              <a:t>nút</a:t>
            </a:r>
            <a:r>
              <a:rPr lang="en-US" dirty="0"/>
              <a:t> </a:t>
            </a:r>
            <a:r>
              <a:rPr lang="en-US" dirty="0" err="1"/>
              <a:t>Thêm</a:t>
            </a:r>
            <a:r>
              <a:rPr lang="en-US" dirty="0"/>
              <a:t> </a:t>
            </a:r>
            <a:r>
              <a:rPr lang="en-US" dirty="0" err="1"/>
              <a:t>mới</a:t>
            </a:r>
            <a:r>
              <a:rPr lang="en-US" dirty="0"/>
              <a:t> </a:t>
            </a:r>
            <a:r>
              <a:rPr lang="en-US" dirty="0" err="1"/>
              <a:t>để</a:t>
            </a:r>
            <a:r>
              <a:rPr lang="en-US" dirty="0"/>
              <a:t> </a:t>
            </a:r>
            <a:r>
              <a:rPr lang="en-US" dirty="0" err="1"/>
              <a:t>khi</a:t>
            </a:r>
            <a:r>
              <a:rPr lang="en-US" dirty="0"/>
              <a:t> </a:t>
            </a:r>
            <a:r>
              <a:rPr lang="en-US" dirty="0" err="1"/>
              <a:t>người</a:t>
            </a:r>
            <a:r>
              <a:rPr lang="en-US" dirty="0"/>
              <a:t> </a:t>
            </a:r>
            <a:r>
              <a:rPr lang="en-US" dirty="0" err="1"/>
              <a:t>dùng</a:t>
            </a:r>
            <a:r>
              <a:rPr lang="en-US" dirty="0"/>
              <a:t> </a:t>
            </a:r>
            <a:r>
              <a:rPr lang="en-US" dirty="0" err="1"/>
              <a:t>nhập</a:t>
            </a:r>
            <a:r>
              <a:rPr lang="en-US" dirty="0"/>
              <a:t> </a:t>
            </a:r>
            <a:r>
              <a:rPr lang="en-US" dirty="0" err="1"/>
              <a:t>xong</a:t>
            </a:r>
            <a:r>
              <a:rPr lang="en-US" dirty="0"/>
              <a:t> </a:t>
            </a:r>
            <a:r>
              <a:rPr lang="en-US" dirty="0" err="1"/>
              <a:t>dữ</a:t>
            </a:r>
            <a:r>
              <a:rPr lang="en-US" dirty="0"/>
              <a:t> </a:t>
            </a:r>
            <a:r>
              <a:rPr lang="en-US" dirty="0" err="1"/>
              <a:t>liệu</a:t>
            </a:r>
            <a:r>
              <a:rPr lang="en-US" dirty="0"/>
              <a:t>, </a:t>
            </a:r>
            <a:r>
              <a:rPr lang="en-US" dirty="0" err="1"/>
              <a:t>nhấn</a:t>
            </a:r>
            <a:r>
              <a:rPr lang="en-US" dirty="0"/>
              <a:t> </a:t>
            </a:r>
            <a:r>
              <a:rPr lang="en-US" dirty="0" err="1"/>
              <a:t>vào</a:t>
            </a:r>
            <a:r>
              <a:rPr lang="en-US" dirty="0"/>
              <a:t> </a:t>
            </a:r>
            <a:r>
              <a:rPr lang="en-US" dirty="0" err="1"/>
              <a:t>nút</a:t>
            </a:r>
            <a:r>
              <a:rPr lang="en-US" dirty="0"/>
              <a:t> </a:t>
            </a:r>
            <a:r>
              <a:rPr lang="en-US" dirty="0" err="1"/>
              <a:t>thêm</a:t>
            </a:r>
            <a:r>
              <a:rPr lang="en-US" dirty="0"/>
              <a:t> </a:t>
            </a:r>
            <a:r>
              <a:rPr lang="en-US" dirty="0" err="1"/>
              <a:t>mới</a:t>
            </a:r>
            <a:r>
              <a:rPr lang="en-US" dirty="0"/>
              <a:t> </a:t>
            </a:r>
            <a:r>
              <a:rPr lang="en-US" dirty="0" err="1"/>
              <a:t>thì</a:t>
            </a:r>
            <a:r>
              <a:rPr lang="en-US" dirty="0"/>
              <a:t> </a:t>
            </a:r>
            <a:r>
              <a:rPr lang="en-US" dirty="0" err="1"/>
              <a:t>sẽ</a:t>
            </a:r>
            <a:r>
              <a:rPr lang="en-US" dirty="0"/>
              <a:t> </a:t>
            </a:r>
            <a:r>
              <a:rPr lang="en-US" dirty="0" err="1"/>
              <a:t>thực</a:t>
            </a:r>
            <a:r>
              <a:rPr lang="en-US" dirty="0"/>
              <a:t> </a:t>
            </a:r>
            <a:r>
              <a:rPr lang="en-US" dirty="0" err="1"/>
              <a:t>hiên</a:t>
            </a:r>
            <a:r>
              <a:rPr lang="en-US" dirty="0"/>
              <a:t> </a:t>
            </a:r>
            <a:r>
              <a:rPr lang="en-US" dirty="0" err="1"/>
              <a:t>thêm</a:t>
            </a:r>
            <a:r>
              <a:rPr lang="en-US" dirty="0"/>
              <a:t> DL </a:t>
            </a:r>
            <a:r>
              <a:rPr lang="en-US" dirty="0" err="1"/>
              <a:t>vừa</a:t>
            </a:r>
            <a:r>
              <a:rPr lang="en-US" dirty="0"/>
              <a:t> </a:t>
            </a:r>
            <a:r>
              <a:rPr lang="en-US" dirty="0" err="1"/>
              <a:t>nhập</a:t>
            </a:r>
            <a:r>
              <a:rPr lang="en-US" dirty="0"/>
              <a:t> </a:t>
            </a:r>
            <a:r>
              <a:rPr lang="en-US" dirty="0" err="1"/>
              <a:t>vào</a:t>
            </a:r>
            <a:r>
              <a:rPr lang="en-US" dirty="0"/>
              <a:t> </a:t>
            </a:r>
            <a:r>
              <a:rPr lang="en-US" dirty="0" err="1"/>
              <a:t>bảng</a:t>
            </a:r>
            <a:r>
              <a:rPr lang="en-US" dirty="0"/>
              <a:t> CanBo</a:t>
            </a:r>
          </a:p>
          <a:p>
            <a:r>
              <a:rPr lang="en-US" dirty="0" err="1"/>
              <a:t>Tương</a:t>
            </a:r>
            <a:r>
              <a:rPr lang="en-US" dirty="0"/>
              <a:t> </a:t>
            </a:r>
            <a:r>
              <a:rPr lang="en-US" dirty="0" err="1"/>
              <a:t>tự</a:t>
            </a:r>
            <a:r>
              <a:rPr lang="en-US" dirty="0"/>
              <a:t> </a:t>
            </a:r>
            <a:r>
              <a:rPr lang="en-US" dirty="0" err="1"/>
              <a:t>như</a:t>
            </a:r>
            <a:r>
              <a:rPr lang="en-US" dirty="0"/>
              <a:t> </a:t>
            </a:r>
            <a:r>
              <a:rPr lang="en-US" dirty="0" err="1"/>
              <a:t>vậy</a:t>
            </a:r>
            <a:r>
              <a:rPr lang="en-US" dirty="0"/>
              <a:t> </a:t>
            </a:r>
            <a:r>
              <a:rPr lang="en-US" dirty="0" err="1"/>
              <a:t>hãy</a:t>
            </a:r>
            <a:r>
              <a:rPr lang="en-US" dirty="0"/>
              <a:t> </a:t>
            </a:r>
            <a:r>
              <a:rPr lang="en-US" dirty="0" err="1"/>
              <a:t>xây</a:t>
            </a:r>
            <a:r>
              <a:rPr lang="en-US" dirty="0"/>
              <a:t> </a:t>
            </a:r>
            <a:r>
              <a:rPr lang="en-US" dirty="0" err="1"/>
              <a:t>dựng</a:t>
            </a:r>
            <a:r>
              <a:rPr lang="en-US" dirty="0"/>
              <a:t> </a:t>
            </a:r>
            <a:r>
              <a:rPr lang="en-US" dirty="0" err="1"/>
              <a:t>thêm</a:t>
            </a:r>
            <a:r>
              <a:rPr lang="en-US" dirty="0"/>
              <a:t> </a:t>
            </a:r>
            <a:r>
              <a:rPr lang="en-US" dirty="0" err="1"/>
              <a:t>các</a:t>
            </a:r>
            <a:r>
              <a:rPr lang="en-US" dirty="0"/>
              <a:t> </a:t>
            </a:r>
            <a:r>
              <a:rPr lang="en-US" dirty="0" err="1"/>
              <a:t>trang</a:t>
            </a:r>
            <a:r>
              <a:rPr lang="en-US" dirty="0"/>
              <a:t> </a:t>
            </a:r>
            <a:r>
              <a:rPr lang="en-US" dirty="0" err="1"/>
              <a:t>thực</a:t>
            </a:r>
            <a:r>
              <a:rPr lang="en-US" dirty="0"/>
              <a:t> </a:t>
            </a:r>
            <a:r>
              <a:rPr lang="en-US" dirty="0" err="1"/>
              <a:t>hiện</a:t>
            </a:r>
            <a:r>
              <a:rPr lang="en-US" dirty="0"/>
              <a:t> </a:t>
            </a:r>
            <a:r>
              <a:rPr lang="en-US" dirty="0" err="1"/>
              <a:t>việc</a:t>
            </a:r>
            <a:r>
              <a:rPr lang="en-US" dirty="0"/>
              <a:t> </a:t>
            </a:r>
            <a:r>
              <a:rPr lang="en-US" dirty="0" err="1"/>
              <a:t>sửa</a:t>
            </a:r>
            <a:r>
              <a:rPr lang="en-US" dirty="0"/>
              <a:t>, </a:t>
            </a:r>
            <a:r>
              <a:rPr lang="en-US" dirty="0" err="1"/>
              <a:t>xóa</a:t>
            </a:r>
            <a:r>
              <a:rPr lang="en-US" dirty="0"/>
              <a:t> </a:t>
            </a:r>
            <a:r>
              <a:rPr lang="en-US" dirty="0" err="1"/>
              <a:t>dữ</a:t>
            </a:r>
            <a:r>
              <a:rPr lang="en-US" dirty="0"/>
              <a:t> </a:t>
            </a:r>
            <a:r>
              <a:rPr lang="en-US" dirty="0" err="1"/>
              <a:t>liệu</a:t>
            </a:r>
            <a:r>
              <a:rPr lang="en-US" dirty="0"/>
              <a:t> </a:t>
            </a:r>
            <a:r>
              <a:rPr lang="en-US" dirty="0" err="1"/>
              <a:t>trong</a:t>
            </a:r>
            <a:r>
              <a:rPr lang="en-US" dirty="0"/>
              <a:t> </a:t>
            </a:r>
            <a:r>
              <a:rPr lang="en-US" dirty="0" err="1"/>
              <a:t>bảng</a:t>
            </a:r>
            <a:r>
              <a:rPr lang="en-US" dirty="0"/>
              <a:t> CanBo </a:t>
            </a:r>
            <a:r>
              <a:rPr lang="en-US" dirty="0" err="1"/>
              <a:t>trong</a:t>
            </a:r>
            <a:r>
              <a:rPr lang="en-US" dirty="0"/>
              <a:t> CSDL </a:t>
            </a:r>
            <a:r>
              <a:rPr lang="en-US" dirty="0" err="1"/>
              <a:t>QLNhanVien</a:t>
            </a:r>
            <a:r>
              <a:rPr lang="en-US" dirty="0"/>
              <a:t> (</a:t>
            </a:r>
            <a:r>
              <a:rPr lang="en-US" dirty="0" err="1"/>
              <a:t>dùng</a:t>
            </a:r>
            <a:r>
              <a:rPr lang="en-US" dirty="0"/>
              <a:t> </a:t>
            </a:r>
            <a:r>
              <a:rPr lang="en-US" dirty="0" err="1"/>
              <a:t>cả</a:t>
            </a:r>
            <a:r>
              <a:rPr lang="en-US" dirty="0"/>
              <a:t> 2 </a:t>
            </a:r>
            <a:r>
              <a:rPr lang="en-US" dirty="0" err="1"/>
              <a:t>cách</a:t>
            </a:r>
            <a:r>
              <a:rPr lang="en-US" dirty="0"/>
              <a:t> </a:t>
            </a:r>
            <a:r>
              <a:rPr lang="en-US" dirty="0" err="1"/>
              <a:t>thực</a:t>
            </a:r>
            <a:r>
              <a:rPr lang="en-US" dirty="0"/>
              <a:t> </a:t>
            </a:r>
            <a:r>
              <a:rPr lang="en-US" dirty="0" err="1"/>
              <a:t>thi</a:t>
            </a:r>
            <a:r>
              <a:rPr lang="en-US" dirty="0"/>
              <a:t> </a:t>
            </a:r>
            <a:r>
              <a:rPr lang="en-US" dirty="0" err="1"/>
              <a:t>trực</a:t>
            </a:r>
            <a:r>
              <a:rPr lang="en-US" dirty="0"/>
              <a:t> </a:t>
            </a:r>
            <a:r>
              <a:rPr lang="en-US" dirty="0" err="1"/>
              <a:t>tiếp</a:t>
            </a:r>
            <a:r>
              <a:rPr lang="en-US" dirty="0"/>
              <a:t> </a:t>
            </a:r>
            <a:r>
              <a:rPr lang="en-US" dirty="0" err="1"/>
              <a:t>câu</a:t>
            </a:r>
            <a:r>
              <a:rPr lang="en-US" dirty="0"/>
              <a:t> </a:t>
            </a:r>
            <a:r>
              <a:rPr lang="en-US" dirty="0" err="1"/>
              <a:t>lệnh</a:t>
            </a:r>
            <a:r>
              <a:rPr lang="en-US" dirty="0"/>
              <a:t> </a:t>
            </a:r>
            <a:r>
              <a:rPr lang="en-US" dirty="0" err="1"/>
              <a:t>truy</a:t>
            </a:r>
            <a:r>
              <a:rPr lang="en-US" dirty="0"/>
              <a:t> </a:t>
            </a:r>
            <a:r>
              <a:rPr lang="en-US" dirty="0" err="1"/>
              <a:t>ván</a:t>
            </a:r>
            <a:r>
              <a:rPr lang="en-US" dirty="0"/>
              <a:t> SQL, </a:t>
            </a:r>
            <a:r>
              <a:rPr lang="en-US" dirty="0" err="1"/>
              <a:t>và</a:t>
            </a:r>
            <a:r>
              <a:rPr lang="en-US" dirty="0"/>
              <a:t> </a:t>
            </a:r>
            <a:r>
              <a:rPr lang="en-US" dirty="0" err="1"/>
              <a:t>thực</a:t>
            </a:r>
            <a:r>
              <a:rPr lang="en-US" dirty="0"/>
              <a:t> </a:t>
            </a:r>
            <a:r>
              <a:rPr lang="en-US" dirty="0" err="1"/>
              <a:t>thi</a:t>
            </a:r>
            <a:r>
              <a:rPr lang="en-US" dirty="0"/>
              <a:t> </a:t>
            </a:r>
            <a:r>
              <a:rPr lang="en-US" dirty="0" err="1"/>
              <a:t>thủ</a:t>
            </a:r>
            <a:r>
              <a:rPr lang="en-US" dirty="0"/>
              <a:t> </a:t>
            </a:r>
            <a:r>
              <a:rPr lang="en-US" dirty="0" err="1"/>
              <a:t>tục</a:t>
            </a:r>
            <a:r>
              <a:rPr lang="en-US" dirty="0"/>
              <a:t> </a:t>
            </a:r>
            <a:r>
              <a:rPr lang="en-US" dirty="0" err="1"/>
              <a:t>nội</a:t>
            </a:r>
            <a:r>
              <a:rPr lang="en-US" dirty="0"/>
              <a:t> </a:t>
            </a:r>
            <a:r>
              <a:rPr lang="en-US" dirty="0" err="1"/>
              <a:t>tại</a:t>
            </a:r>
            <a:r>
              <a:rPr lang="en-US" dirty="0"/>
              <a:t>)</a:t>
            </a:r>
          </a:p>
        </p:txBody>
      </p:sp>
      <p:sp>
        <p:nvSpPr>
          <p:cNvPr id="4" name="Slide Number Placeholder 3"/>
          <p:cNvSpPr>
            <a:spLocks noGrp="1"/>
          </p:cNvSpPr>
          <p:nvPr>
            <p:ph type="sldNum" sz="quarter" idx="10"/>
          </p:nvPr>
        </p:nvSpPr>
        <p:spPr/>
        <p:txBody>
          <a:bodyPr/>
          <a:lstStyle/>
          <a:p>
            <a:fld id="{2AEE2371-D0CC-4967-BE28-70407D2A399D}" type="slidenum">
              <a:rPr lang="en-US" smtClean="0"/>
              <a:t>29</a:t>
            </a:fld>
            <a:endParaRPr lang="en-US"/>
          </a:p>
        </p:txBody>
      </p:sp>
    </p:spTree>
    <p:extLst>
      <p:ext uri="{BB962C8B-B14F-4D97-AF65-F5344CB8AC3E}">
        <p14:creationId xmlns:p14="http://schemas.microsoft.com/office/powerpoint/2010/main" val="2270139196"/>
      </p:ext>
    </p:extLst>
  </p:cSld>
  <p:clrMapOvr>
    <a:masterClrMapping/>
  </p:clrMapOvr>
</p:sld>
</file>

<file path=ppt/theme/theme1.xml><?xml version="1.0" encoding="utf-8"?>
<a:theme xmlns:a="http://schemas.openxmlformats.org/drawingml/2006/main" name="theme_baigiang">
  <a:themeElements>
    <a:clrScheme name="System i5 simplify pearl 1">
      <a:dk1>
        <a:srgbClr val="000000"/>
      </a:dk1>
      <a:lt1>
        <a:srgbClr val="FFFFFF"/>
      </a:lt1>
      <a:dk2>
        <a:srgbClr val="7889FB"/>
      </a:dk2>
      <a:lt2>
        <a:srgbClr val="808080"/>
      </a:lt2>
      <a:accent1>
        <a:srgbClr val="7889FB"/>
      </a:accent1>
      <a:accent2>
        <a:srgbClr val="2DB6B3"/>
      </a:accent2>
      <a:accent3>
        <a:srgbClr val="FFFFFF"/>
      </a:accent3>
      <a:accent4>
        <a:srgbClr val="000000"/>
      </a:accent4>
      <a:accent5>
        <a:srgbClr val="BEC4FD"/>
      </a:accent5>
      <a:accent6>
        <a:srgbClr val="28A5A2"/>
      </a:accent6>
      <a:hlink>
        <a:srgbClr val="C0C0C0"/>
      </a:hlink>
      <a:folHlink>
        <a:srgbClr val="D18213"/>
      </a:folHlink>
    </a:clrScheme>
    <a:fontScheme name="System i5 simplify pearl">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FF0000"/>
          </a:solidFill>
          <a:prstDash val="solid"/>
          <a:round/>
          <a:headEnd type="none" w="med" len="med"/>
          <a:tailEnd type="none" w="med" len="med"/>
        </a:ln>
        <a:effectLst/>
      </a:spPr>
      <a:bodyPr vert="horz" wrap="none" lIns="91424" tIns="45712" rIns="91424" bIns="45712" numCol="1" anchor="ctr" anchorCtr="0" compatLnSpc="1">
        <a:prstTxWarp prst="textNoShape">
          <a:avLst/>
        </a:prstTxWarp>
      </a:bodyPr>
      <a:lstStyle>
        <a:defPPr marL="457200" marR="0" indent="-227013" algn="ctr" defTabSz="914400" rtl="0" eaLnBrk="1" fontAlgn="base" latinLnBrk="0" hangingPunct="1">
          <a:lnSpc>
            <a:spcPct val="80000"/>
          </a:lnSpc>
          <a:spcBef>
            <a:spcPct val="25000"/>
          </a:spcBef>
          <a:spcAft>
            <a:spcPct val="15000"/>
          </a:spcAft>
          <a:buClr>
            <a:srgbClr val="6CA6B8"/>
          </a:buClr>
          <a:buSzTx/>
          <a:buFont typeface="Arial" charset="0"/>
          <a:buChar char="–"/>
          <a:tabLst/>
          <a:defRPr kumimoji="0" lang="en-US" sz="1600" b="0" i="0" u="none" strike="noStrike" cap="none" normalizeH="0" baseline="0" smtClean="0">
            <a:ln>
              <a:noFill/>
            </a:ln>
            <a:solidFill>
              <a:schemeClr val="tx1"/>
            </a:solidFill>
            <a:effectLst/>
            <a:latin typeface="Arial" charset="0"/>
            <a:ea typeface="MS PGothic" pitchFamily="34" charset="-128"/>
            <a:cs typeface="Arial" charset="0"/>
          </a:defRPr>
        </a:defPPr>
      </a:lstStyle>
    </a:spDef>
    <a:lnDef>
      <a:spPr bwMode="auto">
        <a:xfrm>
          <a:off x="0" y="0"/>
          <a:ext cx="1" cy="1"/>
        </a:xfrm>
        <a:custGeom>
          <a:avLst/>
          <a:gdLst/>
          <a:ahLst/>
          <a:cxnLst/>
          <a:rect l="0" t="0" r="0" b="0"/>
          <a:pathLst/>
        </a:custGeom>
        <a:noFill/>
        <a:ln w="9525" cap="flat" cmpd="sng" algn="ctr">
          <a:solidFill>
            <a:srgbClr val="FF0000"/>
          </a:solidFill>
          <a:prstDash val="solid"/>
          <a:round/>
          <a:headEnd type="none" w="med" len="med"/>
          <a:tailEnd type="none" w="med" len="med"/>
        </a:ln>
        <a:effectLst/>
      </a:spPr>
      <a:bodyPr vert="horz" wrap="none" lIns="91424" tIns="45712" rIns="91424" bIns="45712" numCol="1" anchor="ctr" anchorCtr="0" compatLnSpc="1">
        <a:prstTxWarp prst="textNoShape">
          <a:avLst/>
        </a:prstTxWarp>
      </a:bodyPr>
      <a:lstStyle>
        <a:defPPr marL="457200" marR="0" indent="-227013" algn="ctr" defTabSz="914400" rtl="0" eaLnBrk="1" fontAlgn="base" latinLnBrk="0" hangingPunct="1">
          <a:lnSpc>
            <a:spcPct val="80000"/>
          </a:lnSpc>
          <a:spcBef>
            <a:spcPct val="25000"/>
          </a:spcBef>
          <a:spcAft>
            <a:spcPct val="15000"/>
          </a:spcAft>
          <a:buClr>
            <a:srgbClr val="6CA6B8"/>
          </a:buClr>
          <a:buSzTx/>
          <a:buFont typeface="Arial" charset="0"/>
          <a:buChar char="–"/>
          <a:tabLst/>
          <a:defRPr kumimoji="0" lang="en-US" sz="1600" b="0" i="0" u="none" strike="noStrike" cap="none" normalizeH="0" baseline="0" smtClean="0">
            <a:ln>
              <a:noFill/>
            </a:ln>
            <a:solidFill>
              <a:schemeClr val="tx1"/>
            </a:solidFill>
            <a:effectLst/>
            <a:latin typeface="Arial" charset="0"/>
            <a:ea typeface="MS PGothic" pitchFamily="34" charset="-128"/>
            <a:cs typeface="Arial" charset="0"/>
          </a:defRPr>
        </a:defPPr>
      </a:lstStyle>
    </a:lnDef>
  </a:objectDefaults>
  <a:extraClrSchemeLst>
    <a:extraClrScheme>
      <a:clrScheme name="System i5 simplify pearl 1">
        <a:dk1>
          <a:srgbClr val="000000"/>
        </a:dk1>
        <a:lt1>
          <a:srgbClr val="FFFFFF"/>
        </a:lt1>
        <a:dk2>
          <a:srgbClr val="7889FB"/>
        </a:dk2>
        <a:lt2>
          <a:srgbClr val="808080"/>
        </a:lt2>
        <a:accent1>
          <a:srgbClr val="7889FB"/>
        </a:accent1>
        <a:accent2>
          <a:srgbClr val="2DB6B3"/>
        </a:accent2>
        <a:accent3>
          <a:srgbClr val="FFFFFF"/>
        </a:accent3>
        <a:accent4>
          <a:srgbClr val="000000"/>
        </a:accent4>
        <a:accent5>
          <a:srgbClr val="BEC4FD"/>
        </a:accent5>
        <a:accent6>
          <a:srgbClr val="28A5A2"/>
        </a:accent6>
        <a:hlink>
          <a:srgbClr val="C0C0C0"/>
        </a:hlink>
        <a:folHlink>
          <a:srgbClr val="D18213"/>
        </a:folHlink>
      </a:clrScheme>
      <a:clrMap bg1="lt1" tx1="dk1" bg2="lt2" tx2="dk2" accent1="accent1" accent2="accent2" accent3="accent3" accent4="accent4" accent5="accent5" accent6="accent6" hlink="hlink" folHlink="folHlink"/>
    </a:extraClrScheme>
    <a:extraClrScheme>
      <a:clrScheme name="System i5 simplify pearl 2">
        <a:dk1>
          <a:srgbClr val="808080"/>
        </a:dk1>
        <a:lt1>
          <a:srgbClr val="FFFFFF"/>
        </a:lt1>
        <a:dk2>
          <a:srgbClr val="000000"/>
        </a:dk2>
        <a:lt2>
          <a:srgbClr val="CCCCFF"/>
        </a:lt2>
        <a:accent1>
          <a:srgbClr val="7889FB"/>
        </a:accent1>
        <a:accent2>
          <a:srgbClr val="DFFF66"/>
        </a:accent2>
        <a:accent3>
          <a:srgbClr val="AAAAAA"/>
        </a:accent3>
        <a:accent4>
          <a:srgbClr val="DADADA"/>
        </a:accent4>
        <a:accent5>
          <a:srgbClr val="BEC4FD"/>
        </a:accent5>
        <a:accent6>
          <a:srgbClr val="CAE75C"/>
        </a:accent6>
        <a:hlink>
          <a:srgbClr val="C0C0C0"/>
        </a:hlink>
        <a:folHlink>
          <a:srgbClr val="D1821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_baigiang" id="{3BBCB59F-46B3-4750-81BA-6C4F98FE1C04}" vid="{0636B514-BCA1-4FE9-A26C-FDE946C1D7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theme_baigiang</Template>
  <TotalTime>2150</TotalTime>
  <Words>2755</Words>
  <Application>Microsoft Office PowerPoint</Application>
  <PresentationFormat>Widescreen</PresentationFormat>
  <Paragraphs>176</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MS PGothic</vt:lpstr>
      <vt:lpstr>Arial</vt:lpstr>
      <vt:lpstr>Calibri</vt:lpstr>
      <vt:lpstr>Wingdings</vt:lpstr>
      <vt:lpstr>theme_baigiang</vt:lpstr>
      <vt:lpstr>Chương 3: Tương tác với CSDL</vt:lpstr>
      <vt:lpstr>Nội dung</vt:lpstr>
      <vt:lpstr>1. Tổng quan ADO.NET</vt:lpstr>
      <vt:lpstr>1. Tổng quan ADO.NET</vt:lpstr>
      <vt:lpstr>1. Tổng quan ADO.NET</vt:lpstr>
      <vt:lpstr>1. Tổng quan ADO.NET</vt:lpstr>
      <vt:lpstr>2. Trình cung cấp dữ liệu của ADO.NET</vt:lpstr>
      <vt:lpstr>2. Trình cung cấp dữ liệu của ADO.NET</vt:lpstr>
      <vt:lpstr>2. Trình cung cấp dữ liệu của ADO.NET</vt:lpstr>
      <vt:lpstr>3. Kết nối csdl qua connected layer</vt:lpstr>
      <vt:lpstr>3.1. Mở kết nối dùng đối tượng Connection </vt:lpstr>
      <vt:lpstr>Hướng dẫn cấu hình kết nối CSDL trong web.config</vt:lpstr>
      <vt:lpstr>Hướng dẫn cấu hình kết nối CSDL trong web.config</vt:lpstr>
      <vt:lpstr>Hướng dẫn cấu hình kết nối CSDL trong web.config</vt:lpstr>
      <vt:lpstr>3.2. Dùng đối tượng command</vt:lpstr>
      <vt:lpstr>3.2. Dùng đối tượng command</vt:lpstr>
      <vt:lpstr>Sử dụng đối tượng Parameterized Command</vt:lpstr>
      <vt:lpstr>Sử dụng đối tượng Parameterized Command</vt:lpstr>
      <vt:lpstr>Ví dụ (tiếp)</vt:lpstr>
      <vt:lpstr>Ví dụ update dữ liệu</vt:lpstr>
      <vt:lpstr>Ví dụ update dữ liệu (tiếp)</vt:lpstr>
      <vt:lpstr>Ví dụ xóa dữ liệu</vt:lpstr>
      <vt:lpstr>Sử dụng thủ tục nội tại thay cho câu lệnh truy vấn SQL</vt:lpstr>
      <vt:lpstr>Sử dụng thủ tục nội tại thay cho câu lệnh truy vấn SQL</vt:lpstr>
      <vt:lpstr>Sử dụng thủ tục nội tại thay cho câu lệnh truy vấn SQL</vt:lpstr>
      <vt:lpstr>Sử dụng thủ tục nội tại thay cho câu lệnh truy vấn SQL</vt:lpstr>
      <vt:lpstr>3.3. Đối tượng Data Reader </vt:lpstr>
      <vt:lpstr>Ví dụ Xây dựng trang Web lấy dữ liệu từ bảng cán bộ và hiển thị ra màn hình</vt:lpstr>
      <vt:lpstr>Bài tập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3: Tương tác với CSDL</dc:title>
  <dc:creator>Admin</dc:creator>
  <cp:lastModifiedBy>Đỗ Thị Nhâm</cp:lastModifiedBy>
  <cp:revision>99</cp:revision>
  <cp:lastPrinted>2019-03-12T08:57:35Z</cp:lastPrinted>
  <dcterms:created xsi:type="dcterms:W3CDTF">2019-01-24T23:37:43Z</dcterms:created>
  <dcterms:modified xsi:type="dcterms:W3CDTF">2026-08-09T15:30:08Z</dcterms:modified>
</cp:coreProperties>
</file>